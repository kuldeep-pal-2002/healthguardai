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verma" userId="c6eac6055960a48e" providerId="LiveId" clId="{A50604B3-7FD7-4963-88DB-FF325C286E49}"/>
    <pc:docChg chg="custSel modSld">
      <pc:chgData name="gaurav verma" userId="c6eac6055960a48e" providerId="LiveId" clId="{A50604B3-7FD7-4963-88DB-FF325C286E49}" dt="2026-07-31T11:00:31.711" v="3" actId="478"/>
      <pc:docMkLst>
        <pc:docMk/>
      </pc:docMkLst>
      <pc:sldChg chg="delSp modSp mod">
        <pc:chgData name="gaurav verma" userId="c6eac6055960a48e" providerId="LiveId" clId="{A50604B3-7FD7-4963-88DB-FF325C286E49}" dt="2026-07-31T11:00:31.711" v="3" actId="478"/>
        <pc:sldMkLst>
          <pc:docMk/>
          <pc:sldMk cId="0" sldId="260"/>
        </pc:sldMkLst>
        <pc:spChg chg="del">
          <ac:chgData name="gaurav verma" userId="c6eac6055960a48e" providerId="LiveId" clId="{A50604B3-7FD7-4963-88DB-FF325C286E49}" dt="2026-07-31T11:00:31.711" v="3" actId="478"/>
          <ac:spMkLst>
            <pc:docMk/>
            <pc:sldMk cId="0" sldId="260"/>
            <ac:spMk id="30" creationId="{00000000-0000-0000-0000-000000000000}"/>
          </ac:spMkLst>
        </pc:spChg>
        <pc:spChg chg="mod">
          <ac:chgData name="gaurav verma" userId="c6eac6055960a48e" providerId="LiveId" clId="{A50604B3-7FD7-4963-88DB-FF325C286E49}" dt="2026-07-31T11:00:27.161" v="2" actId="20577"/>
          <ac:spMkLst>
            <pc:docMk/>
            <pc:sldMk cId="0" sldId="260"/>
            <ac:spMk id="31" creationId="{00000000-0000-0000-0000-000000000000}"/>
          </ac:spMkLst>
        </pc:spChg>
        <pc:spChg chg="del">
          <ac:chgData name="gaurav verma" userId="c6eac6055960a48e" providerId="LiveId" clId="{A50604B3-7FD7-4963-88DB-FF325C286E49}" dt="2026-07-31T11:00:24.829" v="1" actId="47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gaurav verma" userId="c6eac6055960a48e" providerId="LiveId" clId="{A50604B3-7FD7-4963-88DB-FF325C286E49}" dt="2026-07-31T11:00:18.763" v="0" actId="20577"/>
          <ac:spMkLst>
            <pc:docMk/>
            <pc:sldMk cId="0" sldId="260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0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8229600" cy="8229600"/>
          </a:xfrm>
          <a:prstGeom prst="ellipse">
            <a:avLst/>
          </a:prstGeom>
          <a:solidFill>
            <a:srgbClr val="12383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6400800" cy="6400800"/>
          </a:xfrm>
          <a:prstGeom prst="ellipse">
            <a:avLst/>
          </a:prstGeom>
          <a:solidFill>
            <a:srgbClr val="17474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1097280"/>
            <a:ext cx="4572000" cy="4572000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H26HLT02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Environmental–Health Risk Fusion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+ Chronic Disease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108960" cy="0"/>
          </a:xfrm>
          <a:prstGeom prst="line">
            <a:avLst/>
          </a:prstGeom>
          <a:noFill/>
          <a:ln w="19050">
            <a:solidFill>
              <a:srgbClr val="2C8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Kuldeep Pal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Ekansh Pal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Verma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Technology, Tiruchirappalli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61320" y="502920"/>
            <a:ext cx="502920" cy="502920"/>
          </a:xfrm>
          <a:prstGeom prst="ellipse">
            <a:avLst/>
          </a:prstGeom>
          <a:solidFill>
            <a:srgbClr val="1D6E73"/>
          </a:solidFill>
          <a:ln/>
        </p:spPr>
      </p:sp>
      <p:pic>
        <p:nvPicPr>
          <p:cNvPr id="13" name="Image 0" descr="icons/wi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700" y="568300"/>
            <a:ext cx="372161" cy="372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AQI number fails the people who need it most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436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6" name="Image 0" descr="icons/lu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17510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53035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lang="en-IN" sz="1600" dirty="0"/>
              <a:t>Air pollution and declining environmental quality are increasingly affecting people with chronic respiratory and cardiovascular conditions. Although cities collect air-quality information through monitoring stations, sensors, and satellite observations, these environmental measurements are rarely connected with local patterns in healthcare utilization. As a result, existing systems can indicate that pollution levels are unsafe but often cannot identify </a:t>
            </a:r>
            <a:r>
              <a:rPr lang="en-IN" sz="1600" b="1" dirty="0"/>
              <a:t>when and where vulnerable populations are likely to experience a health deterioration</a:t>
            </a:r>
            <a:r>
              <a:rPr lang="en-IN" sz="1600" dirty="0"/>
              <a:t>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20840" y="1371600"/>
            <a:ext cx="4892040" cy="4892040"/>
          </a:xfrm>
          <a:prstGeom prst="roundRect">
            <a:avLst>
              <a:gd name="adj" fmla="val 1495"/>
            </a:avLst>
          </a:prstGeom>
          <a:solidFill>
            <a:srgbClr val="0D2B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86600" y="2176272"/>
            <a:ext cx="201168" cy="201168"/>
          </a:xfrm>
          <a:prstGeom prst="ellipse">
            <a:avLst/>
          </a:prstGeom>
          <a:solidFill>
            <a:srgbClr val="2C8C8F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21579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06640" y="20939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IN" sz="1200" dirty="0">
                <a:solidFill>
                  <a:schemeClr val="bg1"/>
                </a:solidFill>
              </a:rPr>
              <a:t>Collect and integrate environmental measurements, including air-quality and other relevant pollution indicators.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086600" y="2711196"/>
            <a:ext cx="201168" cy="201168"/>
          </a:xfrm>
          <a:prstGeom prst="ellipse">
            <a:avLst/>
          </a:prstGeom>
          <a:solidFill>
            <a:srgbClr val="2C8C8F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26929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406640" y="2542754"/>
            <a:ext cx="3916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endParaRPr lang="en-IN" sz="1200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</a:pPr>
            <a:r>
              <a:rPr lang="en-IN" sz="1200" dirty="0">
                <a:solidFill>
                  <a:schemeClr val="bg1"/>
                </a:solidFill>
              </a:rPr>
              <a:t>Identify relationships between environmental exposure and changes in local disease patterns.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086600" y="3246120"/>
            <a:ext cx="201168" cy="201168"/>
          </a:xfrm>
          <a:prstGeom prst="ellipse">
            <a:avLst/>
          </a:prstGeom>
          <a:solidFill>
            <a:srgbClr val="2C8C8F"/>
          </a:solidFill>
          <a:ln/>
        </p:spPr>
      </p:sp>
      <p:sp>
        <p:nvSpPr>
          <p:cNvPr id="18" name="Text 15"/>
          <p:cNvSpPr/>
          <p:nvPr/>
        </p:nvSpPr>
        <p:spPr>
          <a:xfrm>
            <a:off x="7086600" y="32278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31638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IN" sz="1200" dirty="0">
                <a:solidFill>
                  <a:schemeClr val="bg1"/>
                </a:solidFill>
              </a:rPr>
              <a:t>Generate neighbourhood-level risk predictions for conditions such as asthma attacks, respiratory complications, and cardiac events.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086600" y="3781044"/>
            <a:ext cx="201168" cy="201168"/>
          </a:xfrm>
          <a:prstGeom prst="ellipse">
            <a:avLst/>
          </a:prstGeom>
          <a:solidFill>
            <a:srgbClr val="2C8C8F"/>
          </a:solidFill>
          <a:ln/>
        </p:spPr>
      </p:sp>
      <p:sp>
        <p:nvSpPr>
          <p:cNvPr id="21" name="Text 18"/>
          <p:cNvSpPr/>
          <p:nvPr/>
        </p:nvSpPr>
        <p:spPr>
          <a:xfrm>
            <a:off x="7086600" y="37627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06640" y="37261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IN" sz="1200" dirty="0">
                <a:solidFill>
                  <a:schemeClr val="bg1"/>
                </a:solidFill>
              </a:rPr>
              <a:t>Provide early warnings for periods with elevated health risk, particularly for vulnerable groups such as children with asthma, older adults.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086600" y="4315968"/>
            <a:ext cx="201168" cy="201168"/>
          </a:xfrm>
          <a:prstGeom prst="ellipse">
            <a:avLst/>
          </a:prstGeom>
          <a:solidFill>
            <a:srgbClr val="2C8C8F"/>
          </a:solidFill>
          <a:ln/>
        </p:spPr>
      </p:sp>
      <p:sp>
        <p:nvSpPr>
          <p:cNvPr id="24" name="Text 21"/>
          <p:cNvSpPr/>
          <p:nvPr/>
        </p:nvSpPr>
        <p:spPr>
          <a:xfrm>
            <a:off x="7086600" y="42976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06640" y="4326315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IN" sz="1200" dirty="0">
                <a:solidFill>
                  <a:schemeClr val="bg1"/>
                </a:solidFill>
              </a:rPr>
              <a:t>Provide interpretable risk factors so that users can understand which environmental conditions are contributing most to the warning.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86600" y="48326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406640" y="47685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086600" y="5367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406640" y="53035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H26HLT02  ·  Vaayu — Environmental–Health Risk Fusion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&amp; Identified Gaps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today’s AQI tools do — and where they stop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72768"/>
            <a:ext cx="438912" cy="438912"/>
          </a:xfrm>
          <a:prstGeom prst="ellipse">
            <a:avLst/>
          </a:prstGeom>
          <a:solidFill>
            <a:srgbClr val="1D6E73"/>
          </a:solidFill>
          <a:ln/>
        </p:spPr>
      </p:sp>
      <p:pic>
        <p:nvPicPr>
          <p:cNvPr id="6" name="Image 0" descr="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1" y="1629827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0848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AQI portals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3957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/ SAFAR dashboards publish live station readings and forecasts, city-wide.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1572768"/>
            <a:ext cx="438912" cy="438912"/>
          </a:xfrm>
          <a:prstGeom prst="ellipse">
            <a:avLst/>
          </a:prstGeom>
          <a:solidFill>
            <a:srgbClr val="1D6E73"/>
          </a:solidFill>
          <a:ln/>
        </p:spPr>
      </p:sp>
      <p:pic>
        <p:nvPicPr>
          <p:cNvPr id="11" name="Image 1" descr="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203" y="1629827"/>
            <a:ext cx="324795" cy="324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0848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AQI apps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81144" y="23957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IQAir, AQI.in and similar apps show a number, a color, and generic tips.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37160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7616" y="1572768"/>
            <a:ext cx="438912" cy="438912"/>
          </a:xfrm>
          <a:prstGeom prst="ellipse">
            <a:avLst/>
          </a:prstGeom>
          <a:solidFill>
            <a:srgbClr val="1D6E73"/>
          </a:solidFill>
          <a:ln/>
        </p:spPr>
      </p:sp>
      <p:pic>
        <p:nvPicPr>
          <p:cNvPr id="16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675" y="1629827"/>
            <a:ext cx="324795" cy="324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0848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Health-outcome studies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57616" y="23957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work links pollution to disease trends — at a population level, after the fact.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3447288"/>
            <a:ext cx="10058400" cy="3118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>
              <a:buNone/>
            </a:pPr>
            <a:endParaRPr lang="en-US" sz="1500" b="1" dirty="0">
              <a:solidFill>
                <a:srgbClr val="12171F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H26HLT02  ·  Vaayu — Environmental–Health Risk Fusion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CE6AE-354B-B554-D064-7E2C5B91E9E5}"/>
              </a:ext>
            </a:extLst>
          </p:cNvPr>
          <p:cNvSpPr txBox="1"/>
          <p:nvPr/>
        </p:nvSpPr>
        <p:spPr>
          <a:xfrm>
            <a:off x="364067" y="3447288"/>
            <a:ext cx="11431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Identified gaps  —</a:t>
            </a:r>
          </a:p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056708-F81D-73F3-0AC7-43F32371212D}"/>
              </a:ext>
            </a:extLst>
          </p:cNvPr>
          <p:cNvSpPr txBox="1"/>
          <p:nvPr/>
        </p:nvSpPr>
        <p:spPr>
          <a:xfrm>
            <a:off x="457200" y="4093619"/>
            <a:ext cx="11164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Most systems report current pollution conditions or existing health statistics instead of forecasting possible health risks several days in advance.</a:t>
            </a:r>
          </a:p>
          <a:p>
            <a:pPr marL="342900" indent="-342900">
              <a:buAutoNum type="arabicPeriod"/>
            </a:pPr>
            <a:r>
              <a:rPr lang="en-IN" dirty="0"/>
              <a:t>Current systems often display environmental indicators without translating them into clear health-risk information or preventive recommendations.</a:t>
            </a:r>
          </a:p>
          <a:p>
            <a:pPr marL="342900" indent="-342900">
              <a:buAutoNum type="arabicPeriod"/>
            </a:pPr>
            <a:r>
              <a:rPr lang="en-IN" dirty="0"/>
              <a:t>Most systems report current pollution conditions or existing health statistics instead of forecasting possible health risks several days in advance.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E7426A5-51A6-87FE-603D-D2E004507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199" y="1075267"/>
            <a:ext cx="6500368" cy="541697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6FE1C23-B3CF-A8D2-304E-A9924D779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632" y="1075266"/>
            <a:ext cx="6500368" cy="5416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backend, model and UI are live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89720" y="402336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3B9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9720" y="40233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Functional prototype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60520" cy="489204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3B9E6B"/>
          </a:solidFill>
          <a:ln/>
        </p:spPr>
      </p:sp>
      <p:pic>
        <p:nvPicPr>
          <p:cNvPr id="8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86" y="1677558"/>
            <a:ext cx="284196" cy="2841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73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Functionalities completed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41248" y="21442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11" name="Text 8"/>
          <p:cNvSpPr/>
          <p:nvPr/>
        </p:nvSpPr>
        <p:spPr>
          <a:xfrm>
            <a:off x="1042416" y="20665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/ login — salted PBKDF2 password hashing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41248" y="24871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13" name="Text 10"/>
          <p:cNvSpPr/>
          <p:nvPr/>
        </p:nvSpPr>
        <p:spPr>
          <a:xfrm>
            <a:off x="1042416" y="24094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city selection across all of India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41248" y="28300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15" name="Text 12"/>
          <p:cNvSpPr/>
          <p:nvPr/>
        </p:nvSpPr>
        <p:spPr>
          <a:xfrm>
            <a:off x="1042416" y="27523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pollutant &amp; weather retrieval by location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41248" y="31729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17" name="Text 14"/>
          <p:cNvSpPr/>
          <p:nvPr/>
        </p:nvSpPr>
        <p:spPr>
          <a:xfrm>
            <a:off x="1042416" y="30952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National AQI (own breakpoints, not US EPA)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41248" y="35158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19" name="Text 16"/>
          <p:cNvSpPr/>
          <p:nvPr/>
        </p:nvSpPr>
        <p:spPr>
          <a:xfrm>
            <a:off x="1042416" y="34381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fused personal risk score, per profile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38587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21" name="Text 18"/>
          <p:cNvSpPr/>
          <p:nvPr/>
        </p:nvSpPr>
        <p:spPr>
          <a:xfrm>
            <a:off x="1042416" y="37810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avoid verdict with best time window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841248" y="42016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23" name="Text 20"/>
          <p:cNvSpPr/>
          <p:nvPr/>
        </p:nvSpPr>
        <p:spPr>
          <a:xfrm>
            <a:off x="1042416" y="41239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outlook and recovery-date projection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41248" y="45445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25" name="Text 22"/>
          <p:cNvSpPr/>
          <p:nvPr/>
        </p:nvSpPr>
        <p:spPr>
          <a:xfrm>
            <a:off x="1042416" y="44668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exposure ratio vs. WHO guideline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841248" y="48874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27" name="Text 24"/>
          <p:cNvSpPr/>
          <p:nvPr/>
        </p:nvSpPr>
        <p:spPr>
          <a:xfrm>
            <a:off x="1042416" y="48097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Personal-risk alerts with cooldown windows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841248" y="5230368"/>
            <a:ext cx="82296" cy="82296"/>
          </a:xfrm>
          <a:prstGeom prst="ellipse">
            <a:avLst/>
          </a:prstGeom>
          <a:solidFill>
            <a:srgbClr val="1D6E73"/>
          </a:solidFill>
          <a:ln/>
        </p:spPr>
      </p:sp>
      <p:sp>
        <p:nvSpPr>
          <p:cNvPr id="29" name="Text 26"/>
          <p:cNvSpPr/>
          <p:nvPr/>
        </p:nvSpPr>
        <p:spPr>
          <a:xfrm>
            <a:off x="1042416" y="51526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hospitals via OpenStreetMap + routing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1042416" y="54955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1042416" y="58384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92040" y="1371600"/>
            <a:ext cx="6720840" cy="1965960"/>
          </a:xfrm>
          <a:prstGeom prst="roundRect">
            <a:avLst>
              <a:gd name="adj" fmla="val 3721"/>
            </a:avLst>
          </a:prstGeom>
          <a:solidFill>
            <a:srgbClr val="0D2B2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15361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 — risk model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5212080" y="1965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0.948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5212080" y="24871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812280" y="1965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6812280" y="24871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points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412480" y="1965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0.483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8412480" y="24871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0012680" y="1965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5,811</a:t>
            </a:r>
            <a:endParaRPr lang="en-US" sz="2600" dirty="0"/>
          </a:p>
        </p:txBody>
      </p:sp>
      <p:sp>
        <p:nvSpPr>
          <p:cNvPr id="43" name="Text 40"/>
          <p:cNvSpPr/>
          <p:nvPr/>
        </p:nvSpPr>
        <p:spPr>
          <a:xfrm>
            <a:off x="10012680" y="24871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212080" y="28803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reported (not raw accuracy) against a 0.181 majority-class baseline — minority severity classes are honestly weak, which is why the regression score leads.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892040" y="3520440"/>
            <a:ext cx="6720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2080" y="36576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— same air, different lungs  (CPCB AQI 104, live run)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5212080" y="4041648"/>
            <a:ext cx="2057400" cy="2084832"/>
          </a:xfrm>
          <a:prstGeom prst="roundRect">
            <a:avLst>
              <a:gd name="adj" fmla="val 2222"/>
            </a:avLst>
          </a:prstGeom>
          <a:solidFill>
            <a:srgbClr val="F5F9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40096" y="4151376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· 24, healthy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340096" y="4526280"/>
            <a:ext cx="1801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51.7</a:t>
            </a:r>
            <a:endParaRPr lang="en-US" sz="3000" dirty="0"/>
          </a:p>
        </p:txBody>
      </p:sp>
      <p:sp>
        <p:nvSpPr>
          <p:cNvPr id="50" name="Shape 47"/>
          <p:cNvSpPr/>
          <p:nvPr/>
        </p:nvSpPr>
        <p:spPr>
          <a:xfrm>
            <a:off x="5340096" y="51023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B9E6B"/>
          </a:solidFill>
          <a:ln/>
        </p:spPr>
      </p:sp>
      <p:sp>
        <p:nvSpPr>
          <p:cNvPr id="51" name="Text 48"/>
          <p:cNvSpPr/>
          <p:nvPr/>
        </p:nvSpPr>
        <p:spPr>
          <a:xfrm>
            <a:off x="5340096" y="51023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5340096" y="5468112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alone: 70.8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5340096" y="5705856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amplification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388352" y="4041648"/>
            <a:ext cx="2057400" cy="2084832"/>
          </a:xfrm>
          <a:prstGeom prst="roundRect">
            <a:avLst>
              <a:gd name="adj" fmla="val 2222"/>
            </a:avLst>
          </a:prstGeom>
          <a:solidFill>
            <a:srgbClr val="F5F9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16368" y="4151376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· 6, asthma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516368" y="4526280"/>
            <a:ext cx="1801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6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74.9</a:t>
            </a:r>
            <a:endParaRPr lang="en-US" sz="3000" dirty="0"/>
          </a:p>
        </p:txBody>
      </p:sp>
      <p:sp>
        <p:nvSpPr>
          <p:cNvPr id="57" name="Shape 54"/>
          <p:cNvSpPr/>
          <p:nvPr/>
        </p:nvSpPr>
        <p:spPr>
          <a:xfrm>
            <a:off x="7516368" y="51023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/>
        </p:spPr>
      </p:sp>
      <p:sp>
        <p:nvSpPr>
          <p:cNvPr id="58" name="Text 55"/>
          <p:cNvSpPr/>
          <p:nvPr/>
        </p:nvSpPr>
        <p:spPr>
          <a:xfrm>
            <a:off x="7516368" y="51023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516368" y="5468112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alone: 70.8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7516368" y="5705856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 from profile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564624" y="4041648"/>
            <a:ext cx="2057400" cy="2084832"/>
          </a:xfrm>
          <a:prstGeom prst="roundRect">
            <a:avLst>
              <a:gd name="adj" fmla="val 2222"/>
            </a:avLst>
          </a:prstGeom>
          <a:solidFill>
            <a:srgbClr val="F5F9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692640" y="4151376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· 68, COPD + HTN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9692640" y="4526280"/>
            <a:ext cx="1801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88.8</a:t>
            </a:r>
            <a:endParaRPr lang="en-US" sz="3000" dirty="0"/>
          </a:p>
        </p:txBody>
      </p:sp>
      <p:sp>
        <p:nvSpPr>
          <p:cNvPr id="64" name="Shape 61"/>
          <p:cNvSpPr/>
          <p:nvPr/>
        </p:nvSpPr>
        <p:spPr>
          <a:xfrm>
            <a:off x="9692640" y="51023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5" name="Text 62"/>
          <p:cNvSpPr/>
          <p:nvPr/>
        </p:nvSpPr>
        <p:spPr>
          <a:xfrm>
            <a:off x="9692640" y="51023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9692640" y="5468112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alone: 70.8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9692640" y="5705856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+18.0 from profile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H26HLT02  ·  Vaayu — Environmental–Health Risk Fusion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581</Words>
  <Application>Microsoft Office PowerPoint</Application>
  <PresentationFormat>Widescreen</PresentationFormat>
  <Paragraphs>92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verma</cp:lastModifiedBy>
  <cp:revision>2</cp:revision>
  <dcterms:created xsi:type="dcterms:W3CDTF">2026-07-31T09:46:35Z</dcterms:created>
  <dcterms:modified xsi:type="dcterms:W3CDTF">2026-07-31T11:00:37Z</dcterms:modified>
</cp:coreProperties>
</file>