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project name. One line on the problem: air quality data is everywhere, but nobody translates it into what it means for your health. That translation is what HealthGuardAI does. Replace the placeholder team fields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gap: everyone reports AQI, nobody translates it. Our objective is the translation layer — environment in, personal risk out, split by organ system, with zero manual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top down: external APIs supply the environment, the Android client assembles one request, the backend scales and infers, the response flows back up into the UI. Model and scaler load once at startup, so no per-request load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step 2: using the persisted fitted scaler rather than refitting is what keeps predictions valid on a single request. Step 4 is the interpretability step — case counts are not meaningful to a user, percentages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was picked for speed of integration: Compose and StateFlow give reactive UI with little boilerplate, FastAPI gives a typed endpoint and free interactive docs, and Keras keeps the model to a few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the demo video here. Values shown are a sample reading, not a benchmark — say so explicitly if a judge asks. Point out that the two risks diverge for the same conditions, which is the whole reason for predicting them separately.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row that matters is the fourth: no consumer tool runs a learned model from environment to health outcome. That is the novelty claim — everything else on the table is table stakes.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pollutant feature set — it is the single highest-value next step, because a one-number AQI collapses six pollutants with different physiological effects into one value. Everything else is engineering; that one is modelling.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B33"/>
        </a:solidFill>
      </p:bgPr>
    </p:bg>
    <p:spTree>
      <p:nvGrpSpPr>
        <p:cNvPr id="1" name=""/>
        <p:cNvGrpSpPr/>
        <p:nvPr/>
      </p:nvGrpSpPr>
      <p:grpSpPr>
        <a:xfrm>
          <a:off x="0" y="0"/>
          <a:ext cx="0" cy="0"/>
          <a:chOff x="0" y="0"/>
          <a:chExt cx="0" cy="0"/>
        </a:xfrm>
      </p:grpSpPr>
      <p:sp>
        <p:nvSpPr>
          <p:cNvPr id="2" name="Shape 0"/>
          <p:cNvSpPr/>
          <p:nvPr/>
        </p:nvSpPr>
        <p:spPr>
          <a:xfrm>
            <a:off x="594360" y="932688"/>
            <a:ext cx="155448" cy="155448"/>
          </a:xfrm>
          <a:prstGeom prst="ellipse">
            <a:avLst/>
          </a:prstGeom>
          <a:solidFill>
            <a:srgbClr val="3FA34D"/>
          </a:solidFill>
          <a:ln w="12700">
            <a:solidFill>
              <a:srgbClr val="3FA34D"/>
            </a:solidFill>
            <a:prstDash val="solid"/>
          </a:ln>
        </p:spPr>
      </p:sp>
      <p:sp>
        <p:nvSpPr>
          <p:cNvPr id="3" name="Shape 1"/>
          <p:cNvSpPr/>
          <p:nvPr/>
        </p:nvSpPr>
        <p:spPr>
          <a:xfrm>
            <a:off x="841248" y="932688"/>
            <a:ext cx="155448" cy="155448"/>
          </a:xfrm>
          <a:prstGeom prst="ellipse">
            <a:avLst/>
          </a:prstGeom>
          <a:solidFill>
            <a:srgbClr val="E9B949"/>
          </a:solidFill>
          <a:ln w="12700">
            <a:solidFill>
              <a:srgbClr val="E9B949"/>
            </a:solidFill>
            <a:prstDash val="solid"/>
          </a:ln>
        </p:spPr>
      </p:sp>
      <p:sp>
        <p:nvSpPr>
          <p:cNvPr id="4" name="Shape 2"/>
          <p:cNvSpPr/>
          <p:nvPr/>
        </p:nvSpPr>
        <p:spPr>
          <a:xfrm>
            <a:off x="1088136" y="932688"/>
            <a:ext cx="155448" cy="155448"/>
          </a:xfrm>
          <a:prstGeom prst="ellipse">
            <a:avLst/>
          </a:prstGeom>
          <a:solidFill>
            <a:srgbClr val="E07B39"/>
          </a:solidFill>
          <a:ln w="12700">
            <a:solidFill>
              <a:srgbClr val="E07B39"/>
            </a:solidFill>
            <a:prstDash val="solid"/>
          </a:ln>
        </p:spPr>
      </p:sp>
      <p:sp>
        <p:nvSpPr>
          <p:cNvPr id="5" name="Shape 3"/>
          <p:cNvSpPr/>
          <p:nvPr/>
        </p:nvSpPr>
        <p:spPr>
          <a:xfrm>
            <a:off x="1335024" y="932688"/>
            <a:ext cx="155448" cy="155448"/>
          </a:xfrm>
          <a:prstGeom prst="ellipse">
            <a:avLst/>
          </a:prstGeom>
          <a:solidFill>
            <a:srgbClr val="C2453D"/>
          </a:solidFill>
          <a:ln w="12700">
            <a:solidFill>
              <a:srgbClr val="C2453D"/>
            </a:solidFill>
            <a:prstDash val="solid"/>
          </a:ln>
        </p:spPr>
      </p:sp>
      <p:sp>
        <p:nvSpPr>
          <p:cNvPr id="6" name="Text 4"/>
          <p:cNvSpPr/>
          <p:nvPr/>
        </p:nvSpPr>
        <p:spPr>
          <a:xfrm>
            <a:off x="548640" y="1298448"/>
            <a:ext cx="6766560" cy="914400"/>
          </a:xfrm>
          <a:prstGeom prst="rect">
            <a:avLst/>
          </a:prstGeom>
          <a:noFill/>
          <a:ln/>
        </p:spPr>
        <p:txBody>
          <a:bodyPr wrap="square" lIns="0" tIns="0" rIns="0" bIns="0"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HealthGuardAI</a:t>
            </a:r>
            <a:endParaRPr lang="en-US" sz="5200" dirty="0"/>
          </a:p>
        </p:txBody>
      </p:sp>
      <p:sp>
        <p:nvSpPr>
          <p:cNvPr id="7" name="Text 5"/>
          <p:cNvSpPr/>
          <p:nvPr/>
        </p:nvSpPr>
        <p:spPr>
          <a:xfrm>
            <a:off x="576072" y="2212848"/>
            <a:ext cx="6400800" cy="384048"/>
          </a:xfrm>
          <a:prstGeom prst="rect">
            <a:avLst/>
          </a:prstGeom>
          <a:noFill/>
          <a:ln/>
        </p:spPr>
        <p:txBody>
          <a:bodyPr wrap="square" lIns="0" tIns="0" rIns="0" bIns="0" rtlCol="0" anchor="ctr"/>
          <a:lstStyle/>
          <a:p>
            <a:pPr indent="0" marL="0">
              <a:buNone/>
            </a:pPr>
            <a:r>
              <a:rPr lang="en-US" sz="1900" dirty="0">
                <a:solidFill>
                  <a:srgbClr val="02C39A"/>
                </a:solidFill>
                <a:latin typeface="Calibri" pitchFamily="34" charset="0"/>
                <a:ea typeface="Calibri" pitchFamily="34" charset="-122"/>
                <a:cs typeface="Calibri" pitchFamily="34" charset="-120"/>
              </a:rPr>
              <a:t>Environmental–Health Risk Fusion</a:t>
            </a:r>
            <a:endParaRPr lang="en-US" sz="1900" dirty="0"/>
          </a:p>
        </p:txBody>
      </p:sp>
      <p:sp>
        <p:nvSpPr>
          <p:cNvPr id="8" name="Text 6"/>
          <p:cNvSpPr/>
          <p:nvPr/>
        </p:nvSpPr>
        <p:spPr>
          <a:xfrm>
            <a:off x="576072" y="2743200"/>
            <a:ext cx="5943600" cy="822960"/>
          </a:xfrm>
          <a:prstGeom prst="rect">
            <a:avLst/>
          </a:prstGeom>
          <a:noFill/>
          <a:ln/>
        </p:spPr>
        <p:txBody>
          <a:bodyPr wrap="square" lIns="0" tIns="0" rIns="0" bIns="0" rtlCol="0" anchor="ctr"/>
          <a:lstStyle/>
          <a:p>
            <a:pPr indent="0" marL="0">
              <a:lnSpc>
                <a:spcPts val="2100"/>
              </a:lnSpc>
              <a:buNone/>
            </a:pPr>
            <a:r>
              <a:rPr lang="en-US" sz="1400" dirty="0">
                <a:solidFill>
                  <a:srgbClr val="B9CFD3"/>
                </a:solidFill>
                <a:latin typeface="Calibri" pitchFamily="34" charset="0"/>
                <a:ea typeface="Calibri" pitchFamily="34" charset="-122"/>
                <a:cs typeface="Calibri" pitchFamily="34" charset="-120"/>
              </a:rPr>
              <a:t>An Android app that turns live air-quality and weather data into a personal respiratory and cardiovascular risk assessment.</a:t>
            </a:r>
            <a:endParaRPr lang="en-US" sz="1400" dirty="0"/>
          </a:p>
        </p:txBody>
      </p:sp>
      <p:sp>
        <p:nvSpPr>
          <p:cNvPr id="9" name="Text 7"/>
          <p:cNvSpPr/>
          <p:nvPr/>
        </p:nvSpPr>
        <p:spPr>
          <a:xfrm>
            <a:off x="576072" y="5760720"/>
            <a:ext cx="6858000" cy="274320"/>
          </a:xfrm>
          <a:prstGeom prst="rect">
            <a:avLst/>
          </a:prstGeom>
          <a:noFill/>
          <a:ln/>
        </p:spPr>
        <p:txBody>
          <a:bodyPr wrap="square" lIns="0" tIns="0" rIns="0" bIns="0" rtlCol="0" anchor="ctr"/>
          <a:lstStyle/>
          <a:p>
            <a:pPr indent="0" marL="0">
              <a:buNone/>
            </a:pPr>
            <a:r>
              <a:rPr lang="en-US" sz="1200" dirty="0">
                <a:solidFill>
                  <a:srgbClr val="7FA0A7"/>
                </a:solidFill>
                <a:latin typeface="Calibri" pitchFamily="34" charset="0"/>
                <a:ea typeface="Calibri" pitchFamily="34" charset="-122"/>
                <a:cs typeface="Calibri" pitchFamily="34" charset="-120"/>
              </a:rPr>
              <a:t>36-Hour Hackathon  ·  Tata Centre for AI and ML (TCS Foundation)</a:t>
            </a:r>
            <a:endParaRPr lang="en-US" sz="1200" dirty="0"/>
          </a:p>
        </p:txBody>
      </p:sp>
      <p:sp>
        <p:nvSpPr>
          <p:cNvPr id="10" name="Text 8"/>
          <p:cNvSpPr/>
          <p:nvPr/>
        </p:nvSpPr>
        <p:spPr>
          <a:xfrm>
            <a:off x="576072" y="6053328"/>
            <a:ext cx="6858000" cy="274320"/>
          </a:xfrm>
          <a:prstGeom prst="rect">
            <a:avLst/>
          </a:prstGeom>
          <a:noFill/>
          <a:ln/>
        </p:spPr>
        <p:txBody>
          <a:bodyPr wrap="square" lIns="0" tIns="0" rIns="0" bIns="0" rtlCol="0" anchor="ctr"/>
          <a:lstStyle/>
          <a:p>
            <a:pPr indent="0" marL="0">
              <a:buNone/>
            </a:pPr>
            <a:r>
              <a:rPr lang="en-US" sz="1200" dirty="0">
                <a:solidFill>
                  <a:srgbClr val="7FA0A7"/>
                </a:solidFill>
                <a:latin typeface="Calibri" pitchFamily="34" charset="0"/>
                <a:ea typeface="Calibri" pitchFamily="34" charset="-122"/>
                <a:cs typeface="Calibri" pitchFamily="34" charset="-120"/>
              </a:rPr>
              <a:t>Thrust area: Healthcare  ·  31 July – 1 August 2026</a:t>
            </a:r>
            <a:endParaRPr lang="en-US" sz="1200" dirty="0"/>
          </a:p>
        </p:txBody>
      </p:sp>
      <p:sp>
        <p:nvSpPr>
          <p:cNvPr id="11" name="Shape 9"/>
          <p:cNvSpPr/>
          <p:nvPr/>
        </p:nvSpPr>
        <p:spPr>
          <a:xfrm>
            <a:off x="7452360" y="960120"/>
            <a:ext cx="4160520" cy="4937760"/>
          </a:xfrm>
          <a:prstGeom prst="roundRect">
            <a:avLst>
              <a:gd name="adj" fmla="val 2198"/>
            </a:avLst>
          </a:prstGeom>
          <a:solidFill>
            <a:srgbClr val="13363F"/>
          </a:solidFill>
          <a:ln w="12700">
            <a:solidFill>
              <a:srgbClr val="23505B"/>
            </a:solidFill>
            <a:prstDash val="solid"/>
          </a:ln>
        </p:spPr>
      </p:sp>
      <p:sp>
        <p:nvSpPr>
          <p:cNvPr id="12" name="Text 10"/>
          <p:cNvSpPr/>
          <p:nvPr/>
        </p:nvSpPr>
        <p:spPr>
          <a:xfrm>
            <a:off x="7772400" y="1261872"/>
            <a:ext cx="3566160" cy="274320"/>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TEAM</a:t>
            </a:r>
            <a:endParaRPr lang="en-US" sz="1200" dirty="0"/>
          </a:p>
        </p:txBody>
      </p:sp>
      <p:sp>
        <p:nvSpPr>
          <p:cNvPr id="13" name="Text 11"/>
          <p:cNvSpPr/>
          <p:nvPr/>
        </p:nvSpPr>
        <p:spPr>
          <a:xfrm>
            <a:off x="7772400" y="1691640"/>
            <a:ext cx="3566160" cy="201168"/>
          </a:xfrm>
          <a:prstGeom prst="rect">
            <a:avLst/>
          </a:prstGeom>
          <a:noFill/>
          <a:ln/>
        </p:spPr>
        <p:txBody>
          <a:bodyPr wrap="square" lIns="0" tIns="0" rIns="0" bIns="0" rtlCol="0" anchor="ctr"/>
          <a:lstStyle/>
          <a:p>
            <a:pPr indent="0" marL="0">
              <a:buNone/>
            </a:pPr>
            <a:r>
              <a:rPr lang="en-US" sz="950" spc="100" kern="0" dirty="0">
                <a:solidFill>
                  <a:srgbClr val="7FA0A7"/>
                </a:solidFill>
                <a:latin typeface="Calibri" pitchFamily="34" charset="0"/>
                <a:ea typeface="Calibri" pitchFamily="34" charset="-122"/>
                <a:cs typeface="Calibri" pitchFamily="34" charset="-120"/>
              </a:rPr>
              <a:t>TEAM ID</a:t>
            </a:r>
            <a:endParaRPr lang="en-US" sz="950" dirty="0"/>
          </a:p>
        </p:txBody>
      </p:sp>
      <p:sp>
        <p:nvSpPr>
          <p:cNvPr id="14" name="Text 12"/>
          <p:cNvSpPr/>
          <p:nvPr/>
        </p:nvSpPr>
        <p:spPr>
          <a:xfrm>
            <a:off x="7772400" y="1883664"/>
            <a:ext cx="3566160" cy="384048"/>
          </a:xfrm>
          <a:prstGeom prst="rect">
            <a:avLst/>
          </a:prstGeom>
          <a:noFill/>
          <a:ln/>
        </p:spPr>
        <p:txBody>
          <a:bodyPr wrap="square" lIns="0" tIns="0" rIns="0" bIns="0" rtlCol="0" anchor="ctr"/>
          <a:lstStyle/>
          <a:p>
            <a:pPr indent="0" marL="0">
              <a:lnSpc>
                <a:spcPts val="1800"/>
              </a:lnSpc>
              <a:buNone/>
            </a:pPr>
            <a:r>
              <a:rPr lang="en-US" sz="1450" b="1" dirty="0">
                <a:solidFill>
                  <a:srgbClr val="FFFFFF"/>
                </a:solidFill>
                <a:latin typeface="Calibri" pitchFamily="34" charset="0"/>
                <a:ea typeface="Calibri" pitchFamily="34" charset="-122"/>
                <a:cs typeface="Calibri" pitchFamily="34" charset="-120"/>
              </a:rPr>
              <a:t>TEAM-ID</a:t>
            </a:r>
            <a:endParaRPr lang="en-US" sz="1450" dirty="0"/>
          </a:p>
        </p:txBody>
      </p:sp>
      <p:sp>
        <p:nvSpPr>
          <p:cNvPr id="15" name="Text 13"/>
          <p:cNvSpPr/>
          <p:nvPr/>
        </p:nvSpPr>
        <p:spPr>
          <a:xfrm>
            <a:off x="7772400" y="2331720"/>
            <a:ext cx="3566160" cy="201168"/>
          </a:xfrm>
          <a:prstGeom prst="rect">
            <a:avLst/>
          </a:prstGeom>
          <a:noFill/>
          <a:ln/>
        </p:spPr>
        <p:txBody>
          <a:bodyPr wrap="square" lIns="0" tIns="0" rIns="0" bIns="0" rtlCol="0" anchor="ctr"/>
          <a:lstStyle/>
          <a:p>
            <a:pPr indent="0" marL="0">
              <a:buNone/>
            </a:pPr>
            <a:r>
              <a:rPr lang="en-US" sz="950" spc="100" kern="0" dirty="0">
                <a:solidFill>
                  <a:srgbClr val="7FA0A7"/>
                </a:solidFill>
                <a:latin typeface="Calibri" pitchFamily="34" charset="0"/>
                <a:ea typeface="Calibri" pitchFamily="34" charset="-122"/>
                <a:cs typeface="Calibri" pitchFamily="34" charset="-120"/>
              </a:rPr>
              <a:t>PROJECT TITLE</a:t>
            </a:r>
            <a:endParaRPr lang="en-US" sz="950" dirty="0"/>
          </a:p>
        </p:txBody>
      </p:sp>
      <p:sp>
        <p:nvSpPr>
          <p:cNvPr id="16" name="Text 14"/>
          <p:cNvSpPr/>
          <p:nvPr/>
        </p:nvSpPr>
        <p:spPr>
          <a:xfrm>
            <a:off x="7772400" y="2523744"/>
            <a:ext cx="3566160" cy="384048"/>
          </a:xfrm>
          <a:prstGeom prst="rect">
            <a:avLst/>
          </a:prstGeom>
          <a:noFill/>
          <a:ln/>
        </p:spPr>
        <p:txBody>
          <a:bodyPr wrap="square" lIns="0" tIns="0" rIns="0" bIns="0" rtlCol="0" anchor="ctr"/>
          <a:lstStyle/>
          <a:p>
            <a:pPr indent="0" marL="0">
              <a:lnSpc>
                <a:spcPts val="1800"/>
              </a:lnSpc>
              <a:buNone/>
            </a:pPr>
            <a:r>
              <a:rPr lang="en-US" sz="1450" b="1" dirty="0">
                <a:solidFill>
                  <a:srgbClr val="FFFFFF"/>
                </a:solidFill>
                <a:latin typeface="Calibri" pitchFamily="34" charset="0"/>
                <a:ea typeface="Calibri" pitchFamily="34" charset="-122"/>
                <a:cs typeface="Calibri" pitchFamily="34" charset="-120"/>
              </a:rPr>
              <a:t>HealthGuardAI</a:t>
            </a:r>
            <a:endParaRPr lang="en-US" sz="1450" dirty="0"/>
          </a:p>
        </p:txBody>
      </p:sp>
      <p:sp>
        <p:nvSpPr>
          <p:cNvPr id="17" name="Text 15"/>
          <p:cNvSpPr/>
          <p:nvPr/>
        </p:nvSpPr>
        <p:spPr>
          <a:xfrm>
            <a:off x="7772400" y="2971800"/>
            <a:ext cx="3566160" cy="201168"/>
          </a:xfrm>
          <a:prstGeom prst="rect">
            <a:avLst/>
          </a:prstGeom>
          <a:noFill/>
          <a:ln/>
        </p:spPr>
        <p:txBody>
          <a:bodyPr wrap="square" lIns="0" tIns="0" rIns="0" bIns="0" rtlCol="0" anchor="ctr"/>
          <a:lstStyle/>
          <a:p>
            <a:pPr indent="0" marL="0">
              <a:buNone/>
            </a:pPr>
            <a:r>
              <a:rPr lang="en-US" sz="950" spc="100" kern="0" dirty="0">
                <a:solidFill>
                  <a:srgbClr val="7FA0A7"/>
                </a:solidFill>
                <a:latin typeface="Calibri" pitchFamily="34" charset="0"/>
                <a:ea typeface="Calibri" pitchFamily="34" charset="-122"/>
                <a:cs typeface="Calibri" pitchFamily="34" charset="-120"/>
              </a:rPr>
              <a:t>TEAM LEAD</a:t>
            </a:r>
            <a:endParaRPr lang="en-US" sz="950" dirty="0"/>
          </a:p>
        </p:txBody>
      </p:sp>
      <p:sp>
        <p:nvSpPr>
          <p:cNvPr id="18" name="Text 16"/>
          <p:cNvSpPr/>
          <p:nvPr/>
        </p:nvSpPr>
        <p:spPr>
          <a:xfrm>
            <a:off x="7772400" y="3163824"/>
            <a:ext cx="3566160" cy="384048"/>
          </a:xfrm>
          <a:prstGeom prst="rect">
            <a:avLst/>
          </a:prstGeom>
          <a:noFill/>
          <a:ln/>
        </p:spPr>
        <p:txBody>
          <a:bodyPr wrap="square" lIns="0" tIns="0" rIns="0" bIns="0" rtlCol="0" anchor="ctr"/>
          <a:lstStyle/>
          <a:p>
            <a:pPr indent="0" marL="0">
              <a:lnSpc>
                <a:spcPts val="1800"/>
              </a:lnSpc>
              <a:buNone/>
            </a:pPr>
            <a:r>
              <a:rPr lang="en-US" sz="1450" b="1" dirty="0">
                <a:solidFill>
                  <a:srgbClr val="FFFFFF"/>
                </a:solidFill>
                <a:latin typeface="Calibri" pitchFamily="34" charset="0"/>
                <a:ea typeface="Calibri" pitchFamily="34" charset="-122"/>
                <a:cs typeface="Calibri" pitchFamily="34" charset="-120"/>
              </a:rPr>
              <a:t>Lead Name</a:t>
            </a:r>
            <a:endParaRPr lang="en-US" sz="1450" dirty="0"/>
          </a:p>
        </p:txBody>
      </p:sp>
      <p:sp>
        <p:nvSpPr>
          <p:cNvPr id="19" name="Text 17"/>
          <p:cNvSpPr/>
          <p:nvPr/>
        </p:nvSpPr>
        <p:spPr>
          <a:xfrm>
            <a:off x="7772400" y="3611880"/>
            <a:ext cx="3566160" cy="201168"/>
          </a:xfrm>
          <a:prstGeom prst="rect">
            <a:avLst/>
          </a:prstGeom>
          <a:noFill/>
          <a:ln/>
        </p:spPr>
        <p:txBody>
          <a:bodyPr wrap="square" lIns="0" tIns="0" rIns="0" bIns="0" rtlCol="0" anchor="ctr"/>
          <a:lstStyle/>
          <a:p>
            <a:pPr indent="0" marL="0">
              <a:buNone/>
            </a:pPr>
            <a:r>
              <a:rPr lang="en-US" sz="950" spc="100" kern="0" dirty="0">
                <a:solidFill>
                  <a:srgbClr val="7FA0A7"/>
                </a:solidFill>
                <a:latin typeface="Calibri" pitchFamily="34" charset="0"/>
                <a:ea typeface="Calibri" pitchFamily="34" charset="-122"/>
                <a:cs typeface="Calibri" pitchFamily="34" charset="-120"/>
              </a:rPr>
              <a:t>MEMBER 2</a:t>
            </a:r>
            <a:endParaRPr lang="en-US" sz="950" dirty="0"/>
          </a:p>
        </p:txBody>
      </p:sp>
      <p:sp>
        <p:nvSpPr>
          <p:cNvPr id="20" name="Text 18"/>
          <p:cNvSpPr/>
          <p:nvPr/>
        </p:nvSpPr>
        <p:spPr>
          <a:xfrm>
            <a:off x="7772400" y="3803904"/>
            <a:ext cx="3566160" cy="384048"/>
          </a:xfrm>
          <a:prstGeom prst="rect">
            <a:avLst/>
          </a:prstGeom>
          <a:noFill/>
          <a:ln/>
        </p:spPr>
        <p:txBody>
          <a:bodyPr wrap="square" lIns="0" tIns="0" rIns="0" bIns="0" rtlCol="0" anchor="ctr"/>
          <a:lstStyle/>
          <a:p>
            <a:pPr indent="0" marL="0">
              <a:lnSpc>
                <a:spcPts val="1800"/>
              </a:lnSpc>
              <a:buNone/>
            </a:pPr>
            <a:r>
              <a:rPr lang="en-US" sz="1450" b="1" dirty="0">
                <a:solidFill>
                  <a:srgbClr val="FFFFFF"/>
                </a:solidFill>
                <a:latin typeface="Calibri" pitchFamily="34" charset="0"/>
                <a:ea typeface="Calibri" pitchFamily="34" charset="-122"/>
                <a:cs typeface="Calibri" pitchFamily="34" charset="-120"/>
              </a:rPr>
              <a:t>Member Name</a:t>
            </a:r>
            <a:endParaRPr lang="en-US" sz="1450" dirty="0"/>
          </a:p>
        </p:txBody>
      </p:sp>
      <p:sp>
        <p:nvSpPr>
          <p:cNvPr id="21" name="Text 19"/>
          <p:cNvSpPr/>
          <p:nvPr/>
        </p:nvSpPr>
        <p:spPr>
          <a:xfrm>
            <a:off x="7772400" y="4251960"/>
            <a:ext cx="3566160" cy="201168"/>
          </a:xfrm>
          <a:prstGeom prst="rect">
            <a:avLst/>
          </a:prstGeom>
          <a:noFill/>
          <a:ln/>
        </p:spPr>
        <p:txBody>
          <a:bodyPr wrap="square" lIns="0" tIns="0" rIns="0" bIns="0" rtlCol="0" anchor="ctr"/>
          <a:lstStyle/>
          <a:p>
            <a:pPr indent="0" marL="0">
              <a:buNone/>
            </a:pPr>
            <a:r>
              <a:rPr lang="en-US" sz="950" spc="100" kern="0" dirty="0">
                <a:solidFill>
                  <a:srgbClr val="7FA0A7"/>
                </a:solidFill>
                <a:latin typeface="Calibri" pitchFamily="34" charset="0"/>
                <a:ea typeface="Calibri" pitchFamily="34" charset="-122"/>
                <a:cs typeface="Calibri" pitchFamily="34" charset="-120"/>
              </a:rPr>
              <a:t>MEMBER 3</a:t>
            </a:r>
            <a:endParaRPr lang="en-US" sz="950" dirty="0"/>
          </a:p>
        </p:txBody>
      </p:sp>
      <p:sp>
        <p:nvSpPr>
          <p:cNvPr id="22" name="Text 20"/>
          <p:cNvSpPr/>
          <p:nvPr/>
        </p:nvSpPr>
        <p:spPr>
          <a:xfrm>
            <a:off x="7772400" y="4443984"/>
            <a:ext cx="3566160" cy="384048"/>
          </a:xfrm>
          <a:prstGeom prst="rect">
            <a:avLst/>
          </a:prstGeom>
          <a:noFill/>
          <a:ln/>
        </p:spPr>
        <p:txBody>
          <a:bodyPr wrap="square" lIns="0" tIns="0" rIns="0" bIns="0" rtlCol="0" anchor="ctr"/>
          <a:lstStyle/>
          <a:p>
            <a:pPr indent="0" marL="0">
              <a:lnSpc>
                <a:spcPts val="1800"/>
              </a:lnSpc>
              <a:buNone/>
            </a:pPr>
            <a:r>
              <a:rPr lang="en-US" sz="1450" b="1" dirty="0">
                <a:solidFill>
                  <a:srgbClr val="FFFFFF"/>
                </a:solidFill>
                <a:latin typeface="Calibri" pitchFamily="34" charset="0"/>
                <a:ea typeface="Calibri" pitchFamily="34" charset="-122"/>
                <a:cs typeface="Calibri" pitchFamily="34" charset="-120"/>
              </a:rPr>
              <a:t>Member Name</a:t>
            </a:r>
            <a:endParaRPr lang="en-US" sz="1450" dirty="0"/>
          </a:p>
        </p:txBody>
      </p:sp>
      <p:sp>
        <p:nvSpPr>
          <p:cNvPr id="23" name="Text 21"/>
          <p:cNvSpPr/>
          <p:nvPr/>
        </p:nvSpPr>
        <p:spPr>
          <a:xfrm>
            <a:off x="7772400" y="4892040"/>
            <a:ext cx="3566160" cy="201168"/>
          </a:xfrm>
          <a:prstGeom prst="rect">
            <a:avLst/>
          </a:prstGeom>
          <a:noFill/>
          <a:ln/>
        </p:spPr>
        <p:txBody>
          <a:bodyPr wrap="square" lIns="0" tIns="0" rIns="0" bIns="0" rtlCol="0" anchor="ctr"/>
          <a:lstStyle/>
          <a:p>
            <a:pPr indent="0" marL="0">
              <a:buNone/>
            </a:pPr>
            <a:r>
              <a:rPr lang="en-US" sz="950" spc="100" kern="0" dirty="0">
                <a:solidFill>
                  <a:srgbClr val="7FA0A7"/>
                </a:solidFill>
                <a:latin typeface="Calibri" pitchFamily="34" charset="0"/>
                <a:ea typeface="Calibri" pitchFamily="34" charset="-122"/>
                <a:cs typeface="Calibri" pitchFamily="34" charset="-120"/>
              </a:rPr>
              <a:t>COLLEGE</a:t>
            </a:r>
            <a:endParaRPr lang="en-US" sz="950" dirty="0"/>
          </a:p>
        </p:txBody>
      </p:sp>
      <p:sp>
        <p:nvSpPr>
          <p:cNvPr id="24" name="Text 22"/>
          <p:cNvSpPr/>
          <p:nvPr/>
        </p:nvSpPr>
        <p:spPr>
          <a:xfrm>
            <a:off x="7772400" y="5084064"/>
            <a:ext cx="3566160" cy="457200"/>
          </a:xfrm>
          <a:prstGeom prst="rect">
            <a:avLst/>
          </a:prstGeom>
          <a:noFill/>
          <a:ln/>
        </p:spPr>
        <p:txBody>
          <a:bodyPr wrap="square" lIns="0" tIns="0" rIns="0" bIns="0" rtlCol="0" anchor="ctr"/>
          <a:lstStyle/>
          <a:p>
            <a:pPr indent="0" marL="0">
              <a:lnSpc>
                <a:spcPts val="1800"/>
              </a:lnSpc>
              <a:buNone/>
            </a:pPr>
            <a:r>
              <a:rPr lang="en-US" sz="1450" b="1" dirty="0">
                <a:solidFill>
                  <a:srgbClr val="FFFFFF"/>
                </a:solidFill>
                <a:latin typeface="Calibri" pitchFamily="34" charset="0"/>
                <a:ea typeface="Calibri" pitchFamily="34" charset="-122"/>
                <a:cs typeface="Calibri" pitchFamily="34" charset="-120"/>
              </a:rPr>
              <a:t>National Institute of Technology,</a:t>
            </a:r>
            <a:endParaRPr lang="en-US" sz="1450" dirty="0"/>
          </a:p>
          <a:p>
            <a:pPr indent="0" marL="0">
              <a:lnSpc>
                <a:spcPts val="1800"/>
              </a:lnSpc>
              <a:buNone/>
            </a:pPr>
            <a:r>
              <a:rPr lang="en-US" sz="1450" b="1" dirty="0">
                <a:solidFill>
                  <a:srgbClr val="FFFFFF"/>
                </a:solidFill>
                <a:latin typeface="Calibri" pitchFamily="34" charset="0"/>
                <a:ea typeface="Calibri" pitchFamily="34" charset="-122"/>
                <a:cs typeface="Calibri" pitchFamily="34" charset="-120"/>
              </a:rPr>
              <a:t>Tiruchirappalli</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329184"/>
            <a:ext cx="8412480" cy="566928"/>
          </a:xfrm>
          <a:prstGeom prst="rect">
            <a:avLst/>
          </a:prstGeom>
          <a:noFill/>
          <a:ln/>
        </p:spPr>
        <p:txBody>
          <a:bodyPr wrap="square" lIns="0" tIns="0" rIns="0" bIns="0" rtlCol="0" anchor="ctr"/>
          <a:lstStyle/>
          <a:p>
            <a:pPr algn="l" indent="0" marL="0">
              <a:buNone/>
            </a:pPr>
            <a:r>
              <a:rPr lang="en-US" sz="3400" b="1" dirty="0">
                <a:solidFill>
                  <a:srgbClr val="13272E"/>
                </a:solidFill>
                <a:latin typeface="Cambria" pitchFamily="34" charset="0"/>
                <a:ea typeface="Cambria" pitchFamily="34" charset="-122"/>
                <a:cs typeface="Cambria" pitchFamily="34" charset="-120"/>
              </a:rPr>
              <a:t>Problem Statement</a:t>
            </a:r>
            <a:endParaRPr lang="en-US" sz="3400" dirty="0"/>
          </a:p>
        </p:txBody>
      </p:sp>
      <p:sp>
        <p:nvSpPr>
          <p:cNvPr id="3" name="Text 1"/>
          <p:cNvSpPr/>
          <p:nvPr/>
        </p:nvSpPr>
        <p:spPr>
          <a:xfrm>
            <a:off x="585216" y="914400"/>
            <a:ext cx="10058400" cy="274320"/>
          </a:xfrm>
          <a:prstGeom prst="rect">
            <a:avLst/>
          </a:prstGeom>
          <a:noFill/>
          <a:ln/>
        </p:spPr>
        <p:txBody>
          <a:bodyPr wrap="square" lIns="0" tIns="0" rIns="0" bIns="0" rtlCol="0" anchor="ctr"/>
          <a:lstStyle/>
          <a:p>
            <a:pPr indent="0" marL="0">
              <a:buNone/>
            </a:pPr>
            <a:r>
              <a:rPr lang="en-US" sz="1300" i="1" dirty="0">
                <a:solidFill>
                  <a:srgbClr val="028090"/>
                </a:solidFill>
                <a:latin typeface="Calibri" pitchFamily="34" charset="0"/>
                <a:ea typeface="Calibri" pitchFamily="34" charset="-122"/>
                <a:cs typeface="Calibri" pitchFamily="34" charset="-120"/>
              </a:rPr>
              <a:t>Pollution data is abundant. Its personal health meaning is not.</a:t>
            </a:r>
            <a:endParaRPr lang="en-US" sz="1300" dirty="0"/>
          </a:p>
        </p:txBody>
      </p:sp>
      <p:sp>
        <p:nvSpPr>
          <p:cNvPr id="4" name="Shape 2"/>
          <p:cNvSpPr/>
          <p:nvPr/>
        </p:nvSpPr>
        <p:spPr>
          <a:xfrm>
            <a:off x="585216" y="118872"/>
            <a:ext cx="100584" cy="100584"/>
          </a:xfrm>
          <a:prstGeom prst="ellipse">
            <a:avLst/>
          </a:prstGeom>
          <a:solidFill>
            <a:srgbClr val="3FA34D"/>
          </a:solidFill>
          <a:ln w="12700">
            <a:solidFill>
              <a:srgbClr val="3FA34D"/>
            </a:solidFill>
            <a:prstDash val="solid"/>
          </a:ln>
        </p:spPr>
      </p:sp>
      <p:sp>
        <p:nvSpPr>
          <p:cNvPr id="5" name="Shape 3"/>
          <p:cNvSpPr/>
          <p:nvPr/>
        </p:nvSpPr>
        <p:spPr>
          <a:xfrm>
            <a:off x="749808" y="118872"/>
            <a:ext cx="100584" cy="100584"/>
          </a:xfrm>
          <a:prstGeom prst="ellipse">
            <a:avLst/>
          </a:prstGeom>
          <a:solidFill>
            <a:srgbClr val="E9B949"/>
          </a:solidFill>
          <a:ln w="12700">
            <a:solidFill>
              <a:srgbClr val="E9B949"/>
            </a:solidFill>
            <a:prstDash val="solid"/>
          </a:ln>
        </p:spPr>
      </p:sp>
      <p:sp>
        <p:nvSpPr>
          <p:cNvPr id="6" name="Shape 4"/>
          <p:cNvSpPr/>
          <p:nvPr/>
        </p:nvSpPr>
        <p:spPr>
          <a:xfrm>
            <a:off x="914400" y="118872"/>
            <a:ext cx="100584" cy="100584"/>
          </a:xfrm>
          <a:prstGeom prst="ellipse">
            <a:avLst/>
          </a:prstGeom>
          <a:solidFill>
            <a:srgbClr val="E07B39"/>
          </a:solidFill>
          <a:ln w="12700">
            <a:solidFill>
              <a:srgbClr val="E07B39"/>
            </a:solidFill>
            <a:prstDash val="solid"/>
          </a:ln>
        </p:spPr>
      </p:sp>
      <p:sp>
        <p:nvSpPr>
          <p:cNvPr id="7" name="Shape 5"/>
          <p:cNvSpPr/>
          <p:nvPr/>
        </p:nvSpPr>
        <p:spPr>
          <a:xfrm>
            <a:off x="1078992" y="118872"/>
            <a:ext cx="100584" cy="100584"/>
          </a:xfrm>
          <a:prstGeom prst="ellipse">
            <a:avLst/>
          </a:prstGeom>
          <a:solidFill>
            <a:srgbClr val="C2453D"/>
          </a:solidFill>
          <a:ln w="12700">
            <a:solidFill>
              <a:srgbClr val="C2453D"/>
            </a:solidFill>
            <a:prstDash val="solid"/>
          </a:ln>
        </p:spPr>
      </p:sp>
      <p:sp>
        <p:nvSpPr>
          <p:cNvPr id="8" name="Shape 6"/>
          <p:cNvSpPr/>
          <p:nvPr/>
        </p:nvSpPr>
        <p:spPr>
          <a:xfrm>
            <a:off x="566928" y="1417320"/>
            <a:ext cx="5349240" cy="2148840"/>
          </a:xfrm>
          <a:prstGeom prst="roundRect">
            <a:avLst>
              <a:gd name="adj" fmla="val 3404"/>
            </a:avLst>
          </a:prstGeom>
          <a:solidFill>
            <a:srgbClr val="F0F6F6"/>
          </a:solidFill>
          <a:ln w="12700">
            <a:solidFill>
              <a:srgbClr val="D8E5E5"/>
            </a:solidFill>
            <a:prstDash val="solid"/>
          </a:ln>
          <a:effectLst>
            <a:outerShdw sx="100000" sy="100000" kx="0" ky="0" algn="bl" rotWithShape="0" blurRad="101600" dist="25400" dir="5400000">
              <a:srgbClr val="0B2B33">
                <a:alpha val="7000"/>
              </a:srgbClr>
            </a:outerShdw>
          </a:effectLst>
        </p:spPr>
      </p:sp>
      <p:sp>
        <p:nvSpPr>
          <p:cNvPr id="9" name="Text 7"/>
          <p:cNvSpPr/>
          <p:nvPr/>
        </p:nvSpPr>
        <p:spPr>
          <a:xfrm>
            <a:off x="868680" y="1627632"/>
            <a:ext cx="2011680" cy="566928"/>
          </a:xfrm>
          <a:prstGeom prst="rect">
            <a:avLst/>
          </a:prstGeom>
          <a:noFill/>
          <a:ln/>
        </p:spPr>
        <p:txBody>
          <a:bodyPr wrap="square" lIns="0" tIns="0" rIns="0" bIns="0" rtlCol="0" anchor="ctr"/>
          <a:lstStyle/>
          <a:p>
            <a:pPr indent="0" marL="0">
              <a:buNone/>
            </a:pPr>
            <a:r>
              <a:rPr lang="en-US" sz="3400" b="1" dirty="0">
                <a:solidFill>
                  <a:srgbClr val="C2453D"/>
                </a:solidFill>
                <a:latin typeface="Cambria" pitchFamily="34" charset="0"/>
                <a:ea typeface="Cambria" pitchFamily="34" charset="-122"/>
                <a:cs typeface="Cambria" pitchFamily="34" charset="-120"/>
              </a:rPr>
              <a:t>AQI 180</a:t>
            </a:r>
            <a:endParaRPr lang="en-US" sz="3400" dirty="0"/>
          </a:p>
        </p:txBody>
      </p:sp>
      <p:sp>
        <p:nvSpPr>
          <p:cNvPr id="10" name="Text 8"/>
          <p:cNvSpPr/>
          <p:nvPr/>
        </p:nvSpPr>
        <p:spPr>
          <a:xfrm>
            <a:off x="2788920" y="1700784"/>
            <a:ext cx="2926080" cy="548640"/>
          </a:xfrm>
          <a:prstGeom prst="rect">
            <a:avLst/>
          </a:prstGeom>
          <a:noFill/>
          <a:ln/>
        </p:spPr>
        <p:txBody>
          <a:bodyPr wrap="square" lIns="0" tIns="0" rIns="0" bIns="0" rtlCol="0" anchor="ctr"/>
          <a:lstStyle/>
          <a:p>
            <a:pPr indent="0" marL="0">
              <a:lnSpc>
                <a:spcPts val="1700"/>
              </a:lnSpc>
              <a:buNone/>
            </a:pPr>
            <a:r>
              <a:rPr lang="en-US" sz="1300" i="1" dirty="0">
                <a:solidFill>
                  <a:srgbClr val="5B7178"/>
                </a:solidFill>
                <a:latin typeface="Calibri" pitchFamily="34" charset="0"/>
                <a:ea typeface="Calibri" pitchFamily="34" charset="-122"/>
                <a:cs typeface="Calibri" pitchFamily="34" charset="-120"/>
              </a:rPr>
              <a:t>…tells a user nothing about their lungs or their heart.</a:t>
            </a:r>
            <a:endParaRPr lang="en-US" sz="1300" dirty="0"/>
          </a:p>
        </p:txBody>
      </p:sp>
      <p:sp>
        <p:nvSpPr>
          <p:cNvPr id="11" name="Text 9"/>
          <p:cNvSpPr/>
          <p:nvPr/>
        </p:nvSpPr>
        <p:spPr>
          <a:xfrm>
            <a:off x="868680" y="2377440"/>
            <a:ext cx="4754880" cy="1051560"/>
          </a:xfrm>
          <a:prstGeom prst="rect">
            <a:avLst/>
          </a:prstGeom>
          <a:noFill/>
          <a:ln/>
        </p:spPr>
        <p:txBody>
          <a:bodyPr wrap="square" lIns="0" tIns="0" rIns="0" bIns="0" rtlCol="0" anchor="ctr"/>
          <a:lstStyle/>
          <a:p>
            <a:pPr indent="0" marL="0">
              <a:lnSpc>
                <a:spcPts val="1900"/>
              </a:lnSpc>
              <a:buNone/>
            </a:pPr>
            <a:r>
              <a:rPr lang="en-US" sz="1300" dirty="0">
                <a:solidFill>
                  <a:srgbClr val="13272E"/>
                </a:solidFill>
                <a:latin typeface="Calibri" pitchFamily="34" charset="0"/>
                <a:ea typeface="Calibri" pitchFamily="34" charset="-122"/>
                <a:cs typeface="Calibri" pitchFamily="34" charset="-120"/>
              </a:rPr>
              <a:t>Air pollution is a documented driver of chronic respiratory and cardiovascular disease. Existing apps publish an index number and stop there.</a:t>
            </a:r>
            <a:endParaRPr lang="en-US" sz="1300" dirty="0"/>
          </a:p>
          <a:p>
            <a:pPr indent="0" marL="0">
              <a:lnSpc>
                <a:spcPts val="1900"/>
              </a:lnSpc>
              <a:buNone/>
            </a:pPr>
            <a:r>
              <a:rPr lang="en-US" sz="1300" dirty="0">
                <a:solidFill>
                  <a:srgbClr val="13272E"/>
                </a:solidFill>
                <a:latin typeface="Calibri" pitchFamily="34" charset="0"/>
                <a:ea typeface="Calibri" pitchFamily="34" charset="-122"/>
                <a:cs typeface="Calibri" pitchFamily="34" charset="-120"/>
              </a:rPr>
              <a:t>The user is left to guess the consequence — with no distinction between respiratory and cardiovascular risk, and no signal until symptoms appear.</a:t>
            </a:r>
            <a:endParaRPr lang="en-US" sz="1300" dirty="0"/>
          </a:p>
        </p:txBody>
      </p:sp>
      <p:sp>
        <p:nvSpPr>
          <p:cNvPr id="12" name="Text 10"/>
          <p:cNvSpPr/>
          <p:nvPr/>
        </p:nvSpPr>
        <p:spPr>
          <a:xfrm>
            <a:off x="566928" y="3794760"/>
            <a:ext cx="1554480" cy="621792"/>
          </a:xfrm>
          <a:prstGeom prst="rect">
            <a:avLst/>
          </a:prstGeom>
          <a:noFill/>
          <a:ln/>
        </p:spPr>
        <p:txBody>
          <a:bodyPr wrap="square" lIns="0" tIns="0" rIns="0" bIns="0" rtlCol="0" anchor="ctr"/>
          <a:lstStyle/>
          <a:p>
            <a:pPr indent="0" marL="0">
              <a:buNone/>
            </a:pPr>
            <a:r>
              <a:rPr lang="en-US" sz="4000" b="1" dirty="0">
                <a:solidFill>
                  <a:srgbClr val="028090"/>
                </a:solidFill>
                <a:latin typeface="Cambria" pitchFamily="34" charset="0"/>
                <a:ea typeface="Cambria" pitchFamily="34" charset="-122"/>
                <a:cs typeface="Cambria" pitchFamily="34" charset="-120"/>
              </a:rPr>
              <a:t>99%</a:t>
            </a:r>
            <a:endParaRPr lang="en-US" sz="4000" dirty="0"/>
          </a:p>
        </p:txBody>
      </p:sp>
      <p:sp>
        <p:nvSpPr>
          <p:cNvPr id="13" name="Text 11"/>
          <p:cNvSpPr/>
          <p:nvPr/>
        </p:nvSpPr>
        <p:spPr>
          <a:xfrm>
            <a:off x="2148840" y="3886200"/>
            <a:ext cx="3749040" cy="566928"/>
          </a:xfrm>
          <a:prstGeom prst="rect">
            <a:avLst/>
          </a:prstGeom>
          <a:noFill/>
          <a:ln/>
        </p:spPr>
        <p:txBody>
          <a:bodyPr wrap="square" lIns="0" tIns="0" rIns="0" bIns="0" rtlCol="0" anchor="ctr"/>
          <a:lstStyle/>
          <a:p>
            <a:pPr indent="0" marL="0">
              <a:lnSpc>
                <a:spcPts val="1600"/>
              </a:lnSpc>
              <a:buNone/>
            </a:pPr>
            <a:r>
              <a:rPr lang="en-US" sz="1200" dirty="0">
                <a:solidFill>
                  <a:srgbClr val="5B7178"/>
                </a:solidFill>
                <a:latin typeface="Calibri" pitchFamily="34" charset="0"/>
                <a:ea typeface="Calibri" pitchFamily="34" charset="-122"/>
                <a:cs typeface="Calibri" pitchFamily="34" charset="-120"/>
              </a:rPr>
              <a:t>of the world's population breathes air exceeding WHO guideline limits  (WHO)</a:t>
            </a:r>
            <a:endParaRPr lang="en-US" sz="1200" dirty="0"/>
          </a:p>
        </p:txBody>
      </p:sp>
      <p:sp>
        <p:nvSpPr>
          <p:cNvPr id="14" name="Text 12"/>
          <p:cNvSpPr/>
          <p:nvPr/>
        </p:nvSpPr>
        <p:spPr>
          <a:xfrm>
            <a:off x="566928" y="4709160"/>
            <a:ext cx="5349240" cy="685800"/>
          </a:xfrm>
          <a:prstGeom prst="rect">
            <a:avLst/>
          </a:prstGeom>
          <a:noFill/>
          <a:ln/>
        </p:spPr>
        <p:txBody>
          <a:bodyPr wrap="square" lIns="0" tIns="0" rIns="0" bIns="0" rtlCol="0" anchor="ctr"/>
          <a:lstStyle/>
          <a:p>
            <a:pPr indent="0" marL="0">
              <a:lnSpc>
                <a:spcPts val="1900"/>
              </a:lnSpc>
              <a:buNone/>
            </a:pPr>
            <a:r>
              <a:rPr lang="en-US" sz="1300" b="1" dirty="0">
                <a:solidFill>
                  <a:srgbClr val="028090"/>
                </a:solidFill>
                <a:latin typeface="Calibri" pitchFamily="34" charset="0"/>
                <a:ea typeface="Calibri" pitchFamily="34" charset="-122"/>
                <a:cs typeface="Calibri" pitchFamily="34" charset="-120"/>
              </a:rPr>
              <a:t>Problem statement:  environmental–health risk fusion — linking pollution exposure to chronic disease risk.</a:t>
            </a:r>
            <a:endParaRPr lang="en-US" sz="1300" dirty="0"/>
          </a:p>
        </p:txBody>
      </p:sp>
      <p:sp>
        <p:nvSpPr>
          <p:cNvPr id="15" name="Text 13"/>
          <p:cNvSpPr/>
          <p:nvPr/>
        </p:nvSpPr>
        <p:spPr>
          <a:xfrm>
            <a:off x="6400800" y="1417320"/>
            <a:ext cx="5212080" cy="256032"/>
          </a:xfrm>
          <a:prstGeom prst="rect">
            <a:avLst/>
          </a:prstGeom>
          <a:noFill/>
          <a:ln/>
        </p:spPr>
        <p:txBody>
          <a:bodyPr wrap="square" lIns="0" tIns="0" rIns="0" bIns="0" rtlCol="0" anchor="ctr"/>
          <a:lstStyle/>
          <a:p>
            <a:pPr indent="0" marL="0">
              <a:buNone/>
            </a:pPr>
            <a:r>
              <a:rPr lang="en-US" sz="1100" b="1" spc="150" kern="0" dirty="0">
                <a:solidFill>
                  <a:srgbClr val="5B7178"/>
                </a:solidFill>
                <a:latin typeface="Calibri" pitchFamily="34" charset="0"/>
                <a:ea typeface="Calibri" pitchFamily="34" charset="-122"/>
                <a:cs typeface="Calibri" pitchFamily="34" charset="-120"/>
              </a:rPr>
              <a:t>OBJECTIVES OF THE PROPOSED SOLUTION</a:t>
            </a:r>
            <a:endParaRPr lang="en-US" sz="1100" dirty="0"/>
          </a:p>
        </p:txBody>
      </p:sp>
      <p:sp>
        <p:nvSpPr>
          <p:cNvPr id="16" name="Shape 14"/>
          <p:cNvSpPr/>
          <p:nvPr/>
        </p:nvSpPr>
        <p:spPr>
          <a:xfrm>
            <a:off x="6400800" y="1856232"/>
            <a:ext cx="347472" cy="347472"/>
          </a:xfrm>
          <a:prstGeom prst="ellipse">
            <a:avLst/>
          </a:prstGeom>
          <a:solidFill>
            <a:srgbClr val="3FA34D"/>
          </a:solidFill>
          <a:ln w="12700">
            <a:solidFill>
              <a:srgbClr val="3FA34D"/>
            </a:solidFill>
            <a:prstDash val="solid"/>
          </a:ln>
        </p:spPr>
      </p:sp>
      <p:sp>
        <p:nvSpPr>
          <p:cNvPr id="17" name="Text 15"/>
          <p:cNvSpPr/>
          <p:nvPr/>
        </p:nvSpPr>
        <p:spPr>
          <a:xfrm>
            <a:off x="6400800" y="185623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6"/>
          <p:cNvSpPr/>
          <p:nvPr/>
        </p:nvSpPr>
        <p:spPr>
          <a:xfrm>
            <a:off x="6903720" y="1828800"/>
            <a:ext cx="4709160" cy="274320"/>
          </a:xfrm>
          <a:prstGeom prst="rect">
            <a:avLst/>
          </a:prstGeom>
          <a:noFill/>
          <a:ln/>
        </p:spPr>
        <p:txBody>
          <a:bodyPr wrap="square" lIns="0" tIns="0" rIns="0" bIns="0" rtlCol="0" anchor="ctr"/>
          <a:lstStyle/>
          <a:p>
            <a:pPr indent="0" marL="0">
              <a:buNone/>
            </a:pPr>
            <a:r>
              <a:rPr lang="en-US" sz="1500" b="1" dirty="0">
                <a:solidFill>
                  <a:srgbClr val="13272E"/>
                </a:solidFill>
                <a:latin typeface="Calibri" pitchFamily="34" charset="0"/>
                <a:ea typeface="Calibri" pitchFamily="34" charset="-122"/>
                <a:cs typeface="Calibri" pitchFamily="34" charset="-120"/>
              </a:rPr>
              <a:t>Fuse environment with health</a:t>
            </a:r>
            <a:endParaRPr lang="en-US" sz="1500" dirty="0"/>
          </a:p>
        </p:txBody>
      </p:sp>
      <p:sp>
        <p:nvSpPr>
          <p:cNvPr id="19" name="Text 17"/>
          <p:cNvSpPr/>
          <p:nvPr/>
        </p:nvSpPr>
        <p:spPr>
          <a:xfrm>
            <a:off x="6903720" y="2121408"/>
            <a:ext cx="4709160" cy="566928"/>
          </a:xfrm>
          <a:prstGeom prst="rect">
            <a:avLst/>
          </a:prstGeom>
          <a:noFill/>
          <a:ln/>
        </p:spPr>
        <p:txBody>
          <a:bodyPr wrap="square" lIns="0" tIns="0" rIns="0" bIns="0" rtlCol="0" anchor="ctr"/>
          <a:lstStyle/>
          <a:p>
            <a:pPr indent="0" marL="0">
              <a:lnSpc>
                <a:spcPts val="1700"/>
              </a:lnSpc>
              <a:buNone/>
            </a:pPr>
            <a:r>
              <a:rPr lang="en-US" sz="1250" dirty="0">
                <a:solidFill>
                  <a:srgbClr val="5B7178"/>
                </a:solidFill>
                <a:latin typeface="Calibri" pitchFamily="34" charset="0"/>
                <a:ea typeface="Calibri" pitchFamily="34" charset="-122"/>
                <a:cs typeface="Calibri" pitchFamily="34" charset="-120"/>
              </a:rPr>
              <a:t>Combine live AQI and weather into a single model of health outcome, not a raw index.</a:t>
            </a:r>
            <a:endParaRPr lang="en-US" sz="1250" dirty="0"/>
          </a:p>
        </p:txBody>
      </p:sp>
      <p:sp>
        <p:nvSpPr>
          <p:cNvPr id="20" name="Shape 18"/>
          <p:cNvSpPr/>
          <p:nvPr/>
        </p:nvSpPr>
        <p:spPr>
          <a:xfrm>
            <a:off x="6400800" y="2843784"/>
            <a:ext cx="347472" cy="347472"/>
          </a:xfrm>
          <a:prstGeom prst="ellipse">
            <a:avLst/>
          </a:prstGeom>
          <a:solidFill>
            <a:srgbClr val="E9B949"/>
          </a:solidFill>
          <a:ln w="12700">
            <a:solidFill>
              <a:srgbClr val="E9B949"/>
            </a:solidFill>
            <a:prstDash val="solid"/>
          </a:ln>
        </p:spPr>
      </p:sp>
      <p:sp>
        <p:nvSpPr>
          <p:cNvPr id="21" name="Text 19"/>
          <p:cNvSpPr/>
          <p:nvPr/>
        </p:nvSpPr>
        <p:spPr>
          <a:xfrm>
            <a:off x="6400800" y="2843784"/>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2" name="Text 20"/>
          <p:cNvSpPr/>
          <p:nvPr/>
        </p:nvSpPr>
        <p:spPr>
          <a:xfrm>
            <a:off x="6903720" y="2816352"/>
            <a:ext cx="4709160" cy="274320"/>
          </a:xfrm>
          <a:prstGeom prst="rect">
            <a:avLst/>
          </a:prstGeom>
          <a:noFill/>
          <a:ln/>
        </p:spPr>
        <p:txBody>
          <a:bodyPr wrap="square" lIns="0" tIns="0" rIns="0" bIns="0" rtlCol="0" anchor="ctr"/>
          <a:lstStyle/>
          <a:p>
            <a:pPr indent="0" marL="0">
              <a:buNone/>
            </a:pPr>
            <a:r>
              <a:rPr lang="en-US" sz="1500" b="1" dirty="0">
                <a:solidFill>
                  <a:srgbClr val="13272E"/>
                </a:solidFill>
                <a:latin typeface="Calibri" pitchFamily="34" charset="0"/>
                <a:ea typeface="Calibri" pitchFamily="34" charset="-122"/>
                <a:cs typeface="Calibri" pitchFamily="34" charset="-120"/>
              </a:rPr>
              <a:t>Predict two risks separately</a:t>
            </a:r>
            <a:endParaRPr lang="en-US" sz="1500" dirty="0"/>
          </a:p>
        </p:txBody>
      </p:sp>
      <p:sp>
        <p:nvSpPr>
          <p:cNvPr id="23" name="Text 21"/>
          <p:cNvSpPr/>
          <p:nvPr/>
        </p:nvSpPr>
        <p:spPr>
          <a:xfrm>
            <a:off x="6903720" y="3108960"/>
            <a:ext cx="4709160" cy="566928"/>
          </a:xfrm>
          <a:prstGeom prst="rect">
            <a:avLst/>
          </a:prstGeom>
          <a:noFill/>
          <a:ln/>
        </p:spPr>
        <p:txBody>
          <a:bodyPr wrap="square" lIns="0" tIns="0" rIns="0" bIns="0" rtlCol="0" anchor="ctr"/>
          <a:lstStyle/>
          <a:p>
            <a:pPr indent="0" marL="0">
              <a:lnSpc>
                <a:spcPts val="1700"/>
              </a:lnSpc>
              <a:buNone/>
            </a:pPr>
            <a:r>
              <a:rPr lang="en-US" sz="1250" dirty="0">
                <a:solidFill>
                  <a:srgbClr val="5B7178"/>
                </a:solidFill>
                <a:latin typeface="Calibri" pitchFamily="34" charset="0"/>
                <a:ea typeface="Calibri" pitchFamily="34" charset="-122"/>
                <a:cs typeface="Calibri" pitchFamily="34" charset="-120"/>
              </a:rPr>
              <a:t>Return respiratory and cardiovascular risk independently — they respond differently to conditions.</a:t>
            </a:r>
            <a:endParaRPr lang="en-US" sz="1250" dirty="0"/>
          </a:p>
        </p:txBody>
      </p:sp>
      <p:sp>
        <p:nvSpPr>
          <p:cNvPr id="24" name="Shape 22"/>
          <p:cNvSpPr/>
          <p:nvPr/>
        </p:nvSpPr>
        <p:spPr>
          <a:xfrm>
            <a:off x="6400800" y="3831336"/>
            <a:ext cx="347472" cy="347472"/>
          </a:xfrm>
          <a:prstGeom prst="ellipse">
            <a:avLst/>
          </a:prstGeom>
          <a:solidFill>
            <a:srgbClr val="E07B39"/>
          </a:solidFill>
          <a:ln w="12700">
            <a:solidFill>
              <a:srgbClr val="E07B39"/>
            </a:solidFill>
            <a:prstDash val="solid"/>
          </a:ln>
        </p:spPr>
      </p:sp>
      <p:sp>
        <p:nvSpPr>
          <p:cNvPr id="25" name="Text 23"/>
          <p:cNvSpPr/>
          <p:nvPr/>
        </p:nvSpPr>
        <p:spPr>
          <a:xfrm>
            <a:off x="6400800" y="383133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6" name="Text 24"/>
          <p:cNvSpPr/>
          <p:nvPr/>
        </p:nvSpPr>
        <p:spPr>
          <a:xfrm>
            <a:off x="6903720" y="3803904"/>
            <a:ext cx="4709160" cy="274320"/>
          </a:xfrm>
          <a:prstGeom prst="rect">
            <a:avLst/>
          </a:prstGeom>
          <a:noFill/>
          <a:ln/>
        </p:spPr>
        <p:txBody>
          <a:bodyPr wrap="square" lIns="0" tIns="0" rIns="0" bIns="0" rtlCol="0" anchor="ctr"/>
          <a:lstStyle/>
          <a:p>
            <a:pPr indent="0" marL="0">
              <a:buNone/>
            </a:pPr>
            <a:r>
              <a:rPr lang="en-US" sz="1500" b="1" dirty="0">
                <a:solidFill>
                  <a:srgbClr val="13272E"/>
                </a:solidFill>
                <a:latin typeface="Calibri" pitchFamily="34" charset="0"/>
                <a:ea typeface="Calibri" pitchFamily="34" charset="-122"/>
                <a:cs typeface="Calibri" pitchFamily="34" charset="-120"/>
              </a:rPr>
              <a:t>Make it effortless</a:t>
            </a:r>
            <a:endParaRPr lang="en-US" sz="1500" dirty="0"/>
          </a:p>
        </p:txBody>
      </p:sp>
      <p:sp>
        <p:nvSpPr>
          <p:cNvPr id="27" name="Text 25"/>
          <p:cNvSpPr/>
          <p:nvPr/>
        </p:nvSpPr>
        <p:spPr>
          <a:xfrm>
            <a:off x="6903720" y="4096512"/>
            <a:ext cx="4709160" cy="566928"/>
          </a:xfrm>
          <a:prstGeom prst="rect">
            <a:avLst/>
          </a:prstGeom>
          <a:noFill/>
          <a:ln/>
        </p:spPr>
        <p:txBody>
          <a:bodyPr wrap="square" lIns="0" tIns="0" rIns="0" bIns="0" rtlCol="0" anchor="ctr"/>
          <a:lstStyle/>
          <a:p>
            <a:pPr indent="0" marL="0">
              <a:lnSpc>
                <a:spcPts val="1700"/>
              </a:lnSpc>
              <a:buNone/>
            </a:pPr>
            <a:r>
              <a:rPr lang="en-US" sz="1250" dirty="0">
                <a:solidFill>
                  <a:srgbClr val="5B7178"/>
                </a:solidFill>
                <a:latin typeface="Calibri" pitchFamily="34" charset="0"/>
                <a:ea typeface="Calibri" pitchFamily="34" charset="-122"/>
                <a:cs typeface="Calibri" pitchFamily="34" charset="-120"/>
              </a:rPr>
              <a:t>GPS-driven: no city entry, no manual readings, no configuration by the user.</a:t>
            </a:r>
            <a:endParaRPr lang="en-US" sz="1250" dirty="0"/>
          </a:p>
        </p:txBody>
      </p:sp>
      <p:sp>
        <p:nvSpPr>
          <p:cNvPr id="28" name="Shape 26"/>
          <p:cNvSpPr/>
          <p:nvPr/>
        </p:nvSpPr>
        <p:spPr>
          <a:xfrm>
            <a:off x="6400800" y="4818888"/>
            <a:ext cx="347472" cy="347472"/>
          </a:xfrm>
          <a:prstGeom prst="ellipse">
            <a:avLst/>
          </a:prstGeom>
          <a:solidFill>
            <a:srgbClr val="C2453D"/>
          </a:solidFill>
          <a:ln w="12700">
            <a:solidFill>
              <a:srgbClr val="C2453D"/>
            </a:solidFill>
            <a:prstDash val="solid"/>
          </a:ln>
        </p:spPr>
      </p:sp>
      <p:sp>
        <p:nvSpPr>
          <p:cNvPr id="29" name="Text 27"/>
          <p:cNvSpPr/>
          <p:nvPr/>
        </p:nvSpPr>
        <p:spPr>
          <a:xfrm>
            <a:off x="6400800" y="481888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0" name="Text 28"/>
          <p:cNvSpPr/>
          <p:nvPr/>
        </p:nvSpPr>
        <p:spPr>
          <a:xfrm>
            <a:off x="6903720" y="4791456"/>
            <a:ext cx="4709160" cy="274320"/>
          </a:xfrm>
          <a:prstGeom prst="rect">
            <a:avLst/>
          </a:prstGeom>
          <a:noFill/>
          <a:ln/>
        </p:spPr>
        <p:txBody>
          <a:bodyPr wrap="square" lIns="0" tIns="0" rIns="0" bIns="0" rtlCol="0" anchor="ctr"/>
          <a:lstStyle/>
          <a:p>
            <a:pPr indent="0" marL="0">
              <a:buNone/>
            </a:pPr>
            <a:r>
              <a:rPr lang="en-US" sz="1500" b="1" dirty="0">
                <a:solidFill>
                  <a:srgbClr val="13272E"/>
                </a:solidFill>
                <a:latin typeface="Calibri" pitchFamily="34" charset="0"/>
                <a:ea typeface="Calibri" pitchFamily="34" charset="-122"/>
                <a:cs typeface="Calibri" pitchFamily="34" charset="-120"/>
              </a:rPr>
              <a:t>Make it actionable</a:t>
            </a:r>
            <a:endParaRPr lang="en-US" sz="1500" dirty="0"/>
          </a:p>
        </p:txBody>
      </p:sp>
      <p:sp>
        <p:nvSpPr>
          <p:cNvPr id="31" name="Text 29"/>
          <p:cNvSpPr/>
          <p:nvPr/>
        </p:nvSpPr>
        <p:spPr>
          <a:xfrm>
            <a:off x="6903720" y="5084064"/>
            <a:ext cx="4709160" cy="566928"/>
          </a:xfrm>
          <a:prstGeom prst="rect">
            <a:avLst/>
          </a:prstGeom>
          <a:noFill/>
          <a:ln/>
        </p:spPr>
        <p:txBody>
          <a:bodyPr wrap="square" lIns="0" tIns="0" rIns="0" bIns="0" rtlCol="0" anchor="ctr"/>
          <a:lstStyle/>
          <a:p>
            <a:pPr indent="0" marL="0">
              <a:lnSpc>
                <a:spcPts val="1700"/>
              </a:lnSpc>
              <a:buNone/>
            </a:pPr>
            <a:r>
              <a:rPr lang="en-US" sz="1250" dirty="0">
                <a:solidFill>
                  <a:srgbClr val="5B7178"/>
                </a:solidFill>
                <a:latin typeface="Calibri" pitchFamily="34" charset="0"/>
                <a:ea typeface="Calibri" pitchFamily="34" charset="-122"/>
                <a:cs typeface="Calibri" pitchFamily="34" charset="-120"/>
              </a:rPr>
              <a:t>Convert model output into a percentage risk a person can act on before symptoms appear.</a:t>
            </a:r>
            <a:endParaRPr lang="en-US" sz="1250" dirty="0"/>
          </a:p>
        </p:txBody>
      </p:sp>
      <p:sp>
        <p:nvSpPr>
          <p:cNvPr id="32" name="Text 30"/>
          <p:cNvSpPr/>
          <p:nvPr/>
        </p:nvSpPr>
        <p:spPr>
          <a:xfrm>
            <a:off x="11292840" y="6263640"/>
            <a:ext cx="457200" cy="274320"/>
          </a:xfrm>
          <a:prstGeom prst="rect">
            <a:avLst/>
          </a:prstGeom>
          <a:noFill/>
          <a:ln/>
        </p:spPr>
        <p:txBody>
          <a:bodyPr wrap="square" lIns="0" tIns="0" rIns="0" bIns="0" rtlCol="0" anchor="ctr"/>
          <a:lstStyle/>
          <a:p>
            <a:pPr algn="r" indent="0" marL="0">
              <a:buNone/>
            </a:pPr>
            <a:r>
              <a:rPr lang="en-US" sz="1000" dirty="0">
                <a:solidFill>
                  <a:srgbClr val="5B7178"/>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329184"/>
            <a:ext cx="8412480" cy="566928"/>
          </a:xfrm>
          <a:prstGeom prst="rect">
            <a:avLst/>
          </a:prstGeom>
          <a:noFill/>
          <a:ln/>
        </p:spPr>
        <p:txBody>
          <a:bodyPr wrap="square" lIns="0" tIns="0" rIns="0" bIns="0" rtlCol="0" anchor="ctr"/>
          <a:lstStyle/>
          <a:p>
            <a:pPr algn="l" indent="0" marL="0">
              <a:buNone/>
            </a:pPr>
            <a:r>
              <a:rPr lang="en-US" sz="3400" b="1" dirty="0">
                <a:solidFill>
                  <a:srgbClr val="13272E"/>
                </a:solidFill>
                <a:latin typeface="Cambria" pitchFamily="34" charset="0"/>
                <a:ea typeface="Cambria" pitchFamily="34" charset="-122"/>
                <a:cs typeface="Cambria" pitchFamily="34" charset="-120"/>
              </a:rPr>
              <a:t>System Design</a:t>
            </a:r>
            <a:endParaRPr lang="en-US" sz="3400" dirty="0"/>
          </a:p>
        </p:txBody>
      </p:sp>
      <p:sp>
        <p:nvSpPr>
          <p:cNvPr id="3" name="Text 1"/>
          <p:cNvSpPr/>
          <p:nvPr/>
        </p:nvSpPr>
        <p:spPr>
          <a:xfrm>
            <a:off x="585216" y="914400"/>
            <a:ext cx="10058400" cy="274320"/>
          </a:xfrm>
          <a:prstGeom prst="rect">
            <a:avLst/>
          </a:prstGeom>
          <a:noFill/>
          <a:ln/>
        </p:spPr>
        <p:txBody>
          <a:bodyPr wrap="square" lIns="0" tIns="0" rIns="0" bIns="0" rtlCol="0" anchor="ctr"/>
          <a:lstStyle/>
          <a:p>
            <a:pPr indent="0" marL="0">
              <a:buNone/>
            </a:pPr>
            <a:r>
              <a:rPr lang="en-US" sz="1300" i="1" dirty="0">
                <a:solidFill>
                  <a:srgbClr val="028090"/>
                </a:solidFill>
                <a:latin typeface="Calibri" pitchFamily="34" charset="0"/>
                <a:ea typeface="Calibri" pitchFamily="34" charset="-122"/>
                <a:cs typeface="Calibri" pitchFamily="34" charset="-120"/>
              </a:rPr>
              <a:t>GPS → live environmental data → model inference → risk on screen</a:t>
            </a:r>
            <a:endParaRPr lang="en-US" sz="1300" dirty="0"/>
          </a:p>
        </p:txBody>
      </p:sp>
      <p:sp>
        <p:nvSpPr>
          <p:cNvPr id="4" name="Shape 2"/>
          <p:cNvSpPr/>
          <p:nvPr/>
        </p:nvSpPr>
        <p:spPr>
          <a:xfrm>
            <a:off x="585216" y="118872"/>
            <a:ext cx="100584" cy="100584"/>
          </a:xfrm>
          <a:prstGeom prst="ellipse">
            <a:avLst/>
          </a:prstGeom>
          <a:solidFill>
            <a:srgbClr val="3FA34D"/>
          </a:solidFill>
          <a:ln w="12700">
            <a:solidFill>
              <a:srgbClr val="3FA34D"/>
            </a:solidFill>
            <a:prstDash val="solid"/>
          </a:ln>
        </p:spPr>
      </p:sp>
      <p:sp>
        <p:nvSpPr>
          <p:cNvPr id="5" name="Shape 3"/>
          <p:cNvSpPr/>
          <p:nvPr/>
        </p:nvSpPr>
        <p:spPr>
          <a:xfrm>
            <a:off x="749808" y="118872"/>
            <a:ext cx="100584" cy="100584"/>
          </a:xfrm>
          <a:prstGeom prst="ellipse">
            <a:avLst/>
          </a:prstGeom>
          <a:solidFill>
            <a:srgbClr val="E9B949"/>
          </a:solidFill>
          <a:ln w="12700">
            <a:solidFill>
              <a:srgbClr val="E9B949"/>
            </a:solidFill>
            <a:prstDash val="solid"/>
          </a:ln>
        </p:spPr>
      </p:sp>
      <p:sp>
        <p:nvSpPr>
          <p:cNvPr id="6" name="Shape 4"/>
          <p:cNvSpPr/>
          <p:nvPr/>
        </p:nvSpPr>
        <p:spPr>
          <a:xfrm>
            <a:off x="914400" y="118872"/>
            <a:ext cx="100584" cy="100584"/>
          </a:xfrm>
          <a:prstGeom prst="ellipse">
            <a:avLst/>
          </a:prstGeom>
          <a:solidFill>
            <a:srgbClr val="E07B39"/>
          </a:solidFill>
          <a:ln w="12700">
            <a:solidFill>
              <a:srgbClr val="E07B39"/>
            </a:solidFill>
            <a:prstDash val="solid"/>
          </a:ln>
        </p:spPr>
      </p:sp>
      <p:sp>
        <p:nvSpPr>
          <p:cNvPr id="7" name="Shape 5"/>
          <p:cNvSpPr/>
          <p:nvPr/>
        </p:nvSpPr>
        <p:spPr>
          <a:xfrm>
            <a:off x="1078992" y="118872"/>
            <a:ext cx="100584" cy="100584"/>
          </a:xfrm>
          <a:prstGeom prst="ellipse">
            <a:avLst/>
          </a:prstGeom>
          <a:solidFill>
            <a:srgbClr val="C2453D"/>
          </a:solidFill>
          <a:ln w="12700">
            <a:solidFill>
              <a:srgbClr val="C2453D"/>
            </a:solidFill>
            <a:prstDash val="solid"/>
          </a:ln>
        </p:spPr>
      </p:sp>
      <p:sp>
        <p:nvSpPr>
          <p:cNvPr id="8" name="Text 6"/>
          <p:cNvSpPr/>
          <p:nvPr/>
        </p:nvSpPr>
        <p:spPr>
          <a:xfrm>
            <a:off x="585216" y="1243584"/>
            <a:ext cx="7315200" cy="219456"/>
          </a:xfrm>
          <a:prstGeom prst="rect">
            <a:avLst/>
          </a:prstGeom>
          <a:noFill/>
          <a:ln/>
        </p:spPr>
        <p:txBody>
          <a:bodyPr wrap="square" lIns="0" tIns="0" rIns="0" bIns="0" rtlCol="0" anchor="ctr"/>
          <a:lstStyle/>
          <a:p>
            <a:pPr indent="0" marL="0">
              <a:buNone/>
            </a:pPr>
            <a:r>
              <a:rPr lang="en-US" sz="1050" b="1" spc="150" kern="0" dirty="0">
                <a:solidFill>
                  <a:srgbClr val="5B7178"/>
                </a:solidFill>
                <a:latin typeface="Calibri" pitchFamily="34" charset="0"/>
                <a:ea typeface="Calibri" pitchFamily="34" charset="-122"/>
                <a:cs typeface="Calibri" pitchFamily="34" charset="-120"/>
              </a:rPr>
              <a:t>INPUTS  ·  device + external data sources</a:t>
            </a:r>
            <a:endParaRPr lang="en-US" sz="1050" dirty="0"/>
          </a:p>
        </p:txBody>
      </p:sp>
      <p:sp>
        <p:nvSpPr>
          <p:cNvPr id="9" name="Shape 7"/>
          <p:cNvSpPr/>
          <p:nvPr/>
        </p:nvSpPr>
        <p:spPr>
          <a:xfrm>
            <a:off x="566928" y="1481328"/>
            <a:ext cx="11064240" cy="868680"/>
          </a:xfrm>
          <a:prstGeom prst="roundRect">
            <a:avLst>
              <a:gd name="adj" fmla="val 6316"/>
            </a:avLst>
          </a:prstGeom>
          <a:solidFill>
            <a:srgbClr val="F0F6F6"/>
          </a:solidFill>
          <a:ln w="12700">
            <a:solidFill>
              <a:srgbClr val="D8E5E5"/>
            </a:solidFill>
            <a:prstDash val="solid"/>
          </a:ln>
        </p:spPr>
      </p:sp>
      <p:sp>
        <p:nvSpPr>
          <p:cNvPr id="10" name="Shape 8"/>
          <p:cNvSpPr/>
          <p:nvPr/>
        </p:nvSpPr>
        <p:spPr>
          <a:xfrm>
            <a:off x="777240" y="1572768"/>
            <a:ext cx="3200400" cy="685800"/>
          </a:xfrm>
          <a:prstGeom prst="roundRect">
            <a:avLst>
              <a:gd name="adj" fmla="val 9333"/>
            </a:avLst>
          </a:prstGeom>
          <a:solidFill>
            <a:srgbClr val="FFFFFF"/>
          </a:solidFill>
          <a:ln w="12700">
            <a:solidFill>
              <a:srgbClr val="D8E5E5"/>
            </a:solidFill>
            <a:prstDash val="solid"/>
          </a:ln>
          <a:effectLst>
            <a:outerShdw sx="100000" sy="100000" kx="0" ky="0" algn="bl" rotWithShape="0" blurRad="76200" dist="25400" dir="5400000">
              <a:srgbClr val="0B2B33">
                <a:alpha val="6000"/>
              </a:srgbClr>
            </a:outerShdw>
          </a:effectLst>
        </p:spPr>
      </p:sp>
      <p:sp>
        <p:nvSpPr>
          <p:cNvPr id="11" name="Text 9"/>
          <p:cNvSpPr/>
          <p:nvPr/>
        </p:nvSpPr>
        <p:spPr>
          <a:xfrm>
            <a:off x="905256" y="1700784"/>
            <a:ext cx="2944368" cy="256032"/>
          </a:xfrm>
          <a:prstGeom prst="rect">
            <a:avLst/>
          </a:prstGeom>
          <a:noFill/>
          <a:ln/>
        </p:spPr>
        <p:txBody>
          <a:bodyPr wrap="square" lIns="0" tIns="0" rIns="0" bIns="0" rtlCol="0" anchor="ctr"/>
          <a:lstStyle/>
          <a:p>
            <a:pPr indent="0" marL="0">
              <a:buNone/>
            </a:pPr>
            <a:r>
              <a:rPr lang="en-US" sz="1300" b="1" dirty="0">
                <a:solidFill>
                  <a:srgbClr val="13272E"/>
                </a:solidFill>
                <a:latin typeface="Calibri" pitchFamily="34" charset="0"/>
                <a:ea typeface="Calibri" pitchFamily="34" charset="-122"/>
                <a:cs typeface="Calibri" pitchFamily="34" charset="-120"/>
              </a:rPr>
              <a:t>Device GPS</a:t>
            </a:r>
            <a:endParaRPr lang="en-US" sz="1300" dirty="0"/>
          </a:p>
        </p:txBody>
      </p:sp>
      <p:sp>
        <p:nvSpPr>
          <p:cNvPr id="12" name="Text 10"/>
          <p:cNvSpPr/>
          <p:nvPr/>
        </p:nvSpPr>
        <p:spPr>
          <a:xfrm>
            <a:off x="905256" y="1975104"/>
            <a:ext cx="2944368" cy="457200"/>
          </a:xfrm>
          <a:prstGeom prst="rect">
            <a:avLst/>
          </a:prstGeom>
          <a:noFill/>
          <a:ln/>
        </p:spPr>
        <p:txBody>
          <a:bodyPr wrap="square" lIns="0" tIns="0" rIns="0" bIns="0" rtlCol="0" anchor="ctr"/>
          <a:lstStyle/>
          <a:p>
            <a:pPr indent="0" marL="0">
              <a:lnSpc>
                <a:spcPts val="1400"/>
              </a:lnSpc>
              <a:buNone/>
            </a:pPr>
            <a:r>
              <a:rPr lang="en-US" sz="1050" dirty="0">
                <a:solidFill>
                  <a:srgbClr val="5B7178"/>
                </a:solidFill>
                <a:latin typeface="Calibri" pitchFamily="34" charset="0"/>
                <a:ea typeface="Calibri" pitchFamily="34" charset="-122"/>
                <a:cs typeface="Calibri" pitchFamily="34" charset="-120"/>
              </a:rPr>
              <a:t>Latitude and longitude of the user</a:t>
            </a:r>
            <a:endParaRPr lang="en-US" sz="1050" dirty="0"/>
          </a:p>
        </p:txBody>
      </p:sp>
      <p:sp>
        <p:nvSpPr>
          <p:cNvPr id="13" name="Shape 11"/>
          <p:cNvSpPr/>
          <p:nvPr/>
        </p:nvSpPr>
        <p:spPr>
          <a:xfrm>
            <a:off x="4206240" y="1572768"/>
            <a:ext cx="3383280" cy="685800"/>
          </a:xfrm>
          <a:prstGeom prst="roundRect">
            <a:avLst>
              <a:gd name="adj" fmla="val 9333"/>
            </a:avLst>
          </a:prstGeom>
          <a:solidFill>
            <a:srgbClr val="FFFFFF"/>
          </a:solidFill>
          <a:ln w="12700">
            <a:solidFill>
              <a:srgbClr val="D8E5E5"/>
            </a:solidFill>
            <a:prstDash val="solid"/>
          </a:ln>
          <a:effectLst>
            <a:outerShdw sx="100000" sy="100000" kx="0" ky="0" algn="bl" rotWithShape="0" blurRad="76200" dist="25400" dir="5400000">
              <a:srgbClr val="0B2B33">
                <a:alpha val="6000"/>
              </a:srgbClr>
            </a:outerShdw>
          </a:effectLst>
        </p:spPr>
      </p:sp>
      <p:sp>
        <p:nvSpPr>
          <p:cNvPr id="14" name="Text 12"/>
          <p:cNvSpPr/>
          <p:nvPr/>
        </p:nvSpPr>
        <p:spPr>
          <a:xfrm>
            <a:off x="4334256" y="1700784"/>
            <a:ext cx="3127248" cy="256032"/>
          </a:xfrm>
          <a:prstGeom prst="rect">
            <a:avLst/>
          </a:prstGeom>
          <a:noFill/>
          <a:ln/>
        </p:spPr>
        <p:txBody>
          <a:bodyPr wrap="square" lIns="0" tIns="0" rIns="0" bIns="0" rtlCol="0" anchor="ctr"/>
          <a:lstStyle/>
          <a:p>
            <a:pPr indent="0" marL="0">
              <a:buNone/>
            </a:pPr>
            <a:r>
              <a:rPr lang="en-US" sz="1300" b="1" dirty="0">
                <a:solidFill>
                  <a:srgbClr val="13272E"/>
                </a:solidFill>
                <a:latin typeface="Calibri" pitchFamily="34" charset="0"/>
                <a:ea typeface="Calibri" pitchFamily="34" charset="-122"/>
                <a:cs typeface="Calibri" pitchFamily="34" charset="-120"/>
              </a:rPr>
              <a:t>Open-Meteo</a:t>
            </a:r>
            <a:endParaRPr lang="en-US" sz="1300" dirty="0"/>
          </a:p>
        </p:txBody>
      </p:sp>
      <p:sp>
        <p:nvSpPr>
          <p:cNvPr id="15" name="Text 13"/>
          <p:cNvSpPr/>
          <p:nvPr/>
        </p:nvSpPr>
        <p:spPr>
          <a:xfrm>
            <a:off x="4334256" y="1975104"/>
            <a:ext cx="3127248" cy="457200"/>
          </a:xfrm>
          <a:prstGeom prst="rect">
            <a:avLst/>
          </a:prstGeom>
          <a:noFill/>
          <a:ln/>
        </p:spPr>
        <p:txBody>
          <a:bodyPr wrap="square" lIns="0" tIns="0" rIns="0" bIns="0" rtlCol="0" anchor="ctr"/>
          <a:lstStyle/>
          <a:p>
            <a:pPr indent="0" marL="0">
              <a:lnSpc>
                <a:spcPts val="1400"/>
              </a:lnSpc>
              <a:buNone/>
            </a:pPr>
            <a:r>
              <a:rPr lang="en-US" sz="1050" dirty="0">
                <a:solidFill>
                  <a:srgbClr val="5B7178"/>
                </a:solidFill>
                <a:latin typeface="Calibri" pitchFamily="34" charset="0"/>
                <a:ea typeface="Calibri" pitchFamily="34" charset="-122"/>
                <a:cs typeface="Calibri" pitchFamily="34" charset="-120"/>
              </a:rPr>
              <a:t>Temperature · humidity · wind speed</a:t>
            </a:r>
            <a:endParaRPr lang="en-US" sz="1050" dirty="0"/>
          </a:p>
        </p:txBody>
      </p:sp>
      <p:sp>
        <p:nvSpPr>
          <p:cNvPr id="16" name="Shape 14"/>
          <p:cNvSpPr/>
          <p:nvPr/>
        </p:nvSpPr>
        <p:spPr>
          <a:xfrm>
            <a:off x="7863840" y="1572768"/>
            <a:ext cx="3703320" cy="685800"/>
          </a:xfrm>
          <a:prstGeom prst="roundRect">
            <a:avLst>
              <a:gd name="adj" fmla="val 9333"/>
            </a:avLst>
          </a:prstGeom>
          <a:solidFill>
            <a:srgbClr val="FFFFFF"/>
          </a:solidFill>
          <a:ln w="12700">
            <a:solidFill>
              <a:srgbClr val="D8E5E5"/>
            </a:solidFill>
            <a:prstDash val="solid"/>
          </a:ln>
          <a:effectLst>
            <a:outerShdw sx="100000" sy="100000" kx="0" ky="0" algn="bl" rotWithShape="0" blurRad="76200" dist="25400" dir="5400000">
              <a:srgbClr val="0B2B33">
                <a:alpha val="6000"/>
              </a:srgbClr>
            </a:outerShdw>
          </a:effectLst>
        </p:spPr>
      </p:sp>
      <p:sp>
        <p:nvSpPr>
          <p:cNvPr id="17" name="Text 15"/>
          <p:cNvSpPr/>
          <p:nvPr/>
        </p:nvSpPr>
        <p:spPr>
          <a:xfrm>
            <a:off x="7991856" y="1700784"/>
            <a:ext cx="3447288" cy="256032"/>
          </a:xfrm>
          <a:prstGeom prst="rect">
            <a:avLst/>
          </a:prstGeom>
          <a:noFill/>
          <a:ln/>
        </p:spPr>
        <p:txBody>
          <a:bodyPr wrap="square" lIns="0" tIns="0" rIns="0" bIns="0" rtlCol="0" anchor="ctr"/>
          <a:lstStyle/>
          <a:p>
            <a:pPr indent="0" marL="0">
              <a:buNone/>
            </a:pPr>
            <a:r>
              <a:rPr lang="en-US" sz="1300" b="1" dirty="0">
                <a:solidFill>
                  <a:srgbClr val="13272E"/>
                </a:solidFill>
                <a:latin typeface="Calibri" pitchFamily="34" charset="0"/>
                <a:ea typeface="Calibri" pitchFamily="34" charset="-122"/>
                <a:cs typeface="Calibri" pitchFamily="34" charset="-120"/>
              </a:rPr>
              <a:t>OpenWeather Air Pollution</a:t>
            </a:r>
            <a:endParaRPr lang="en-US" sz="1300" dirty="0"/>
          </a:p>
        </p:txBody>
      </p:sp>
      <p:sp>
        <p:nvSpPr>
          <p:cNvPr id="18" name="Text 16"/>
          <p:cNvSpPr/>
          <p:nvPr/>
        </p:nvSpPr>
        <p:spPr>
          <a:xfrm>
            <a:off x="7991856" y="1975104"/>
            <a:ext cx="3447288" cy="457200"/>
          </a:xfrm>
          <a:prstGeom prst="rect">
            <a:avLst/>
          </a:prstGeom>
          <a:noFill/>
          <a:ln/>
        </p:spPr>
        <p:txBody>
          <a:bodyPr wrap="square" lIns="0" tIns="0" rIns="0" bIns="0" rtlCol="0" anchor="ctr"/>
          <a:lstStyle/>
          <a:p>
            <a:pPr indent="0" marL="0">
              <a:lnSpc>
                <a:spcPts val="1400"/>
              </a:lnSpc>
              <a:buNone/>
            </a:pPr>
            <a:r>
              <a:rPr lang="en-US" sz="1050" dirty="0">
                <a:solidFill>
                  <a:srgbClr val="5B7178"/>
                </a:solidFill>
                <a:latin typeface="Calibri" pitchFamily="34" charset="0"/>
                <a:ea typeface="Calibri" pitchFamily="34" charset="-122"/>
                <a:cs typeface="Calibri" pitchFamily="34" charset="-120"/>
              </a:rPr>
              <a:t>Air quality index for those coordinates</a:t>
            </a:r>
            <a:endParaRPr lang="en-US" sz="1050" dirty="0"/>
          </a:p>
        </p:txBody>
      </p:sp>
      <p:sp>
        <p:nvSpPr>
          <p:cNvPr id="19" name="Shape 17"/>
          <p:cNvSpPr/>
          <p:nvPr/>
        </p:nvSpPr>
        <p:spPr>
          <a:xfrm>
            <a:off x="5989320" y="2423160"/>
            <a:ext cx="237744" cy="310896"/>
          </a:xfrm>
          <a:prstGeom prst="downArrow">
            <a:avLst/>
          </a:prstGeom>
          <a:solidFill>
            <a:srgbClr val="00A896"/>
          </a:solidFill>
          <a:ln w="12700">
            <a:solidFill>
              <a:srgbClr val="00A896"/>
            </a:solidFill>
            <a:prstDash val="solid"/>
          </a:ln>
        </p:spPr>
      </p:sp>
      <p:sp>
        <p:nvSpPr>
          <p:cNvPr id="20" name="Text 18"/>
          <p:cNvSpPr/>
          <p:nvPr/>
        </p:nvSpPr>
        <p:spPr>
          <a:xfrm>
            <a:off x="585216" y="2761488"/>
            <a:ext cx="7315200" cy="219456"/>
          </a:xfrm>
          <a:prstGeom prst="rect">
            <a:avLst/>
          </a:prstGeom>
          <a:noFill/>
          <a:ln/>
        </p:spPr>
        <p:txBody>
          <a:bodyPr wrap="square" lIns="0" tIns="0" rIns="0" bIns="0" rtlCol="0" anchor="ctr"/>
          <a:lstStyle/>
          <a:p>
            <a:pPr indent="0" marL="0">
              <a:buNone/>
            </a:pPr>
            <a:r>
              <a:rPr lang="en-US" sz="1050" b="1" spc="150" kern="0" dirty="0">
                <a:solidFill>
                  <a:srgbClr val="5B7178"/>
                </a:solidFill>
                <a:latin typeface="Calibri" pitchFamily="34" charset="0"/>
                <a:ea typeface="Calibri" pitchFamily="34" charset="-122"/>
                <a:cs typeface="Calibri" pitchFamily="34" charset="-120"/>
              </a:rPr>
              <a:t>ANDROID CLIENT  ·  Kotlin · Jetpack Compose · MVVM</a:t>
            </a:r>
            <a:endParaRPr lang="en-US" sz="1050" dirty="0"/>
          </a:p>
        </p:txBody>
      </p:sp>
      <p:sp>
        <p:nvSpPr>
          <p:cNvPr id="21" name="Shape 19"/>
          <p:cNvSpPr/>
          <p:nvPr/>
        </p:nvSpPr>
        <p:spPr>
          <a:xfrm>
            <a:off x="566928" y="2999232"/>
            <a:ext cx="11064240" cy="1225296"/>
          </a:xfrm>
          <a:prstGeom prst="roundRect">
            <a:avLst>
              <a:gd name="adj" fmla="val 4478"/>
            </a:avLst>
          </a:prstGeom>
          <a:solidFill>
            <a:srgbClr val="F6FAFA"/>
          </a:solidFill>
          <a:ln w="12700">
            <a:solidFill>
              <a:srgbClr val="D8E5E5"/>
            </a:solidFill>
            <a:prstDash val="solid"/>
          </a:ln>
        </p:spPr>
      </p:sp>
      <p:sp>
        <p:nvSpPr>
          <p:cNvPr id="22" name="Shape 20"/>
          <p:cNvSpPr/>
          <p:nvPr/>
        </p:nvSpPr>
        <p:spPr>
          <a:xfrm>
            <a:off x="777240" y="3090672"/>
            <a:ext cx="2514600" cy="1042416"/>
          </a:xfrm>
          <a:prstGeom prst="roundRect">
            <a:avLst>
              <a:gd name="adj" fmla="val 6140"/>
            </a:avLst>
          </a:prstGeom>
          <a:solidFill>
            <a:srgbClr val="FFFFFF"/>
          </a:solidFill>
          <a:ln w="12700">
            <a:solidFill>
              <a:srgbClr val="D8E5E5"/>
            </a:solidFill>
            <a:prstDash val="solid"/>
          </a:ln>
          <a:effectLst>
            <a:outerShdw sx="100000" sy="100000" kx="0" ky="0" algn="bl" rotWithShape="0" blurRad="76200" dist="25400" dir="5400000">
              <a:srgbClr val="0B2B33">
                <a:alpha val="6000"/>
              </a:srgbClr>
            </a:outerShdw>
          </a:effectLst>
        </p:spPr>
      </p:sp>
      <p:sp>
        <p:nvSpPr>
          <p:cNvPr id="23" name="Text 21"/>
          <p:cNvSpPr/>
          <p:nvPr/>
        </p:nvSpPr>
        <p:spPr>
          <a:xfrm>
            <a:off x="905256" y="3218688"/>
            <a:ext cx="2258568" cy="256032"/>
          </a:xfrm>
          <a:prstGeom prst="rect">
            <a:avLst/>
          </a:prstGeom>
          <a:noFill/>
          <a:ln/>
        </p:spPr>
        <p:txBody>
          <a:bodyPr wrap="square" lIns="0" tIns="0" rIns="0" bIns="0" rtlCol="0" anchor="ctr"/>
          <a:lstStyle/>
          <a:p>
            <a:pPr indent="0" marL="0">
              <a:buNone/>
            </a:pPr>
            <a:r>
              <a:rPr lang="en-US" sz="1300" b="1" dirty="0">
                <a:solidFill>
                  <a:srgbClr val="13272E"/>
                </a:solidFill>
                <a:latin typeface="Calibri" pitchFamily="34" charset="0"/>
                <a:ea typeface="Calibri" pitchFamily="34" charset="-122"/>
                <a:cs typeface="Calibri" pitchFamily="34" charset="-120"/>
              </a:rPr>
              <a:t>ViewModels</a:t>
            </a:r>
            <a:endParaRPr lang="en-US" sz="1300" dirty="0"/>
          </a:p>
        </p:txBody>
      </p:sp>
      <p:sp>
        <p:nvSpPr>
          <p:cNvPr id="24" name="Text 22"/>
          <p:cNvSpPr/>
          <p:nvPr/>
        </p:nvSpPr>
        <p:spPr>
          <a:xfrm>
            <a:off x="905256" y="3493008"/>
            <a:ext cx="2258568" cy="457200"/>
          </a:xfrm>
          <a:prstGeom prst="rect">
            <a:avLst/>
          </a:prstGeom>
          <a:noFill/>
          <a:ln/>
        </p:spPr>
        <p:txBody>
          <a:bodyPr wrap="square" lIns="0" tIns="0" rIns="0" bIns="0" rtlCol="0" anchor="ctr"/>
          <a:lstStyle/>
          <a:p>
            <a:pPr indent="0" marL="0">
              <a:lnSpc>
                <a:spcPts val="1400"/>
              </a:lnSpc>
              <a:buNone/>
            </a:pPr>
            <a:r>
              <a:rPr lang="en-US" sz="1050" dirty="0">
                <a:solidFill>
                  <a:srgbClr val="5B7178"/>
                </a:solidFill>
                <a:latin typeface="Calibri" pitchFamily="34" charset="0"/>
                <a:ea typeface="Calibri" pitchFamily="34" charset="-122"/>
                <a:cs typeface="Calibri" pitchFamily="34" charset="-120"/>
              </a:rPr>
              <a:t>Location · Weather · AQI · Health, exposed as StateFlow</a:t>
            </a:r>
            <a:endParaRPr lang="en-US" sz="1050" dirty="0"/>
          </a:p>
        </p:txBody>
      </p:sp>
      <p:sp>
        <p:nvSpPr>
          <p:cNvPr id="25" name="Shape 23"/>
          <p:cNvSpPr/>
          <p:nvPr/>
        </p:nvSpPr>
        <p:spPr>
          <a:xfrm>
            <a:off x="3429000" y="3090672"/>
            <a:ext cx="2514600" cy="1042416"/>
          </a:xfrm>
          <a:prstGeom prst="roundRect">
            <a:avLst>
              <a:gd name="adj" fmla="val 6140"/>
            </a:avLst>
          </a:prstGeom>
          <a:solidFill>
            <a:srgbClr val="FFFFFF"/>
          </a:solidFill>
          <a:ln w="12700">
            <a:solidFill>
              <a:srgbClr val="D8E5E5"/>
            </a:solidFill>
            <a:prstDash val="solid"/>
          </a:ln>
          <a:effectLst>
            <a:outerShdw sx="100000" sy="100000" kx="0" ky="0" algn="bl" rotWithShape="0" blurRad="76200" dist="25400" dir="5400000">
              <a:srgbClr val="0B2B33">
                <a:alpha val="6000"/>
              </a:srgbClr>
            </a:outerShdw>
          </a:effectLst>
        </p:spPr>
      </p:sp>
      <p:sp>
        <p:nvSpPr>
          <p:cNvPr id="26" name="Text 24"/>
          <p:cNvSpPr/>
          <p:nvPr/>
        </p:nvSpPr>
        <p:spPr>
          <a:xfrm>
            <a:off x="3557016" y="3218688"/>
            <a:ext cx="2258568" cy="256032"/>
          </a:xfrm>
          <a:prstGeom prst="rect">
            <a:avLst/>
          </a:prstGeom>
          <a:noFill/>
          <a:ln/>
        </p:spPr>
        <p:txBody>
          <a:bodyPr wrap="square" lIns="0" tIns="0" rIns="0" bIns="0" rtlCol="0" anchor="ctr"/>
          <a:lstStyle/>
          <a:p>
            <a:pPr indent="0" marL="0">
              <a:buNone/>
            </a:pPr>
            <a:r>
              <a:rPr lang="en-US" sz="1300" b="1" dirty="0">
                <a:solidFill>
                  <a:srgbClr val="13272E"/>
                </a:solidFill>
                <a:latin typeface="Calibri" pitchFamily="34" charset="0"/>
                <a:ea typeface="Calibri" pitchFamily="34" charset="-122"/>
                <a:cs typeface="Calibri" pitchFamily="34" charset="-120"/>
              </a:rPr>
              <a:t>Repository</a:t>
            </a:r>
            <a:endParaRPr lang="en-US" sz="1300" dirty="0"/>
          </a:p>
        </p:txBody>
      </p:sp>
      <p:sp>
        <p:nvSpPr>
          <p:cNvPr id="27" name="Text 25"/>
          <p:cNvSpPr/>
          <p:nvPr/>
        </p:nvSpPr>
        <p:spPr>
          <a:xfrm>
            <a:off x="3557016" y="3493008"/>
            <a:ext cx="2258568" cy="457200"/>
          </a:xfrm>
          <a:prstGeom prst="rect">
            <a:avLst/>
          </a:prstGeom>
          <a:noFill/>
          <a:ln/>
        </p:spPr>
        <p:txBody>
          <a:bodyPr wrap="square" lIns="0" tIns="0" rIns="0" bIns="0" rtlCol="0" anchor="ctr"/>
          <a:lstStyle/>
          <a:p>
            <a:pPr indent="0" marL="0">
              <a:lnSpc>
                <a:spcPts val="1400"/>
              </a:lnSpc>
              <a:buNone/>
            </a:pPr>
            <a:r>
              <a:rPr lang="en-US" sz="1050" dirty="0">
                <a:solidFill>
                  <a:srgbClr val="5B7178"/>
                </a:solidFill>
                <a:latin typeface="Calibri" pitchFamily="34" charset="0"/>
                <a:ea typeface="Calibri" pitchFamily="34" charset="-122"/>
                <a:cs typeface="Calibri" pitchFamily="34" charset="-120"/>
              </a:rPr>
              <a:t>Single source of truth for API and device data</a:t>
            </a:r>
            <a:endParaRPr lang="en-US" sz="1050" dirty="0"/>
          </a:p>
        </p:txBody>
      </p:sp>
      <p:sp>
        <p:nvSpPr>
          <p:cNvPr id="28" name="Shape 26"/>
          <p:cNvSpPr/>
          <p:nvPr/>
        </p:nvSpPr>
        <p:spPr>
          <a:xfrm>
            <a:off x="6080760" y="3090672"/>
            <a:ext cx="2514600" cy="1042416"/>
          </a:xfrm>
          <a:prstGeom prst="roundRect">
            <a:avLst>
              <a:gd name="adj" fmla="val 6140"/>
            </a:avLst>
          </a:prstGeom>
          <a:solidFill>
            <a:srgbClr val="FFFFFF"/>
          </a:solidFill>
          <a:ln w="12700">
            <a:solidFill>
              <a:srgbClr val="D8E5E5"/>
            </a:solidFill>
            <a:prstDash val="solid"/>
          </a:ln>
          <a:effectLst>
            <a:outerShdw sx="100000" sy="100000" kx="0" ky="0" algn="bl" rotWithShape="0" blurRad="76200" dist="25400" dir="5400000">
              <a:srgbClr val="0B2B33">
                <a:alpha val="6000"/>
              </a:srgbClr>
            </a:outerShdw>
          </a:effectLst>
        </p:spPr>
      </p:sp>
      <p:sp>
        <p:nvSpPr>
          <p:cNvPr id="29" name="Text 27"/>
          <p:cNvSpPr/>
          <p:nvPr/>
        </p:nvSpPr>
        <p:spPr>
          <a:xfrm>
            <a:off x="6208776" y="3218688"/>
            <a:ext cx="2258568" cy="256032"/>
          </a:xfrm>
          <a:prstGeom prst="rect">
            <a:avLst/>
          </a:prstGeom>
          <a:noFill/>
          <a:ln/>
        </p:spPr>
        <p:txBody>
          <a:bodyPr wrap="square" lIns="0" tIns="0" rIns="0" bIns="0" rtlCol="0" anchor="ctr"/>
          <a:lstStyle/>
          <a:p>
            <a:pPr indent="0" marL="0">
              <a:buNone/>
            </a:pPr>
            <a:r>
              <a:rPr lang="en-US" sz="1300" b="1" dirty="0">
                <a:solidFill>
                  <a:srgbClr val="13272E"/>
                </a:solidFill>
                <a:latin typeface="Calibri" pitchFamily="34" charset="0"/>
                <a:ea typeface="Calibri" pitchFamily="34" charset="-122"/>
                <a:cs typeface="Calibri" pitchFamily="34" charset="-120"/>
              </a:rPr>
              <a:t>Retrofit + Coroutines</a:t>
            </a:r>
            <a:endParaRPr lang="en-US" sz="1300" dirty="0"/>
          </a:p>
        </p:txBody>
      </p:sp>
      <p:sp>
        <p:nvSpPr>
          <p:cNvPr id="30" name="Text 28"/>
          <p:cNvSpPr/>
          <p:nvPr/>
        </p:nvSpPr>
        <p:spPr>
          <a:xfrm>
            <a:off x="6208776" y="3493008"/>
            <a:ext cx="2258568" cy="457200"/>
          </a:xfrm>
          <a:prstGeom prst="rect">
            <a:avLst/>
          </a:prstGeom>
          <a:noFill/>
          <a:ln/>
        </p:spPr>
        <p:txBody>
          <a:bodyPr wrap="square" lIns="0" tIns="0" rIns="0" bIns="0" rtlCol="0" anchor="ctr"/>
          <a:lstStyle/>
          <a:p>
            <a:pPr indent="0" marL="0">
              <a:lnSpc>
                <a:spcPts val="1400"/>
              </a:lnSpc>
              <a:buNone/>
            </a:pPr>
            <a:r>
              <a:rPr lang="en-US" sz="1050" dirty="0">
                <a:solidFill>
                  <a:srgbClr val="5B7178"/>
                </a:solidFill>
                <a:latin typeface="Calibri" pitchFamily="34" charset="0"/>
                <a:ea typeface="Calibri" pitchFamily="34" charset="-122"/>
                <a:cs typeface="Calibri" pitchFamily="34" charset="-120"/>
              </a:rPr>
              <a:t>Builds PredictionRequest, calls off the main thread</a:t>
            </a:r>
            <a:endParaRPr lang="en-US" sz="1050" dirty="0"/>
          </a:p>
        </p:txBody>
      </p:sp>
      <p:sp>
        <p:nvSpPr>
          <p:cNvPr id="31" name="Shape 29"/>
          <p:cNvSpPr/>
          <p:nvPr/>
        </p:nvSpPr>
        <p:spPr>
          <a:xfrm>
            <a:off x="8732520" y="3090672"/>
            <a:ext cx="2834640" cy="1042416"/>
          </a:xfrm>
          <a:prstGeom prst="roundRect">
            <a:avLst>
              <a:gd name="adj" fmla="val 6140"/>
            </a:avLst>
          </a:prstGeom>
          <a:solidFill>
            <a:srgbClr val="FFFFFF"/>
          </a:solidFill>
          <a:ln w="12700">
            <a:solidFill>
              <a:srgbClr val="D8E5E5"/>
            </a:solidFill>
            <a:prstDash val="solid"/>
          </a:ln>
          <a:effectLst>
            <a:outerShdw sx="100000" sy="100000" kx="0" ky="0" algn="bl" rotWithShape="0" blurRad="76200" dist="25400" dir="5400000">
              <a:srgbClr val="0B2B33">
                <a:alpha val="6000"/>
              </a:srgbClr>
            </a:outerShdw>
          </a:effectLst>
        </p:spPr>
      </p:sp>
      <p:sp>
        <p:nvSpPr>
          <p:cNvPr id="32" name="Text 30"/>
          <p:cNvSpPr/>
          <p:nvPr/>
        </p:nvSpPr>
        <p:spPr>
          <a:xfrm>
            <a:off x="8860536" y="3218688"/>
            <a:ext cx="2578608" cy="256032"/>
          </a:xfrm>
          <a:prstGeom prst="rect">
            <a:avLst/>
          </a:prstGeom>
          <a:noFill/>
          <a:ln/>
        </p:spPr>
        <p:txBody>
          <a:bodyPr wrap="square" lIns="0" tIns="0" rIns="0" bIns="0" rtlCol="0" anchor="ctr"/>
          <a:lstStyle/>
          <a:p>
            <a:pPr indent="0" marL="0">
              <a:buNone/>
            </a:pPr>
            <a:r>
              <a:rPr lang="en-US" sz="1300" b="1" dirty="0">
                <a:solidFill>
                  <a:srgbClr val="13272E"/>
                </a:solidFill>
                <a:latin typeface="Calibri" pitchFamily="34" charset="0"/>
                <a:ea typeface="Calibri" pitchFamily="34" charset="-122"/>
                <a:cs typeface="Calibri" pitchFamily="34" charset="-120"/>
              </a:rPr>
              <a:t>Compose UI</a:t>
            </a:r>
            <a:endParaRPr lang="en-US" sz="1300" dirty="0"/>
          </a:p>
        </p:txBody>
      </p:sp>
      <p:sp>
        <p:nvSpPr>
          <p:cNvPr id="33" name="Text 31"/>
          <p:cNvSpPr/>
          <p:nvPr/>
        </p:nvSpPr>
        <p:spPr>
          <a:xfrm>
            <a:off x="8860536" y="3493008"/>
            <a:ext cx="2578608" cy="457200"/>
          </a:xfrm>
          <a:prstGeom prst="rect">
            <a:avLst/>
          </a:prstGeom>
          <a:noFill/>
          <a:ln/>
        </p:spPr>
        <p:txBody>
          <a:bodyPr wrap="square" lIns="0" tIns="0" rIns="0" bIns="0" rtlCol="0" anchor="ctr"/>
          <a:lstStyle/>
          <a:p>
            <a:pPr indent="0" marL="0">
              <a:lnSpc>
                <a:spcPts val="1400"/>
              </a:lnSpc>
              <a:buNone/>
            </a:pPr>
            <a:r>
              <a:rPr lang="en-US" sz="1050" dirty="0">
                <a:solidFill>
                  <a:srgbClr val="5B7178"/>
                </a:solidFill>
                <a:latin typeface="Calibri" pitchFamily="34" charset="0"/>
                <a:ea typeface="Calibri" pitchFamily="34" charset="-122"/>
                <a:cs typeface="Calibri" pitchFamily="34" charset="-120"/>
              </a:rPr>
              <a:t>PredictionCard · AQICard · WeatherCard recompose on new state</a:t>
            </a:r>
            <a:endParaRPr lang="en-US" sz="1050" dirty="0"/>
          </a:p>
        </p:txBody>
      </p:sp>
      <p:sp>
        <p:nvSpPr>
          <p:cNvPr id="34" name="Shape 32"/>
          <p:cNvSpPr/>
          <p:nvPr/>
        </p:nvSpPr>
        <p:spPr>
          <a:xfrm>
            <a:off x="1965960" y="4297680"/>
            <a:ext cx="237744" cy="402336"/>
          </a:xfrm>
          <a:prstGeom prst="downArrow">
            <a:avLst/>
          </a:prstGeom>
          <a:solidFill>
            <a:srgbClr val="028090"/>
          </a:solidFill>
          <a:ln w="12700">
            <a:solidFill>
              <a:srgbClr val="028090"/>
            </a:solidFill>
            <a:prstDash val="solid"/>
          </a:ln>
        </p:spPr>
      </p:sp>
      <p:sp>
        <p:nvSpPr>
          <p:cNvPr id="35" name="Text 33"/>
          <p:cNvSpPr/>
          <p:nvPr/>
        </p:nvSpPr>
        <p:spPr>
          <a:xfrm>
            <a:off x="2286000" y="4315968"/>
            <a:ext cx="2194560" cy="219456"/>
          </a:xfrm>
          <a:prstGeom prst="rect">
            <a:avLst/>
          </a:prstGeom>
          <a:noFill/>
          <a:ln/>
        </p:spPr>
        <p:txBody>
          <a:bodyPr wrap="square" lIns="0" tIns="0" rIns="0" bIns="0" rtlCol="0" anchor="ctr"/>
          <a:lstStyle/>
          <a:p>
            <a:pPr indent="0" marL="0">
              <a:buNone/>
            </a:pPr>
            <a:r>
              <a:rPr lang="en-US" sz="1050" b="1" dirty="0">
                <a:solidFill>
                  <a:srgbClr val="028090"/>
                </a:solidFill>
                <a:latin typeface="Calibri" pitchFamily="34" charset="0"/>
                <a:ea typeface="Calibri" pitchFamily="34" charset="-122"/>
                <a:cs typeface="Calibri" pitchFamily="34" charset="-120"/>
              </a:rPr>
              <a:t>POST /predict</a:t>
            </a:r>
            <a:endParaRPr lang="en-US" sz="1050" dirty="0"/>
          </a:p>
        </p:txBody>
      </p:sp>
      <p:sp>
        <p:nvSpPr>
          <p:cNvPr id="36" name="Text 34"/>
          <p:cNvSpPr/>
          <p:nvPr/>
        </p:nvSpPr>
        <p:spPr>
          <a:xfrm>
            <a:off x="2286000" y="4517136"/>
            <a:ext cx="2377440" cy="201168"/>
          </a:xfrm>
          <a:prstGeom prst="rect">
            <a:avLst/>
          </a:prstGeom>
          <a:noFill/>
          <a:ln/>
        </p:spPr>
        <p:txBody>
          <a:bodyPr wrap="square" lIns="0" tIns="0" rIns="0" bIns="0" rtlCol="0" anchor="ctr"/>
          <a:lstStyle/>
          <a:p>
            <a:pPr indent="0" marL="0">
              <a:buNone/>
            </a:pPr>
            <a:r>
              <a:rPr lang="en-US" sz="950" dirty="0">
                <a:solidFill>
                  <a:srgbClr val="5B7178"/>
                </a:solidFill>
                <a:latin typeface="Calibri" pitchFamily="34" charset="0"/>
                <a:ea typeface="Calibri" pitchFamily="34" charset="-122"/>
                <a:cs typeface="Calibri" pitchFamily="34" charset="-120"/>
              </a:rPr>
              <a:t>aqi · temp · humidity · wind</a:t>
            </a:r>
            <a:endParaRPr lang="en-US" sz="950" dirty="0"/>
          </a:p>
        </p:txBody>
      </p:sp>
      <p:sp>
        <p:nvSpPr>
          <p:cNvPr id="37" name="Shape 35"/>
          <p:cNvSpPr/>
          <p:nvPr/>
        </p:nvSpPr>
        <p:spPr>
          <a:xfrm>
            <a:off x="9646920" y="4297680"/>
            <a:ext cx="237744" cy="402336"/>
          </a:xfrm>
          <a:prstGeom prst="upArrow">
            <a:avLst/>
          </a:prstGeom>
          <a:solidFill>
            <a:srgbClr val="02C39A"/>
          </a:solidFill>
          <a:ln w="12700">
            <a:solidFill>
              <a:srgbClr val="02C39A"/>
            </a:solidFill>
            <a:prstDash val="solid"/>
          </a:ln>
        </p:spPr>
      </p:sp>
      <p:sp>
        <p:nvSpPr>
          <p:cNvPr id="38" name="Text 36"/>
          <p:cNvSpPr/>
          <p:nvPr/>
        </p:nvSpPr>
        <p:spPr>
          <a:xfrm>
            <a:off x="9966960" y="4315968"/>
            <a:ext cx="1691640" cy="219456"/>
          </a:xfrm>
          <a:prstGeom prst="rect">
            <a:avLst/>
          </a:prstGeom>
          <a:noFill/>
          <a:ln/>
        </p:spPr>
        <p:txBody>
          <a:bodyPr wrap="square" lIns="0" tIns="0" rIns="0" bIns="0" rtlCol="0" anchor="ctr"/>
          <a:lstStyle/>
          <a:p>
            <a:pPr indent="0" marL="0">
              <a:buNone/>
            </a:pPr>
            <a:r>
              <a:rPr lang="en-US" sz="1050" b="1" dirty="0">
                <a:solidFill>
                  <a:srgbClr val="028090"/>
                </a:solidFill>
                <a:latin typeface="Calibri" pitchFamily="34" charset="0"/>
                <a:ea typeface="Calibri" pitchFamily="34" charset="-122"/>
                <a:cs typeface="Calibri" pitchFamily="34" charset="-120"/>
              </a:rPr>
              <a:t>JSON response</a:t>
            </a:r>
            <a:endParaRPr lang="en-US" sz="1050" dirty="0"/>
          </a:p>
        </p:txBody>
      </p:sp>
      <p:sp>
        <p:nvSpPr>
          <p:cNvPr id="39" name="Text 37"/>
          <p:cNvSpPr/>
          <p:nvPr/>
        </p:nvSpPr>
        <p:spPr>
          <a:xfrm>
            <a:off x="9966960" y="4517136"/>
            <a:ext cx="1691640" cy="201168"/>
          </a:xfrm>
          <a:prstGeom prst="rect">
            <a:avLst/>
          </a:prstGeom>
          <a:noFill/>
          <a:ln/>
        </p:spPr>
        <p:txBody>
          <a:bodyPr wrap="square" lIns="0" tIns="0" rIns="0" bIns="0" rtlCol="0" anchor="ctr"/>
          <a:lstStyle/>
          <a:p>
            <a:pPr indent="0" marL="0">
              <a:buNone/>
            </a:pPr>
            <a:r>
              <a:rPr lang="en-US" sz="950" dirty="0">
                <a:solidFill>
                  <a:srgbClr val="5B7178"/>
                </a:solidFill>
                <a:latin typeface="Calibri" pitchFamily="34" charset="0"/>
                <a:ea typeface="Calibri" pitchFamily="34" charset="-122"/>
                <a:cs typeface="Calibri" pitchFamily="34" charset="-120"/>
              </a:rPr>
              <a:t>cases + risk %</a:t>
            </a:r>
            <a:endParaRPr lang="en-US" sz="950" dirty="0"/>
          </a:p>
        </p:txBody>
      </p:sp>
      <p:sp>
        <p:nvSpPr>
          <p:cNvPr id="40" name="Text 38"/>
          <p:cNvSpPr/>
          <p:nvPr/>
        </p:nvSpPr>
        <p:spPr>
          <a:xfrm>
            <a:off x="585216" y="4791456"/>
            <a:ext cx="7315200" cy="219456"/>
          </a:xfrm>
          <a:prstGeom prst="rect">
            <a:avLst/>
          </a:prstGeom>
          <a:noFill/>
          <a:ln/>
        </p:spPr>
        <p:txBody>
          <a:bodyPr wrap="square" lIns="0" tIns="0" rIns="0" bIns="0" rtlCol="0" anchor="ctr"/>
          <a:lstStyle/>
          <a:p>
            <a:pPr indent="0" marL="0">
              <a:buNone/>
            </a:pPr>
            <a:r>
              <a:rPr lang="en-US" sz="1050" b="1" spc="150" kern="0" dirty="0">
                <a:solidFill>
                  <a:srgbClr val="5B7178"/>
                </a:solidFill>
                <a:latin typeface="Calibri" pitchFamily="34" charset="0"/>
                <a:ea typeface="Calibri" pitchFamily="34" charset="-122"/>
                <a:cs typeface="Calibri" pitchFamily="34" charset="-120"/>
              </a:rPr>
              <a:t>FASTAPI BACKEND  ·  Python · TensorFlow</a:t>
            </a:r>
            <a:endParaRPr lang="en-US" sz="1050" dirty="0"/>
          </a:p>
        </p:txBody>
      </p:sp>
      <p:sp>
        <p:nvSpPr>
          <p:cNvPr id="41" name="Shape 39"/>
          <p:cNvSpPr/>
          <p:nvPr/>
        </p:nvSpPr>
        <p:spPr>
          <a:xfrm>
            <a:off x="566928" y="5029200"/>
            <a:ext cx="11064240" cy="1152144"/>
          </a:xfrm>
          <a:prstGeom prst="roundRect">
            <a:avLst>
              <a:gd name="adj" fmla="val 4762"/>
            </a:avLst>
          </a:prstGeom>
          <a:solidFill>
            <a:srgbClr val="0B2B33"/>
          </a:solidFill>
          <a:ln w="12700">
            <a:solidFill>
              <a:srgbClr val="0B2B33"/>
            </a:solidFill>
            <a:prstDash val="solid"/>
          </a:ln>
        </p:spPr>
      </p:sp>
      <p:sp>
        <p:nvSpPr>
          <p:cNvPr id="42" name="Shape 40"/>
          <p:cNvSpPr/>
          <p:nvPr/>
        </p:nvSpPr>
        <p:spPr>
          <a:xfrm>
            <a:off x="777240" y="5120640"/>
            <a:ext cx="2514600" cy="969264"/>
          </a:xfrm>
          <a:prstGeom prst="roundRect">
            <a:avLst>
              <a:gd name="adj" fmla="val 6604"/>
            </a:avLst>
          </a:prstGeom>
          <a:solidFill>
            <a:srgbClr val="13363F"/>
          </a:solidFill>
          <a:ln w="12700">
            <a:solidFill>
              <a:srgbClr val="2A5C68"/>
            </a:solidFill>
            <a:prstDash val="solid"/>
          </a:ln>
          <a:effectLst>
            <a:outerShdw sx="100000" sy="100000" kx="0" ky="0" algn="bl" rotWithShape="0" blurRad="76200" dist="25400" dir="5400000">
              <a:srgbClr val="0B2B33">
                <a:alpha val="6000"/>
              </a:srgbClr>
            </a:outerShdw>
          </a:effectLst>
        </p:spPr>
      </p:sp>
      <p:sp>
        <p:nvSpPr>
          <p:cNvPr id="43" name="Text 41"/>
          <p:cNvSpPr/>
          <p:nvPr/>
        </p:nvSpPr>
        <p:spPr>
          <a:xfrm>
            <a:off x="905256" y="5248656"/>
            <a:ext cx="2258568"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/predict</a:t>
            </a:r>
            <a:endParaRPr lang="en-US" sz="1300" dirty="0"/>
          </a:p>
        </p:txBody>
      </p:sp>
      <p:sp>
        <p:nvSpPr>
          <p:cNvPr id="44" name="Text 42"/>
          <p:cNvSpPr/>
          <p:nvPr/>
        </p:nvSpPr>
        <p:spPr>
          <a:xfrm>
            <a:off x="905256" y="5522976"/>
            <a:ext cx="2258568" cy="457200"/>
          </a:xfrm>
          <a:prstGeom prst="rect">
            <a:avLst/>
          </a:prstGeom>
          <a:noFill/>
          <a:ln/>
        </p:spPr>
        <p:txBody>
          <a:bodyPr wrap="square" lIns="0" tIns="0" rIns="0" bIns="0" rtlCol="0" anchor="ctr"/>
          <a:lstStyle/>
          <a:p>
            <a:pPr indent="0" marL="0">
              <a:lnSpc>
                <a:spcPts val="1400"/>
              </a:lnSpc>
              <a:buNone/>
            </a:pPr>
            <a:r>
              <a:rPr lang="en-US" sz="1050" dirty="0">
                <a:solidFill>
                  <a:srgbClr val="9CBAC0"/>
                </a:solidFill>
                <a:latin typeface="Calibri" pitchFamily="34" charset="0"/>
                <a:ea typeface="Calibri" pitchFamily="34" charset="-122"/>
                <a:cs typeface="Calibri" pitchFamily="34" charset="-120"/>
              </a:rPr>
              <a:t>FastAPI endpoint, model loaded at startup</a:t>
            </a:r>
            <a:endParaRPr lang="en-US" sz="1050" dirty="0"/>
          </a:p>
        </p:txBody>
      </p:sp>
      <p:sp>
        <p:nvSpPr>
          <p:cNvPr id="45" name="Shape 43"/>
          <p:cNvSpPr/>
          <p:nvPr/>
        </p:nvSpPr>
        <p:spPr>
          <a:xfrm>
            <a:off x="3429000" y="5120640"/>
            <a:ext cx="2514600" cy="969264"/>
          </a:xfrm>
          <a:prstGeom prst="roundRect">
            <a:avLst>
              <a:gd name="adj" fmla="val 6604"/>
            </a:avLst>
          </a:prstGeom>
          <a:solidFill>
            <a:srgbClr val="13363F"/>
          </a:solidFill>
          <a:ln w="12700">
            <a:solidFill>
              <a:srgbClr val="2A5C68"/>
            </a:solidFill>
            <a:prstDash val="solid"/>
          </a:ln>
          <a:effectLst>
            <a:outerShdw sx="100000" sy="100000" kx="0" ky="0" algn="bl" rotWithShape="0" blurRad="76200" dist="25400" dir="5400000">
              <a:srgbClr val="0B2B33">
                <a:alpha val="6000"/>
              </a:srgbClr>
            </a:outerShdw>
          </a:effectLst>
        </p:spPr>
      </p:sp>
      <p:sp>
        <p:nvSpPr>
          <p:cNvPr id="46" name="Text 44"/>
          <p:cNvSpPr/>
          <p:nvPr/>
        </p:nvSpPr>
        <p:spPr>
          <a:xfrm>
            <a:off x="3557016" y="5248656"/>
            <a:ext cx="2258568"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StandardScaler</a:t>
            </a:r>
            <a:endParaRPr lang="en-US" sz="1300" dirty="0"/>
          </a:p>
        </p:txBody>
      </p:sp>
      <p:sp>
        <p:nvSpPr>
          <p:cNvPr id="47" name="Text 45"/>
          <p:cNvSpPr/>
          <p:nvPr/>
        </p:nvSpPr>
        <p:spPr>
          <a:xfrm>
            <a:off x="3557016" y="5522976"/>
            <a:ext cx="2258568" cy="457200"/>
          </a:xfrm>
          <a:prstGeom prst="rect">
            <a:avLst/>
          </a:prstGeom>
          <a:noFill/>
          <a:ln/>
        </p:spPr>
        <p:txBody>
          <a:bodyPr wrap="square" lIns="0" tIns="0" rIns="0" bIns="0" rtlCol="0" anchor="ctr"/>
          <a:lstStyle/>
          <a:p>
            <a:pPr indent="0" marL="0">
              <a:lnSpc>
                <a:spcPts val="1400"/>
              </a:lnSpc>
              <a:buNone/>
            </a:pPr>
            <a:r>
              <a:rPr lang="en-US" sz="1050" dirty="0">
                <a:solidFill>
                  <a:srgbClr val="9CBAC0"/>
                </a:solidFill>
                <a:latin typeface="Calibri" pitchFamily="34" charset="0"/>
                <a:ea typeface="Calibri" pitchFamily="34" charset="-122"/>
                <a:cs typeface="Calibri" pitchFamily="34" charset="-120"/>
              </a:rPr>
              <a:t>scaler.pkl — fitted at training time</a:t>
            </a:r>
            <a:endParaRPr lang="en-US" sz="1050" dirty="0"/>
          </a:p>
        </p:txBody>
      </p:sp>
      <p:sp>
        <p:nvSpPr>
          <p:cNvPr id="48" name="Shape 46"/>
          <p:cNvSpPr/>
          <p:nvPr/>
        </p:nvSpPr>
        <p:spPr>
          <a:xfrm>
            <a:off x="6080760" y="5120640"/>
            <a:ext cx="2514600" cy="969264"/>
          </a:xfrm>
          <a:prstGeom prst="roundRect">
            <a:avLst>
              <a:gd name="adj" fmla="val 6604"/>
            </a:avLst>
          </a:prstGeom>
          <a:solidFill>
            <a:srgbClr val="13363F"/>
          </a:solidFill>
          <a:ln w="12700">
            <a:solidFill>
              <a:srgbClr val="2A5C68"/>
            </a:solidFill>
            <a:prstDash val="solid"/>
          </a:ln>
          <a:effectLst>
            <a:outerShdw sx="100000" sy="100000" kx="0" ky="0" algn="bl" rotWithShape="0" blurRad="76200" dist="25400" dir="5400000">
              <a:srgbClr val="0B2B33">
                <a:alpha val="6000"/>
              </a:srgbClr>
            </a:outerShdw>
          </a:effectLst>
        </p:spPr>
      </p:sp>
      <p:sp>
        <p:nvSpPr>
          <p:cNvPr id="49" name="Text 47"/>
          <p:cNvSpPr/>
          <p:nvPr/>
        </p:nvSpPr>
        <p:spPr>
          <a:xfrm>
            <a:off x="6208776" y="5248656"/>
            <a:ext cx="2258568"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Keras Dense Net</a:t>
            </a:r>
            <a:endParaRPr lang="en-US" sz="1300" dirty="0"/>
          </a:p>
        </p:txBody>
      </p:sp>
      <p:sp>
        <p:nvSpPr>
          <p:cNvPr id="50" name="Text 48"/>
          <p:cNvSpPr/>
          <p:nvPr/>
        </p:nvSpPr>
        <p:spPr>
          <a:xfrm>
            <a:off x="6208776" y="5522976"/>
            <a:ext cx="2258568" cy="457200"/>
          </a:xfrm>
          <a:prstGeom prst="rect">
            <a:avLst/>
          </a:prstGeom>
          <a:noFill/>
          <a:ln/>
        </p:spPr>
        <p:txBody>
          <a:bodyPr wrap="square" lIns="0" tIns="0" rIns="0" bIns="0" rtlCol="0" anchor="ctr"/>
          <a:lstStyle/>
          <a:p>
            <a:pPr indent="0" marL="0">
              <a:lnSpc>
                <a:spcPts val="1400"/>
              </a:lnSpc>
              <a:buNone/>
            </a:pPr>
            <a:r>
              <a:rPr lang="en-US" sz="1050" dirty="0">
                <a:solidFill>
                  <a:srgbClr val="9CBAC0"/>
                </a:solidFill>
                <a:latin typeface="Calibri" pitchFamily="34" charset="0"/>
                <a:ea typeface="Calibri" pitchFamily="34" charset="-122"/>
                <a:cs typeface="Calibri" pitchFamily="34" charset="-120"/>
              </a:rPr>
              <a:t>health_model.keras — multi-output regression</a:t>
            </a:r>
            <a:endParaRPr lang="en-US" sz="1050" dirty="0"/>
          </a:p>
        </p:txBody>
      </p:sp>
      <p:sp>
        <p:nvSpPr>
          <p:cNvPr id="51" name="Shape 49"/>
          <p:cNvSpPr/>
          <p:nvPr/>
        </p:nvSpPr>
        <p:spPr>
          <a:xfrm>
            <a:off x="8732520" y="5120640"/>
            <a:ext cx="2834640" cy="969264"/>
          </a:xfrm>
          <a:prstGeom prst="roundRect">
            <a:avLst>
              <a:gd name="adj" fmla="val 6604"/>
            </a:avLst>
          </a:prstGeom>
          <a:solidFill>
            <a:srgbClr val="13363F"/>
          </a:solidFill>
          <a:ln w="12700">
            <a:solidFill>
              <a:srgbClr val="2A5C68"/>
            </a:solidFill>
            <a:prstDash val="solid"/>
          </a:ln>
          <a:effectLst>
            <a:outerShdw sx="100000" sy="100000" kx="0" ky="0" algn="bl" rotWithShape="0" blurRad="76200" dist="25400" dir="5400000">
              <a:srgbClr val="0B2B33">
                <a:alpha val="6000"/>
              </a:srgbClr>
            </a:outerShdw>
          </a:effectLst>
        </p:spPr>
      </p:sp>
      <p:sp>
        <p:nvSpPr>
          <p:cNvPr id="52" name="Text 50"/>
          <p:cNvSpPr/>
          <p:nvPr/>
        </p:nvSpPr>
        <p:spPr>
          <a:xfrm>
            <a:off x="8860536" y="5248656"/>
            <a:ext cx="2578608"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Cases → Risk %</a:t>
            </a:r>
            <a:endParaRPr lang="en-US" sz="1300" dirty="0"/>
          </a:p>
        </p:txBody>
      </p:sp>
      <p:sp>
        <p:nvSpPr>
          <p:cNvPr id="53" name="Text 51"/>
          <p:cNvSpPr/>
          <p:nvPr/>
        </p:nvSpPr>
        <p:spPr>
          <a:xfrm>
            <a:off x="8860536" y="5522976"/>
            <a:ext cx="2578608" cy="457200"/>
          </a:xfrm>
          <a:prstGeom prst="rect">
            <a:avLst/>
          </a:prstGeom>
          <a:noFill/>
          <a:ln/>
        </p:spPr>
        <p:txBody>
          <a:bodyPr wrap="square" lIns="0" tIns="0" rIns="0" bIns="0" rtlCol="0" anchor="ctr"/>
          <a:lstStyle/>
          <a:p>
            <a:pPr indent="0" marL="0">
              <a:lnSpc>
                <a:spcPts val="1400"/>
              </a:lnSpc>
              <a:buNone/>
            </a:pPr>
            <a:r>
              <a:rPr lang="en-US" sz="1050" dirty="0">
                <a:solidFill>
                  <a:srgbClr val="9CBAC0"/>
                </a:solidFill>
                <a:latin typeface="Calibri" pitchFamily="34" charset="0"/>
                <a:ea typeface="Calibri" pitchFamily="34" charset="-122"/>
                <a:cs typeface="Calibri" pitchFamily="34" charset="-120"/>
              </a:rPr>
              <a:t>Normalised into interpretable percentages</a:t>
            </a:r>
            <a:endParaRPr lang="en-US" sz="1050" dirty="0"/>
          </a:p>
        </p:txBody>
      </p:sp>
      <p:sp>
        <p:nvSpPr>
          <p:cNvPr id="54" name="Text 52"/>
          <p:cNvSpPr/>
          <p:nvPr/>
        </p:nvSpPr>
        <p:spPr>
          <a:xfrm>
            <a:off x="11292840" y="6309360"/>
            <a:ext cx="457200" cy="274320"/>
          </a:xfrm>
          <a:prstGeom prst="rect">
            <a:avLst/>
          </a:prstGeom>
          <a:noFill/>
          <a:ln/>
        </p:spPr>
        <p:txBody>
          <a:bodyPr wrap="square" lIns="0" tIns="0" rIns="0" bIns="0" rtlCol="0" anchor="ctr"/>
          <a:lstStyle/>
          <a:p>
            <a:pPr algn="r" indent="0" marL="0">
              <a:buNone/>
            </a:pPr>
            <a:r>
              <a:rPr lang="en-US" sz="1000" dirty="0">
                <a:solidFill>
                  <a:srgbClr val="5B7178"/>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29184"/>
            <a:ext cx="8412480" cy="566928"/>
          </a:xfrm>
          <a:prstGeom prst="rect">
            <a:avLst/>
          </a:prstGeom>
          <a:noFill/>
          <a:ln/>
        </p:spPr>
        <p:txBody>
          <a:bodyPr wrap="square" lIns="0" tIns="0" rIns="0" bIns="0" rtlCol="0" anchor="ctr"/>
          <a:lstStyle/>
          <a:p>
            <a:pPr algn="l" indent="0" marL="0">
              <a:buNone/>
            </a:pPr>
            <a:r>
              <a:rPr lang="en-US" sz="3400" b="1" dirty="0">
                <a:solidFill>
                  <a:srgbClr val="13272E"/>
                </a:solidFill>
                <a:latin typeface="Cambria" pitchFamily="34" charset="0"/>
                <a:ea typeface="Cambria" pitchFamily="34" charset="-122"/>
                <a:cs typeface="Cambria" pitchFamily="34" charset="-120"/>
              </a:rPr>
              <a:t>Algorithm</a:t>
            </a:r>
            <a:endParaRPr lang="en-US" sz="3400" dirty="0"/>
          </a:p>
        </p:txBody>
      </p:sp>
      <p:sp>
        <p:nvSpPr>
          <p:cNvPr id="3" name="Text 1"/>
          <p:cNvSpPr/>
          <p:nvPr/>
        </p:nvSpPr>
        <p:spPr>
          <a:xfrm>
            <a:off x="585216" y="914400"/>
            <a:ext cx="10058400" cy="274320"/>
          </a:xfrm>
          <a:prstGeom prst="rect">
            <a:avLst/>
          </a:prstGeom>
          <a:noFill/>
          <a:ln/>
        </p:spPr>
        <p:txBody>
          <a:bodyPr wrap="square" lIns="0" tIns="0" rIns="0" bIns="0" rtlCol="0" anchor="ctr"/>
          <a:lstStyle/>
          <a:p>
            <a:pPr indent="0" marL="0">
              <a:buNone/>
            </a:pPr>
            <a:r>
              <a:rPr lang="en-US" sz="1300" i="1" dirty="0">
                <a:solidFill>
                  <a:srgbClr val="028090"/>
                </a:solidFill>
                <a:latin typeface="Calibri" pitchFamily="34" charset="0"/>
                <a:ea typeface="Calibri" pitchFamily="34" charset="-122"/>
                <a:cs typeface="Calibri" pitchFamily="34" charset="-120"/>
              </a:rPr>
              <a:t>Four stages from a raw reading to a risk percentage</a:t>
            </a:r>
            <a:endParaRPr lang="en-US" sz="1300" dirty="0"/>
          </a:p>
        </p:txBody>
      </p:sp>
      <p:sp>
        <p:nvSpPr>
          <p:cNvPr id="4" name="Shape 2"/>
          <p:cNvSpPr/>
          <p:nvPr/>
        </p:nvSpPr>
        <p:spPr>
          <a:xfrm>
            <a:off x="585216" y="118872"/>
            <a:ext cx="100584" cy="100584"/>
          </a:xfrm>
          <a:prstGeom prst="ellipse">
            <a:avLst/>
          </a:prstGeom>
          <a:solidFill>
            <a:srgbClr val="3FA34D"/>
          </a:solidFill>
          <a:ln w="12700">
            <a:solidFill>
              <a:srgbClr val="3FA34D"/>
            </a:solidFill>
            <a:prstDash val="solid"/>
          </a:ln>
        </p:spPr>
      </p:sp>
      <p:sp>
        <p:nvSpPr>
          <p:cNvPr id="5" name="Shape 3"/>
          <p:cNvSpPr/>
          <p:nvPr/>
        </p:nvSpPr>
        <p:spPr>
          <a:xfrm>
            <a:off x="749808" y="118872"/>
            <a:ext cx="100584" cy="100584"/>
          </a:xfrm>
          <a:prstGeom prst="ellipse">
            <a:avLst/>
          </a:prstGeom>
          <a:solidFill>
            <a:srgbClr val="E9B949"/>
          </a:solidFill>
          <a:ln w="12700">
            <a:solidFill>
              <a:srgbClr val="E9B949"/>
            </a:solidFill>
            <a:prstDash val="solid"/>
          </a:ln>
        </p:spPr>
      </p:sp>
      <p:sp>
        <p:nvSpPr>
          <p:cNvPr id="6" name="Shape 4"/>
          <p:cNvSpPr/>
          <p:nvPr/>
        </p:nvSpPr>
        <p:spPr>
          <a:xfrm>
            <a:off x="914400" y="118872"/>
            <a:ext cx="100584" cy="100584"/>
          </a:xfrm>
          <a:prstGeom prst="ellipse">
            <a:avLst/>
          </a:prstGeom>
          <a:solidFill>
            <a:srgbClr val="E07B39"/>
          </a:solidFill>
          <a:ln w="12700">
            <a:solidFill>
              <a:srgbClr val="E07B39"/>
            </a:solidFill>
            <a:prstDash val="solid"/>
          </a:ln>
        </p:spPr>
      </p:sp>
      <p:sp>
        <p:nvSpPr>
          <p:cNvPr id="7" name="Shape 5"/>
          <p:cNvSpPr/>
          <p:nvPr/>
        </p:nvSpPr>
        <p:spPr>
          <a:xfrm>
            <a:off x="1078992" y="118872"/>
            <a:ext cx="100584" cy="100584"/>
          </a:xfrm>
          <a:prstGeom prst="ellipse">
            <a:avLst/>
          </a:prstGeom>
          <a:solidFill>
            <a:srgbClr val="C2453D"/>
          </a:solidFill>
          <a:ln w="12700">
            <a:solidFill>
              <a:srgbClr val="C2453D"/>
            </a:solidFill>
            <a:prstDash val="solid"/>
          </a:ln>
        </p:spPr>
      </p:sp>
      <p:sp>
        <p:nvSpPr>
          <p:cNvPr id="8" name="Shape 6"/>
          <p:cNvSpPr/>
          <p:nvPr/>
        </p:nvSpPr>
        <p:spPr>
          <a:xfrm>
            <a:off x="566928" y="1389888"/>
            <a:ext cx="5943600" cy="1115568"/>
          </a:xfrm>
          <a:prstGeom prst="roundRect">
            <a:avLst>
              <a:gd name="adj" fmla="val 6557"/>
            </a:avLst>
          </a:prstGeom>
          <a:solidFill>
            <a:srgbClr val="F0F6F6"/>
          </a:solidFill>
          <a:ln w="12700">
            <a:solidFill>
              <a:srgbClr val="D8E5E5"/>
            </a:solidFill>
            <a:prstDash val="solid"/>
          </a:ln>
          <a:effectLst>
            <a:outerShdw sx="100000" sy="100000" kx="0" ky="0" algn="bl" rotWithShape="0" blurRad="101600" dist="25400" dir="5400000">
              <a:srgbClr val="0B2B33">
                <a:alpha val="7000"/>
              </a:srgbClr>
            </a:outerShdw>
          </a:effectLst>
        </p:spPr>
      </p:sp>
      <p:sp>
        <p:nvSpPr>
          <p:cNvPr id="9" name="Shape 7"/>
          <p:cNvSpPr/>
          <p:nvPr/>
        </p:nvSpPr>
        <p:spPr>
          <a:xfrm>
            <a:off x="804672" y="1719072"/>
            <a:ext cx="420624" cy="420624"/>
          </a:xfrm>
          <a:prstGeom prst="ellipse">
            <a:avLst/>
          </a:prstGeom>
          <a:solidFill>
            <a:srgbClr val="3FA34D"/>
          </a:solidFill>
          <a:ln w="12700">
            <a:solidFill>
              <a:srgbClr val="3FA34D"/>
            </a:solidFill>
            <a:prstDash val="solid"/>
          </a:ln>
        </p:spPr>
      </p:sp>
      <p:sp>
        <p:nvSpPr>
          <p:cNvPr id="10" name="Text 8"/>
          <p:cNvSpPr/>
          <p:nvPr/>
        </p:nvSpPr>
        <p:spPr>
          <a:xfrm>
            <a:off x="804672" y="171907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1" name="Text 9"/>
          <p:cNvSpPr/>
          <p:nvPr/>
        </p:nvSpPr>
        <p:spPr>
          <a:xfrm>
            <a:off x="1371600" y="1554480"/>
            <a:ext cx="4937760" cy="274320"/>
          </a:xfrm>
          <a:prstGeom prst="rect">
            <a:avLst/>
          </a:prstGeom>
          <a:noFill/>
          <a:ln/>
        </p:spPr>
        <p:txBody>
          <a:bodyPr wrap="square" lIns="0" tIns="0" rIns="0" bIns="0" rtlCol="0" anchor="ctr"/>
          <a:lstStyle/>
          <a:p>
            <a:pPr indent="0" marL="0">
              <a:buNone/>
            </a:pPr>
            <a:r>
              <a:rPr lang="en-US" sz="1500" b="1" dirty="0">
                <a:solidFill>
                  <a:srgbClr val="13272E"/>
                </a:solidFill>
                <a:latin typeface="Calibri" pitchFamily="34" charset="0"/>
                <a:ea typeface="Calibri" pitchFamily="34" charset="-122"/>
                <a:cs typeface="Calibri" pitchFamily="34" charset="-120"/>
              </a:rPr>
              <a:t>Feature assembly</a:t>
            </a:r>
            <a:endParaRPr lang="en-US" sz="1500" dirty="0"/>
          </a:p>
        </p:txBody>
      </p:sp>
      <p:sp>
        <p:nvSpPr>
          <p:cNvPr id="12" name="Text 10"/>
          <p:cNvSpPr/>
          <p:nvPr/>
        </p:nvSpPr>
        <p:spPr>
          <a:xfrm>
            <a:off x="1371600" y="1847088"/>
            <a:ext cx="4937760" cy="566928"/>
          </a:xfrm>
          <a:prstGeom prst="rect">
            <a:avLst/>
          </a:prstGeom>
          <a:noFill/>
          <a:ln/>
        </p:spPr>
        <p:txBody>
          <a:bodyPr wrap="square" lIns="0" tIns="0" rIns="0" bIns="0" rtlCol="0" anchor="ctr"/>
          <a:lstStyle/>
          <a:p>
            <a:pPr indent="0" marL="0">
              <a:lnSpc>
                <a:spcPts val="1600"/>
              </a:lnSpc>
              <a:buNone/>
            </a:pPr>
            <a:r>
              <a:rPr lang="en-US" sz="1200" dirty="0">
                <a:solidFill>
                  <a:srgbClr val="5B7178"/>
                </a:solidFill>
                <a:latin typeface="Calibri" pitchFamily="34" charset="0"/>
                <a:ea typeface="Calibri" pitchFamily="34" charset="-122"/>
                <a:cs typeface="Calibri" pitchFamily="34" charset="-120"/>
              </a:rPr>
              <a:t>Collect the four-feature vector for the user's coordinates: AQI, temperature, humidity, wind speed.</a:t>
            </a:r>
            <a:endParaRPr lang="en-US" sz="1200" dirty="0"/>
          </a:p>
        </p:txBody>
      </p:sp>
      <p:sp>
        <p:nvSpPr>
          <p:cNvPr id="13" name="Shape 11"/>
          <p:cNvSpPr/>
          <p:nvPr/>
        </p:nvSpPr>
        <p:spPr>
          <a:xfrm>
            <a:off x="566928" y="2606040"/>
            <a:ext cx="5943600" cy="1115568"/>
          </a:xfrm>
          <a:prstGeom prst="roundRect">
            <a:avLst>
              <a:gd name="adj" fmla="val 6557"/>
            </a:avLst>
          </a:prstGeom>
          <a:solidFill>
            <a:srgbClr val="F0F6F6"/>
          </a:solidFill>
          <a:ln w="12700">
            <a:solidFill>
              <a:srgbClr val="D8E5E5"/>
            </a:solidFill>
            <a:prstDash val="solid"/>
          </a:ln>
          <a:effectLst>
            <a:outerShdw sx="100000" sy="100000" kx="0" ky="0" algn="bl" rotWithShape="0" blurRad="101600" dist="25400" dir="5400000">
              <a:srgbClr val="0B2B33">
                <a:alpha val="7000"/>
              </a:srgbClr>
            </a:outerShdw>
          </a:effectLst>
        </p:spPr>
      </p:sp>
      <p:sp>
        <p:nvSpPr>
          <p:cNvPr id="14" name="Shape 12"/>
          <p:cNvSpPr/>
          <p:nvPr/>
        </p:nvSpPr>
        <p:spPr>
          <a:xfrm>
            <a:off x="804672" y="2935224"/>
            <a:ext cx="420624" cy="420624"/>
          </a:xfrm>
          <a:prstGeom prst="ellipse">
            <a:avLst/>
          </a:prstGeom>
          <a:solidFill>
            <a:srgbClr val="E9B949"/>
          </a:solidFill>
          <a:ln w="12700">
            <a:solidFill>
              <a:srgbClr val="E9B949"/>
            </a:solidFill>
            <a:prstDash val="solid"/>
          </a:ln>
        </p:spPr>
      </p:sp>
      <p:sp>
        <p:nvSpPr>
          <p:cNvPr id="15" name="Text 13"/>
          <p:cNvSpPr/>
          <p:nvPr/>
        </p:nvSpPr>
        <p:spPr>
          <a:xfrm>
            <a:off x="804672" y="293522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4"/>
          <p:cNvSpPr/>
          <p:nvPr/>
        </p:nvSpPr>
        <p:spPr>
          <a:xfrm>
            <a:off x="1371600" y="2770632"/>
            <a:ext cx="4937760" cy="274320"/>
          </a:xfrm>
          <a:prstGeom prst="rect">
            <a:avLst/>
          </a:prstGeom>
          <a:noFill/>
          <a:ln/>
        </p:spPr>
        <p:txBody>
          <a:bodyPr wrap="square" lIns="0" tIns="0" rIns="0" bIns="0" rtlCol="0" anchor="ctr"/>
          <a:lstStyle/>
          <a:p>
            <a:pPr indent="0" marL="0">
              <a:buNone/>
            </a:pPr>
            <a:r>
              <a:rPr lang="en-US" sz="1500" b="1" dirty="0">
                <a:solidFill>
                  <a:srgbClr val="13272E"/>
                </a:solidFill>
                <a:latin typeface="Calibri" pitchFamily="34" charset="0"/>
                <a:ea typeface="Calibri" pitchFamily="34" charset="-122"/>
                <a:cs typeface="Calibri" pitchFamily="34" charset="-120"/>
              </a:rPr>
              <a:t>Standardisation</a:t>
            </a:r>
            <a:endParaRPr lang="en-US" sz="1500" dirty="0"/>
          </a:p>
        </p:txBody>
      </p:sp>
      <p:sp>
        <p:nvSpPr>
          <p:cNvPr id="17" name="Text 15"/>
          <p:cNvSpPr/>
          <p:nvPr/>
        </p:nvSpPr>
        <p:spPr>
          <a:xfrm>
            <a:off x="1371600" y="3063240"/>
            <a:ext cx="4937760" cy="566928"/>
          </a:xfrm>
          <a:prstGeom prst="rect">
            <a:avLst/>
          </a:prstGeom>
          <a:noFill/>
          <a:ln/>
        </p:spPr>
        <p:txBody>
          <a:bodyPr wrap="square" lIns="0" tIns="0" rIns="0" bIns="0" rtlCol="0" anchor="ctr"/>
          <a:lstStyle/>
          <a:p>
            <a:pPr indent="0" marL="0">
              <a:lnSpc>
                <a:spcPts val="1600"/>
              </a:lnSpc>
              <a:buNone/>
            </a:pPr>
            <a:r>
              <a:rPr lang="en-US" sz="1200" dirty="0">
                <a:solidFill>
                  <a:srgbClr val="5B7178"/>
                </a:solidFill>
                <a:latin typeface="Calibri" pitchFamily="34" charset="0"/>
                <a:ea typeface="Calibri" pitchFamily="34" charset="-122"/>
                <a:cs typeface="Calibri" pitchFamily="34" charset="-120"/>
              </a:rPr>
              <a:t>Transform with the scaler fitted at training time — z = (x − μ) / σ. The persisted scaler is loaded, never refitted per request.</a:t>
            </a:r>
            <a:endParaRPr lang="en-US" sz="1200" dirty="0"/>
          </a:p>
        </p:txBody>
      </p:sp>
      <p:sp>
        <p:nvSpPr>
          <p:cNvPr id="18" name="Shape 16"/>
          <p:cNvSpPr/>
          <p:nvPr/>
        </p:nvSpPr>
        <p:spPr>
          <a:xfrm>
            <a:off x="566928" y="3822192"/>
            <a:ext cx="5943600" cy="1115568"/>
          </a:xfrm>
          <a:prstGeom prst="roundRect">
            <a:avLst>
              <a:gd name="adj" fmla="val 6557"/>
            </a:avLst>
          </a:prstGeom>
          <a:solidFill>
            <a:srgbClr val="F0F6F6"/>
          </a:solidFill>
          <a:ln w="12700">
            <a:solidFill>
              <a:srgbClr val="D8E5E5"/>
            </a:solidFill>
            <a:prstDash val="solid"/>
          </a:ln>
          <a:effectLst>
            <a:outerShdw sx="100000" sy="100000" kx="0" ky="0" algn="bl" rotWithShape="0" blurRad="101600" dist="25400" dir="5400000">
              <a:srgbClr val="0B2B33">
                <a:alpha val="7000"/>
              </a:srgbClr>
            </a:outerShdw>
          </a:effectLst>
        </p:spPr>
      </p:sp>
      <p:sp>
        <p:nvSpPr>
          <p:cNvPr id="19" name="Shape 17"/>
          <p:cNvSpPr/>
          <p:nvPr/>
        </p:nvSpPr>
        <p:spPr>
          <a:xfrm>
            <a:off x="804672" y="4151376"/>
            <a:ext cx="420624" cy="420624"/>
          </a:xfrm>
          <a:prstGeom prst="ellipse">
            <a:avLst/>
          </a:prstGeom>
          <a:solidFill>
            <a:srgbClr val="E07B39"/>
          </a:solidFill>
          <a:ln w="12700">
            <a:solidFill>
              <a:srgbClr val="E07B39"/>
            </a:solidFill>
            <a:prstDash val="solid"/>
          </a:ln>
        </p:spPr>
      </p:sp>
      <p:sp>
        <p:nvSpPr>
          <p:cNvPr id="20" name="Text 18"/>
          <p:cNvSpPr/>
          <p:nvPr/>
        </p:nvSpPr>
        <p:spPr>
          <a:xfrm>
            <a:off x="804672" y="415137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1" name="Text 19"/>
          <p:cNvSpPr/>
          <p:nvPr/>
        </p:nvSpPr>
        <p:spPr>
          <a:xfrm>
            <a:off x="1371600" y="3986784"/>
            <a:ext cx="4937760" cy="274320"/>
          </a:xfrm>
          <a:prstGeom prst="rect">
            <a:avLst/>
          </a:prstGeom>
          <a:noFill/>
          <a:ln/>
        </p:spPr>
        <p:txBody>
          <a:bodyPr wrap="square" lIns="0" tIns="0" rIns="0" bIns="0" rtlCol="0" anchor="ctr"/>
          <a:lstStyle/>
          <a:p>
            <a:pPr indent="0" marL="0">
              <a:buNone/>
            </a:pPr>
            <a:r>
              <a:rPr lang="en-US" sz="1500" b="1" dirty="0">
                <a:solidFill>
                  <a:srgbClr val="13272E"/>
                </a:solidFill>
                <a:latin typeface="Calibri" pitchFamily="34" charset="0"/>
                <a:ea typeface="Calibri" pitchFamily="34" charset="-122"/>
                <a:cs typeface="Calibri" pitchFamily="34" charset="-120"/>
              </a:rPr>
              <a:t>Forward pass</a:t>
            </a:r>
            <a:endParaRPr lang="en-US" sz="1500" dirty="0"/>
          </a:p>
        </p:txBody>
      </p:sp>
      <p:sp>
        <p:nvSpPr>
          <p:cNvPr id="22" name="Text 20"/>
          <p:cNvSpPr/>
          <p:nvPr/>
        </p:nvSpPr>
        <p:spPr>
          <a:xfrm>
            <a:off x="1371600" y="4279392"/>
            <a:ext cx="4937760" cy="566928"/>
          </a:xfrm>
          <a:prstGeom prst="rect">
            <a:avLst/>
          </a:prstGeom>
          <a:noFill/>
          <a:ln/>
        </p:spPr>
        <p:txBody>
          <a:bodyPr wrap="square" lIns="0" tIns="0" rIns="0" bIns="0" rtlCol="0" anchor="ctr"/>
          <a:lstStyle/>
          <a:p>
            <a:pPr indent="0" marL="0">
              <a:lnSpc>
                <a:spcPts val="1600"/>
              </a:lnSpc>
              <a:buNone/>
            </a:pPr>
            <a:r>
              <a:rPr lang="en-US" sz="1200" dirty="0">
                <a:solidFill>
                  <a:srgbClr val="5B7178"/>
                </a:solidFill>
                <a:latin typeface="Calibri" pitchFamily="34" charset="0"/>
                <a:ea typeface="Calibri" pitchFamily="34" charset="-122"/>
                <a:cs typeface="Calibri" pitchFamily="34" charset="-120"/>
              </a:rPr>
              <a:t>A feed-forward dense network regresses two continuous outputs simultaneously: respiratory cases and cardiovascular cases.</a:t>
            </a:r>
            <a:endParaRPr lang="en-US" sz="1200" dirty="0"/>
          </a:p>
        </p:txBody>
      </p:sp>
      <p:sp>
        <p:nvSpPr>
          <p:cNvPr id="23" name="Shape 21"/>
          <p:cNvSpPr/>
          <p:nvPr/>
        </p:nvSpPr>
        <p:spPr>
          <a:xfrm>
            <a:off x="566928" y="5038344"/>
            <a:ext cx="5943600" cy="1115568"/>
          </a:xfrm>
          <a:prstGeom prst="roundRect">
            <a:avLst>
              <a:gd name="adj" fmla="val 6557"/>
            </a:avLst>
          </a:prstGeom>
          <a:solidFill>
            <a:srgbClr val="F0F6F6"/>
          </a:solidFill>
          <a:ln w="12700">
            <a:solidFill>
              <a:srgbClr val="D8E5E5"/>
            </a:solidFill>
            <a:prstDash val="solid"/>
          </a:ln>
          <a:effectLst>
            <a:outerShdw sx="100000" sy="100000" kx="0" ky="0" algn="bl" rotWithShape="0" blurRad="101600" dist="25400" dir="5400000">
              <a:srgbClr val="0B2B33">
                <a:alpha val="7000"/>
              </a:srgbClr>
            </a:outerShdw>
          </a:effectLst>
        </p:spPr>
      </p:sp>
      <p:sp>
        <p:nvSpPr>
          <p:cNvPr id="24" name="Shape 22"/>
          <p:cNvSpPr/>
          <p:nvPr/>
        </p:nvSpPr>
        <p:spPr>
          <a:xfrm>
            <a:off x="804672" y="5367528"/>
            <a:ext cx="420624" cy="420624"/>
          </a:xfrm>
          <a:prstGeom prst="ellipse">
            <a:avLst/>
          </a:prstGeom>
          <a:solidFill>
            <a:srgbClr val="C2453D"/>
          </a:solidFill>
          <a:ln w="12700">
            <a:solidFill>
              <a:srgbClr val="C2453D"/>
            </a:solidFill>
            <a:prstDash val="solid"/>
          </a:ln>
        </p:spPr>
      </p:sp>
      <p:sp>
        <p:nvSpPr>
          <p:cNvPr id="25" name="Text 23"/>
          <p:cNvSpPr/>
          <p:nvPr/>
        </p:nvSpPr>
        <p:spPr>
          <a:xfrm>
            <a:off x="804672" y="536752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6" name="Text 24"/>
          <p:cNvSpPr/>
          <p:nvPr/>
        </p:nvSpPr>
        <p:spPr>
          <a:xfrm>
            <a:off x="1371600" y="5202936"/>
            <a:ext cx="4937760" cy="274320"/>
          </a:xfrm>
          <a:prstGeom prst="rect">
            <a:avLst/>
          </a:prstGeom>
          <a:noFill/>
          <a:ln/>
        </p:spPr>
        <p:txBody>
          <a:bodyPr wrap="square" lIns="0" tIns="0" rIns="0" bIns="0" rtlCol="0" anchor="ctr"/>
          <a:lstStyle/>
          <a:p>
            <a:pPr indent="0" marL="0">
              <a:buNone/>
            </a:pPr>
            <a:r>
              <a:rPr lang="en-US" sz="1500" b="1" dirty="0">
                <a:solidFill>
                  <a:srgbClr val="13272E"/>
                </a:solidFill>
                <a:latin typeface="Calibri" pitchFamily="34" charset="0"/>
                <a:ea typeface="Calibri" pitchFamily="34" charset="-122"/>
                <a:cs typeface="Calibri" pitchFamily="34" charset="-120"/>
              </a:rPr>
              <a:t>Risk mapping</a:t>
            </a:r>
            <a:endParaRPr lang="en-US" sz="1500" dirty="0"/>
          </a:p>
        </p:txBody>
      </p:sp>
      <p:sp>
        <p:nvSpPr>
          <p:cNvPr id="27" name="Text 25"/>
          <p:cNvSpPr/>
          <p:nvPr/>
        </p:nvSpPr>
        <p:spPr>
          <a:xfrm>
            <a:off x="1371600" y="5495544"/>
            <a:ext cx="4937760" cy="566928"/>
          </a:xfrm>
          <a:prstGeom prst="rect">
            <a:avLst/>
          </a:prstGeom>
          <a:noFill/>
          <a:ln/>
        </p:spPr>
        <p:txBody>
          <a:bodyPr wrap="square" lIns="0" tIns="0" rIns="0" bIns="0" rtlCol="0" anchor="ctr"/>
          <a:lstStyle/>
          <a:p>
            <a:pPr indent="0" marL="0">
              <a:lnSpc>
                <a:spcPts val="1600"/>
              </a:lnSpc>
              <a:buNone/>
            </a:pPr>
            <a:r>
              <a:rPr lang="en-US" sz="1200" dirty="0">
                <a:solidFill>
                  <a:srgbClr val="5B7178"/>
                </a:solidFill>
                <a:latin typeface="Calibri" pitchFamily="34" charset="0"/>
                <a:ea typeface="Calibri" pitchFamily="34" charset="-122"/>
                <a:cs typeface="Calibri" pitchFamily="34" charset="-120"/>
              </a:rPr>
              <a:t>Predicted case loads are normalised against the training range and returned as respiratory and cardiovascular risk percentages.</a:t>
            </a:r>
            <a:endParaRPr lang="en-US" sz="1200" dirty="0"/>
          </a:p>
        </p:txBody>
      </p:sp>
      <p:sp>
        <p:nvSpPr>
          <p:cNvPr id="28" name="Shape 26"/>
          <p:cNvSpPr/>
          <p:nvPr/>
        </p:nvSpPr>
        <p:spPr>
          <a:xfrm>
            <a:off x="6812280" y="1389888"/>
            <a:ext cx="4818888" cy="3913632"/>
          </a:xfrm>
          <a:prstGeom prst="roundRect">
            <a:avLst>
              <a:gd name="adj" fmla="val 1869"/>
            </a:avLst>
          </a:prstGeom>
          <a:solidFill>
            <a:srgbClr val="0B2B33"/>
          </a:solidFill>
          <a:ln w="12700">
            <a:solidFill>
              <a:srgbClr val="0B2B33"/>
            </a:solidFill>
            <a:prstDash val="solid"/>
          </a:ln>
          <a:effectLst>
            <a:outerShdw sx="100000" sy="100000" kx="0" ky="0" algn="bl" rotWithShape="0" blurRad="127000" dist="25400" dir="5400000">
              <a:srgbClr val="0B2B33">
                <a:alpha val="12000"/>
              </a:srgbClr>
            </a:outerShdw>
          </a:effectLst>
        </p:spPr>
      </p:sp>
      <p:sp>
        <p:nvSpPr>
          <p:cNvPr id="29" name="Text 27"/>
          <p:cNvSpPr/>
          <p:nvPr/>
        </p:nvSpPr>
        <p:spPr>
          <a:xfrm>
            <a:off x="7086600" y="1600200"/>
            <a:ext cx="4297680" cy="237744"/>
          </a:xfrm>
          <a:prstGeom prst="rect">
            <a:avLst/>
          </a:prstGeom>
          <a:noFill/>
          <a:ln/>
        </p:spPr>
        <p:txBody>
          <a:bodyPr wrap="square" lIns="0" tIns="0" rIns="0" bIns="0" rtlCol="0" anchor="ctr"/>
          <a:lstStyle/>
          <a:p>
            <a:pPr indent="0" marL="0">
              <a:buNone/>
            </a:pPr>
            <a:r>
              <a:rPr lang="en-US" sz="1050" b="1" spc="150" kern="0" dirty="0">
                <a:solidFill>
                  <a:srgbClr val="02C39A"/>
                </a:solidFill>
                <a:latin typeface="Calibri" pitchFamily="34" charset="0"/>
                <a:ea typeface="Calibri" pitchFamily="34" charset="-122"/>
                <a:cs typeface="Calibri" pitchFamily="34" charset="-120"/>
              </a:rPr>
              <a:t>INFERENCE PSEUDOCODE</a:t>
            </a:r>
            <a:endParaRPr lang="en-US" sz="1050" dirty="0"/>
          </a:p>
        </p:txBody>
      </p:sp>
      <p:sp>
        <p:nvSpPr>
          <p:cNvPr id="30" name="Text 28"/>
          <p:cNvSpPr/>
          <p:nvPr/>
        </p:nvSpPr>
        <p:spPr>
          <a:xfrm>
            <a:off x="7086600" y="1938528"/>
            <a:ext cx="4297680" cy="3200400"/>
          </a:xfrm>
          <a:prstGeom prst="rect">
            <a:avLst/>
          </a:prstGeom>
          <a:noFill/>
          <a:ln/>
        </p:spPr>
        <p:txBody>
          <a:bodyPr wrap="square" lIns="0" tIns="0" rIns="0" bIns="0" rtlCol="0" anchor="ctr"/>
          <a:lstStyle/>
          <a:p>
            <a:pPr indent="0" marL="0">
              <a:lnSpc>
                <a:spcPts val="1700"/>
              </a:lnSpc>
              <a:buNone/>
            </a:pPr>
            <a:r>
              <a:rPr lang="en-US" sz="1150" dirty="0">
                <a:solidFill>
                  <a:srgbClr val="CFE4E7"/>
                </a:solidFill>
                <a:latin typeface="Courier New" pitchFamily="34" charset="0"/>
                <a:ea typeface="Courier New" pitchFamily="34" charset="-122"/>
                <a:cs typeface="Courier New" pitchFamily="34" charset="-120"/>
              </a:rPr>
              <a:t>INPUT  x = [aqi, temp, humidity, wind]</a:t>
            </a:r>
            <a:endParaRPr lang="en-US" sz="1150" dirty="0"/>
          </a:p>
          <a:p>
            <a:pPr indent="0" marL="0">
              <a:lnSpc>
                <a:spcPts val="1700"/>
              </a:lnSpc>
              <a:buNone/>
            </a:pPr>
            <a:endParaRPr lang="en-US" sz="1150" dirty="0"/>
          </a:p>
          <a:p>
            <a:pPr indent="0" marL="0">
              <a:lnSpc>
                <a:spcPts val="1700"/>
              </a:lnSpc>
              <a:buNone/>
            </a:pPr>
            <a:r>
              <a:rPr lang="en-US" sz="1150" dirty="0">
                <a:solidFill>
                  <a:srgbClr val="CFE4E7"/>
                </a:solidFill>
                <a:latin typeface="Courier New" pitchFamily="34" charset="0"/>
                <a:ea typeface="Courier New" pitchFamily="34" charset="-122"/>
                <a:cs typeface="Courier New" pitchFamily="34" charset="-120"/>
              </a:rPr>
              <a:t>x_scaled  &lt;-  scaler.transform(x)</a:t>
            </a:r>
            <a:endParaRPr lang="en-US" sz="1150" dirty="0"/>
          </a:p>
          <a:p>
            <a:pPr indent="0" marL="0">
              <a:lnSpc>
                <a:spcPts val="1700"/>
              </a:lnSpc>
              <a:buNone/>
            </a:pPr>
            <a:r>
              <a:rPr lang="en-US" sz="1150" dirty="0">
                <a:solidFill>
                  <a:srgbClr val="CFE4E7"/>
                </a:solidFill>
                <a:latin typeface="Courier New" pitchFamily="34" charset="0"/>
                <a:ea typeface="Courier New" pitchFamily="34" charset="-122"/>
                <a:cs typeface="Courier New" pitchFamily="34" charset="-120"/>
              </a:rPr>
              <a:t>                # mu, sigma from training</a:t>
            </a:r>
            <a:endParaRPr lang="en-US" sz="1150" dirty="0"/>
          </a:p>
          <a:p>
            <a:pPr indent="0" marL="0">
              <a:lnSpc>
                <a:spcPts val="1700"/>
              </a:lnSpc>
              <a:buNone/>
            </a:pPr>
            <a:endParaRPr lang="en-US" sz="1150" dirty="0"/>
          </a:p>
          <a:p>
            <a:pPr indent="0" marL="0">
              <a:lnSpc>
                <a:spcPts val="1700"/>
              </a:lnSpc>
              <a:buNone/>
            </a:pPr>
            <a:r>
              <a:rPr lang="en-US" sz="1150" dirty="0">
                <a:solidFill>
                  <a:srgbClr val="CFE4E7"/>
                </a:solidFill>
                <a:latin typeface="Courier New" pitchFamily="34" charset="0"/>
                <a:ea typeface="Courier New" pitchFamily="34" charset="-122"/>
                <a:cs typeface="Courier New" pitchFamily="34" charset="-120"/>
              </a:rPr>
              <a:t>y  &lt;-  model.predict(x_scaled)</a:t>
            </a:r>
            <a:endParaRPr lang="en-US" sz="1150" dirty="0"/>
          </a:p>
          <a:p>
            <a:pPr indent="0" marL="0">
              <a:lnSpc>
                <a:spcPts val="1700"/>
              </a:lnSpc>
              <a:buNone/>
            </a:pPr>
            <a:r>
              <a:rPr lang="en-US" sz="1150" dirty="0">
                <a:solidFill>
                  <a:srgbClr val="CFE4E7"/>
                </a:solidFill>
                <a:latin typeface="Courier New" pitchFamily="34" charset="0"/>
                <a:ea typeface="Courier New" pitchFamily="34" charset="-122"/>
                <a:cs typeface="Courier New" pitchFamily="34" charset="-120"/>
              </a:rPr>
              <a:t>   y[0] = respiratory_cases</a:t>
            </a:r>
            <a:endParaRPr lang="en-US" sz="1150" dirty="0"/>
          </a:p>
          <a:p>
            <a:pPr indent="0" marL="0">
              <a:lnSpc>
                <a:spcPts val="1700"/>
              </a:lnSpc>
              <a:buNone/>
            </a:pPr>
            <a:r>
              <a:rPr lang="en-US" sz="1150" dirty="0">
                <a:solidFill>
                  <a:srgbClr val="CFE4E7"/>
                </a:solidFill>
                <a:latin typeface="Courier New" pitchFamily="34" charset="0"/>
                <a:ea typeface="Courier New" pitchFamily="34" charset="-122"/>
                <a:cs typeface="Courier New" pitchFamily="34" charset="-120"/>
              </a:rPr>
              <a:t>   y[1] = cardiovascular_cases</a:t>
            </a:r>
            <a:endParaRPr lang="en-US" sz="1150" dirty="0"/>
          </a:p>
          <a:p>
            <a:pPr indent="0" marL="0">
              <a:lnSpc>
                <a:spcPts val="1700"/>
              </a:lnSpc>
              <a:buNone/>
            </a:pPr>
            <a:endParaRPr lang="en-US" sz="1150" dirty="0"/>
          </a:p>
          <a:p>
            <a:pPr indent="0" marL="0">
              <a:lnSpc>
                <a:spcPts val="1700"/>
              </a:lnSpc>
              <a:buNone/>
            </a:pPr>
            <a:r>
              <a:rPr lang="en-US" sz="1150" dirty="0">
                <a:solidFill>
                  <a:srgbClr val="CFE4E7"/>
                </a:solidFill>
                <a:latin typeface="Courier New" pitchFamily="34" charset="0"/>
                <a:ea typeface="Courier New" pitchFamily="34" charset="-122"/>
                <a:cs typeface="Courier New" pitchFamily="34" charset="-120"/>
              </a:rPr>
              <a:t>resp_risk    &lt;-  normalise(y[0]) * 100</a:t>
            </a:r>
            <a:endParaRPr lang="en-US" sz="1150" dirty="0"/>
          </a:p>
          <a:p>
            <a:pPr indent="0" marL="0">
              <a:lnSpc>
                <a:spcPts val="1700"/>
              </a:lnSpc>
              <a:buNone/>
            </a:pPr>
            <a:r>
              <a:rPr lang="en-US" sz="1150" dirty="0">
                <a:solidFill>
                  <a:srgbClr val="CFE4E7"/>
                </a:solidFill>
                <a:latin typeface="Courier New" pitchFamily="34" charset="0"/>
                <a:ea typeface="Courier New" pitchFamily="34" charset="-122"/>
                <a:cs typeface="Courier New" pitchFamily="34" charset="-120"/>
              </a:rPr>
              <a:t>cardio_risk  &lt;-  normalise(y[1]) * 100</a:t>
            </a:r>
            <a:endParaRPr lang="en-US" sz="1150" dirty="0"/>
          </a:p>
          <a:p>
            <a:pPr indent="0" marL="0">
              <a:lnSpc>
                <a:spcPts val="1700"/>
              </a:lnSpc>
              <a:buNone/>
            </a:pPr>
            <a:endParaRPr lang="en-US" sz="1150" dirty="0"/>
          </a:p>
          <a:p>
            <a:pPr indent="0" marL="0">
              <a:lnSpc>
                <a:spcPts val="1700"/>
              </a:lnSpc>
              <a:buNone/>
            </a:pPr>
            <a:r>
              <a:rPr lang="en-US" sz="1150" dirty="0">
                <a:solidFill>
                  <a:srgbClr val="CFE4E7"/>
                </a:solidFill>
                <a:latin typeface="Courier New" pitchFamily="34" charset="0"/>
                <a:ea typeface="Courier New" pitchFamily="34" charset="-122"/>
                <a:cs typeface="Courier New" pitchFamily="34" charset="-120"/>
              </a:rPr>
              <a:t>RETURN  { cases, risk_percentages }</a:t>
            </a:r>
            <a:endParaRPr lang="en-US" sz="1150" dirty="0"/>
          </a:p>
        </p:txBody>
      </p:sp>
      <p:sp>
        <p:nvSpPr>
          <p:cNvPr id="31" name="Text 29"/>
          <p:cNvSpPr/>
          <p:nvPr/>
        </p:nvSpPr>
        <p:spPr>
          <a:xfrm>
            <a:off x="6812280" y="5413248"/>
            <a:ext cx="4818888" cy="548640"/>
          </a:xfrm>
          <a:prstGeom prst="rect">
            <a:avLst/>
          </a:prstGeom>
          <a:noFill/>
          <a:ln/>
        </p:spPr>
        <p:txBody>
          <a:bodyPr wrap="square" lIns="0" tIns="0" rIns="0" bIns="0" rtlCol="0" anchor="ctr"/>
          <a:lstStyle/>
          <a:p>
            <a:pPr indent="0" marL="0">
              <a:lnSpc>
                <a:spcPts val="1500"/>
              </a:lnSpc>
              <a:buNone/>
            </a:pPr>
            <a:r>
              <a:rPr lang="en-US" sz="1100" i="1" dirty="0">
                <a:solidFill>
                  <a:srgbClr val="5B7178"/>
                </a:solidFill>
                <a:latin typeface="Calibri" pitchFamily="34" charset="0"/>
                <a:ea typeface="Calibri" pitchFamily="34" charset="-122"/>
                <a:cs typeface="Calibri" pitchFamily="34" charset="-120"/>
              </a:rPr>
              <a:t>Model and scaler are loaded once at FastAPI startup — inference is a single scale-and-forward pass per request.</a:t>
            </a:r>
            <a:endParaRPr lang="en-US" sz="1100" dirty="0"/>
          </a:p>
        </p:txBody>
      </p:sp>
      <p:sp>
        <p:nvSpPr>
          <p:cNvPr id="32" name="Text 30"/>
          <p:cNvSpPr/>
          <p:nvPr/>
        </p:nvSpPr>
        <p:spPr>
          <a:xfrm>
            <a:off x="11292840" y="6263640"/>
            <a:ext cx="457200" cy="274320"/>
          </a:xfrm>
          <a:prstGeom prst="rect">
            <a:avLst/>
          </a:prstGeom>
          <a:noFill/>
          <a:ln/>
        </p:spPr>
        <p:txBody>
          <a:bodyPr wrap="square" lIns="0" tIns="0" rIns="0" bIns="0" rtlCol="0" anchor="ctr"/>
          <a:lstStyle/>
          <a:p>
            <a:pPr algn="r" indent="0" marL="0">
              <a:buNone/>
            </a:pPr>
            <a:r>
              <a:rPr lang="en-US" sz="1000" dirty="0">
                <a:solidFill>
                  <a:srgbClr val="5B7178"/>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329184"/>
            <a:ext cx="8412480" cy="566928"/>
          </a:xfrm>
          <a:prstGeom prst="rect">
            <a:avLst/>
          </a:prstGeom>
          <a:noFill/>
          <a:ln/>
        </p:spPr>
        <p:txBody>
          <a:bodyPr wrap="square" lIns="0" tIns="0" rIns="0" bIns="0" rtlCol="0" anchor="ctr"/>
          <a:lstStyle/>
          <a:p>
            <a:pPr algn="l" indent="0" marL="0">
              <a:buNone/>
            </a:pPr>
            <a:r>
              <a:rPr lang="en-US" sz="3400" b="1" dirty="0">
                <a:solidFill>
                  <a:srgbClr val="13272E"/>
                </a:solidFill>
                <a:latin typeface="Cambria" pitchFamily="34" charset="0"/>
                <a:ea typeface="Cambria" pitchFamily="34" charset="-122"/>
                <a:cs typeface="Cambria" pitchFamily="34" charset="-120"/>
              </a:rPr>
              <a:t>Technology Stack</a:t>
            </a:r>
            <a:endParaRPr lang="en-US" sz="3400" dirty="0"/>
          </a:p>
        </p:txBody>
      </p:sp>
      <p:sp>
        <p:nvSpPr>
          <p:cNvPr id="3" name="Text 1"/>
          <p:cNvSpPr/>
          <p:nvPr/>
        </p:nvSpPr>
        <p:spPr>
          <a:xfrm>
            <a:off x="585216" y="914400"/>
            <a:ext cx="10058400" cy="274320"/>
          </a:xfrm>
          <a:prstGeom prst="rect">
            <a:avLst/>
          </a:prstGeom>
          <a:noFill/>
          <a:ln/>
        </p:spPr>
        <p:txBody>
          <a:bodyPr wrap="square" lIns="0" tIns="0" rIns="0" bIns="0" rtlCol="0" anchor="ctr"/>
          <a:lstStyle/>
          <a:p>
            <a:pPr indent="0" marL="0">
              <a:buNone/>
            </a:pPr>
            <a:r>
              <a:rPr lang="en-US" sz="1300" i="1" dirty="0">
                <a:solidFill>
                  <a:srgbClr val="028090"/>
                </a:solidFill>
                <a:latin typeface="Calibri" pitchFamily="34" charset="0"/>
                <a:ea typeface="Calibri" pitchFamily="34" charset="-122"/>
                <a:cs typeface="Calibri" pitchFamily="34" charset="-120"/>
              </a:rPr>
              <a:t>Chosen for a 36-hour build that still runs end to end</a:t>
            </a:r>
            <a:endParaRPr lang="en-US" sz="1300" dirty="0"/>
          </a:p>
        </p:txBody>
      </p:sp>
      <p:sp>
        <p:nvSpPr>
          <p:cNvPr id="4" name="Shape 2"/>
          <p:cNvSpPr/>
          <p:nvPr/>
        </p:nvSpPr>
        <p:spPr>
          <a:xfrm>
            <a:off x="585216" y="118872"/>
            <a:ext cx="100584" cy="100584"/>
          </a:xfrm>
          <a:prstGeom prst="ellipse">
            <a:avLst/>
          </a:prstGeom>
          <a:solidFill>
            <a:srgbClr val="3FA34D"/>
          </a:solidFill>
          <a:ln w="12700">
            <a:solidFill>
              <a:srgbClr val="3FA34D"/>
            </a:solidFill>
            <a:prstDash val="solid"/>
          </a:ln>
        </p:spPr>
      </p:sp>
      <p:sp>
        <p:nvSpPr>
          <p:cNvPr id="5" name="Shape 3"/>
          <p:cNvSpPr/>
          <p:nvPr/>
        </p:nvSpPr>
        <p:spPr>
          <a:xfrm>
            <a:off x="749808" y="118872"/>
            <a:ext cx="100584" cy="100584"/>
          </a:xfrm>
          <a:prstGeom prst="ellipse">
            <a:avLst/>
          </a:prstGeom>
          <a:solidFill>
            <a:srgbClr val="E9B949"/>
          </a:solidFill>
          <a:ln w="12700">
            <a:solidFill>
              <a:srgbClr val="E9B949"/>
            </a:solidFill>
            <a:prstDash val="solid"/>
          </a:ln>
        </p:spPr>
      </p:sp>
      <p:sp>
        <p:nvSpPr>
          <p:cNvPr id="6" name="Shape 4"/>
          <p:cNvSpPr/>
          <p:nvPr/>
        </p:nvSpPr>
        <p:spPr>
          <a:xfrm>
            <a:off x="914400" y="118872"/>
            <a:ext cx="100584" cy="100584"/>
          </a:xfrm>
          <a:prstGeom prst="ellipse">
            <a:avLst/>
          </a:prstGeom>
          <a:solidFill>
            <a:srgbClr val="E07B39"/>
          </a:solidFill>
          <a:ln w="12700">
            <a:solidFill>
              <a:srgbClr val="E07B39"/>
            </a:solidFill>
            <a:prstDash val="solid"/>
          </a:ln>
        </p:spPr>
      </p:sp>
      <p:sp>
        <p:nvSpPr>
          <p:cNvPr id="7" name="Shape 5"/>
          <p:cNvSpPr/>
          <p:nvPr/>
        </p:nvSpPr>
        <p:spPr>
          <a:xfrm>
            <a:off x="1078992" y="118872"/>
            <a:ext cx="100584" cy="100584"/>
          </a:xfrm>
          <a:prstGeom prst="ellipse">
            <a:avLst/>
          </a:prstGeom>
          <a:solidFill>
            <a:srgbClr val="C2453D"/>
          </a:solidFill>
          <a:ln w="12700">
            <a:solidFill>
              <a:srgbClr val="C2453D"/>
            </a:solidFill>
            <a:prstDash val="solid"/>
          </a:ln>
        </p:spPr>
      </p:sp>
      <p:sp>
        <p:nvSpPr>
          <p:cNvPr id="8" name="Shape 6"/>
          <p:cNvSpPr/>
          <p:nvPr/>
        </p:nvSpPr>
        <p:spPr>
          <a:xfrm>
            <a:off x="566928" y="1417320"/>
            <a:ext cx="2633472" cy="3657600"/>
          </a:xfrm>
          <a:prstGeom prst="roundRect">
            <a:avLst>
              <a:gd name="adj" fmla="val 2778"/>
            </a:avLst>
          </a:prstGeom>
          <a:solidFill>
            <a:srgbClr val="FFFFFF"/>
          </a:solidFill>
          <a:ln w="12700">
            <a:solidFill>
              <a:srgbClr val="D8E5E5"/>
            </a:solidFill>
            <a:prstDash val="solid"/>
          </a:ln>
          <a:effectLst>
            <a:outerShdw sx="100000" sy="100000" kx="0" ky="0" algn="bl" rotWithShape="0" blurRad="101600" dist="25400" dir="5400000">
              <a:srgbClr val="0B2B33">
                <a:alpha val="7000"/>
              </a:srgbClr>
            </a:outerShdw>
          </a:effectLst>
        </p:spPr>
      </p:sp>
      <p:sp>
        <p:nvSpPr>
          <p:cNvPr id="9" name="Shape 7"/>
          <p:cNvSpPr/>
          <p:nvPr/>
        </p:nvSpPr>
        <p:spPr>
          <a:xfrm>
            <a:off x="822960" y="1691640"/>
            <a:ext cx="274320" cy="274320"/>
          </a:xfrm>
          <a:prstGeom prst="ellipse">
            <a:avLst/>
          </a:prstGeom>
          <a:solidFill>
            <a:srgbClr val="3FA34D"/>
          </a:solidFill>
          <a:ln w="12700">
            <a:solidFill>
              <a:srgbClr val="3FA34D"/>
            </a:solidFill>
            <a:prstDash val="solid"/>
          </a:ln>
        </p:spPr>
      </p:sp>
      <p:sp>
        <p:nvSpPr>
          <p:cNvPr id="10" name="Text 8"/>
          <p:cNvSpPr/>
          <p:nvPr/>
        </p:nvSpPr>
        <p:spPr>
          <a:xfrm>
            <a:off x="822960" y="2084832"/>
            <a:ext cx="2148840" cy="457200"/>
          </a:xfrm>
          <a:prstGeom prst="rect">
            <a:avLst/>
          </a:prstGeom>
          <a:noFill/>
          <a:ln/>
        </p:spPr>
        <p:txBody>
          <a:bodyPr wrap="square" lIns="0" tIns="0" rIns="0" bIns="0" rtlCol="0" anchor="ctr"/>
          <a:lstStyle/>
          <a:p>
            <a:pPr indent="0" marL="0">
              <a:buNone/>
            </a:pPr>
            <a:r>
              <a:rPr lang="en-US" sz="1250" b="1" spc="100" kern="0" dirty="0">
                <a:solidFill>
                  <a:srgbClr val="13272E"/>
                </a:solidFill>
                <a:latin typeface="Calibri" pitchFamily="34" charset="0"/>
                <a:ea typeface="Calibri" pitchFamily="34" charset="-122"/>
                <a:cs typeface="Calibri" pitchFamily="34" charset="-120"/>
              </a:rPr>
              <a:t>ANDROID</a:t>
            </a:r>
            <a:endParaRPr lang="en-US" sz="1250" dirty="0"/>
          </a:p>
        </p:txBody>
      </p:sp>
      <p:sp>
        <p:nvSpPr>
          <p:cNvPr id="11" name="Text 9"/>
          <p:cNvSpPr/>
          <p:nvPr/>
        </p:nvSpPr>
        <p:spPr>
          <a:xfrm>
            <a:off x="822960" y="2606040"/>
            <a:ext cx="2148840" cy="2240280"/>
          </a:xfrm>
          <a:prstGeom prst="rect">
            <a:avLst/>
          </a:prstGeom>
          <a:noFill/>
          <a:ln/>
        </p:spPr>
        <p:txBody>
          <a:bodyPr wrap="square" lIns="0" tIns="0" rIns="0" bIns="0" rtlCol="0" anchor="ctr"/>
          <a:lstStyle/>
          <a:p>
            <a:pPr marL="342900" indent="-342900">
              <a:lnSpc>
                <a:spcPts val="1600"/>
              </a:lnSpc>
              <a:spcAft>
                <a:spcPts val="800"/>
              </a:spcAft>
              <a:buSzPct val="100000"/>
              <a:buChar char="•"/>
            </a:pPr>
            <a:r>
              <a:rPr lang="en-US" sz="1200" dirty="0">
                <a:solidFill>
                  <a:srgbClr val="5B7178"/>
                </a:solidFill>
                <a:latin typeface="Calibri" pitchFamily="34" charset="0"/>
                <a:ea typeface="Calibri" pitchFamily="34" charset="-122"/>
                <a:cs typeface="Calibri" pitchFamily="34" charset="-120"/>
              </a:rPr>
              <a:t>Kotlin</a:t>
            </a:r>
            <a:endParaRPr lang="en-US" sz="1200" dirty="0"/>
          </a:p>
          <a:p>
            <a:pPr marL="342900" indent="-342900">
              <a:lnSpc>
                <a:spcPts val="1600"/>
              </a:lnSpc>
              <a:spcAft>
                <a:spcPts val="800"/>
              </a:spcAft>
              <a:buSzPct val="100000"/>
              <a:buChar char="•"/>
            </a:pPr>
            <a:r>
              <a:rPr lang="en-US" sz="1200" dirty="0">
                <a:solidFill>
                  <a:srgbClr val="5B7178"/>
                </a:solidFill>
                <a:latin typeface="Calibri" pitchFamily="34" charset="0"/>
                <a:ea typeface="Calibri" pitchFamily="34" charset="-122"/>
                <a:cs typeface="Calibri" pitchFamily="34" charset="-120"/>
              </a:rPr>
              <a:t>Jetpack Compose</a:t>
            </a:r>
            <a:endParaRPr lang="en-US" sz="1200" dirty="0"/>
          </a:p>
          <a:p>
            <a:pPr marL="342900" indent="-342900">
              <a:lnSpc>
                <a:spcPts val="1600"/>
              </a:lnSpc>
              <a:spcAft>
                <a:spcPts val="800"/>
              </a:spcAft>
              <a:buSzPct val="100000"/>
              <a:buChar char="•"/>
            </a:pPr>
            <a:r>
              <a:rPr lang="en-US" sz="1200" dirty="0">
                <a:solidFill>
                  <a:srgbClr val="5B7178"/>
                </a:solidFill>
                <a:latin typeface="Calibri" pitchFamily="34" charset="0"/>
                <a:ea typeface="Calibri" pitchFamily="34" charset="-122"/>
                <a:cs typeface="Calibri" pitchFamily="34" charset="-120"/>
              </a:rPr>
              <a:t>MVVM architecture</a:t>
            </a:r>
            <a:endParaRPr lang="en-US" sz="1200" dirty="0"/>
          </a:p>
          <a:p>
            <a:pPr marL="342900" indent="-342900">
              <a:lnSpc>
                <a:spcPts val="1600"/>
              </a:lnSpc>
              <a:spcAft>
                <a:spcPts val="800"/>
              </a:spcAft>
              <a:buSzPct val="100000"/>
              <a:buChar char="•"/>
            </a:pPr>
            <a:r>
              <a:rPr lang="en-US" sz="1200" dirty="0">
                <a:solidFill>
                  <a:srgbClr val="5B7178"/>
                </a:solidFill>
                <a:latin typeface="Calibri" pitchFamily="34" charset="0"/>
                <a:ea typeface="Calibri" pitchFamily="34" charset="-122"/>
                <a:cs typeface="Calibri" pitchFamily="34" charset="-120"/>
              </a:rPr>
              <a:t>Retrofit</a:t>
            </a:r>
            <a:endParaRPr lang="en-US" sz="1200" dirty="0"/>
          </a:p>
          <a:p>
            <a:pPr marL="342900" indent="-342900">
              <a:lnSpc>
                <a:spcPts val="1600"/>
              </a:lnSpc>
              <a:spcAft>
                <a:spcPts val="800"/>
              </a:spcAft>
              <a:buSzPct val="100000"/>
              <a:buChar char="•"/>
            </a:pPr>
            <a:r>
              <a:rPr lang="en-US" sz="1200" dirty="0">
                <a:solidFill>
                  <a:srgbClr val="5B7178"/>
                </a:solidFill>
                <a:latin typeface="Calibri" pitchFamily="34" charset="0"/>
                <a:ea typeface="Calibri" pitchFamily="34" charset="-122"/>
                <a:cs typeface="Calibri" pitchFamily="34" charset="-120"/>
              </a:rPr>
              <a:t>Coroutines</a:t>
            </a:r>
            <a:endParaRPr lang="en-US" sz="1200" dirty="0"/>
          </a:p>
          <a:p>
            <a:pPr marL="342900" indent="-342900">
              <a:lnSpc>
                <a:spcPts val="1600"/>
              </a:lnSpc>
              <a:spcAft>
                <a:spcPts val="800"/>
              </a:spcAft>
              <a:buSzPct val="100000"/>
              <a:buChar char="•"/>
            </a:pPr>
            <a:r>
              <a:rPr lang="en-US" sz="1200" dirty="0">
                <a:solidFill>
                  <a:srgbClr val="5B7178"/>
                </a:solidFill>
                <a:latin typeface="Calibri" pitchFamily="34" charset="0"/>
                <a:ea typeface="Calibri" pitchFamily="34" charset="-122"/>
                <a:cs typeface="Calibri" pitchFamily="34" charset="-120"/>
              </a:rPr>
              <a:t>StateFlow</a:t>
            </a:r>
            <a:endParaRPr lang="en-US" sz="1200" dirty="0"/>
          </a:p>
        </p:txBody>
      </p:sp>
      <p:sp>
        <p:nvSpPr>
          <p:cNvPr id="12" name="Shape 10"/>
          <p:cNvSpPr/>
          <p:nvPr/>
        </p:nvSpPr>
        <p:spPr>
          <a:xfrm>
            <a:off x="3364992" y="1417320"/>
            <a:ext cx="2633472" cy="3657600"/>
          </a:xfrm>
          <a:prstGeom prst="roundRect">
            <a:avLst>
              <a:gd name="adj" fmla="val 2778"/>
            </a:avLst>
          </a:prstGeom>
          <a:solidFill>
            <a:srgbClr val="FFFFFF"/>
          </a:solidFill>
          <a:ln w="12700">
            <a:solidFill>
              <a:srgbClr val="D8E5E5"/>
            </a:solidFill>
            <a:prstDash val="solid"/>
          </a:ln>
          <a:effectLst>
            <a:outerShdw sx="100000" sy="100000" kx="0" ky="0" algn="bl" rotWithShape="0" blurRad="101600" dist="25400" dir="5400000">
              <a:srgbClr val="0B2B33">
                <a:alpha val="7000"/>
              </a:srgbClr>
            </a:outerShdw>
          </a:effectLst>
        </p:spPr>
      </p:sp>
      <p:sp>
        <p:nvSpPr>
          <p:cNvPr id="13" name="Shape 11"/>
          <p:cNvSpPr/>
          <p:nvPr/>
        </p:nvSpPr>
        <p:spPr>
          <a:xfrm>
            <a:off x="3621024" y="1691640"/>
            <a:ext cx="274320" cy="274320"/>
          </a:xfrm>
          <a:prstGeom prst="ellipse">
            <a:avLst/>
          </a:prstGeom>
          <a:solidFill>
            <a:srgbClr val="E9B949"/>
          </a:solidFill>
          <a:ln w="12700">
            <a:solidFill>
              <a:srgbClr val="E9B949"/>
            </a:solidFill>
            <a:prstDash val="solid"/>
          </a:ln>
        </p:spPr>
      </p:sp>
      <p:sp>
        <p:nvSpPr>
          <p:cNvPr id="14" name="Text 12"/>
          <p:cNvSpPr/>
          <p:nvPr/>
        </p:nvSpPr>
        <p:spPr>
          <a:xfrm>
            <a:off x="3621024" y="2084832"/>
            <a:ext cx="2148840" cy="457200"/>
          </a:xfrm>
          <a:prstGeom prst="rect">
            <a:avLst/>
          </a:prstGeom>
          <a:noFill/>
          <a:ln/>
        </p:spPr>
        <p:txBody>
          <a:bodyPr wrap="square" lIns="0" tIns="0" rIns="0" bIns="0" rtlCol="0" anchor="ctr"/>
          <a:lstStyle/>
          <a:p>
            <a:pPr indent="0" marL="0">
              <a:buNone/>
            </a:pPr>
            <a:r>
              <a:rPr lang="en-US" sz="1250" b="1" spc="100" kern="0" dirty="0">
                <a:solidFill>
                  <a:srgbClr val="13272E"/>
                </a:solidFill>
                <a:latin typeface="Calibri" pitchFamily="34" charset="0"/>
                <a:ea typeface="Calibri" pitchFamily="34" charset="-122"/>
                <a:cs typeface="Calibri" pitchFamily="34" charset="-120"/>
              </a:rPr>
              <a:t>BACKEND</a:t>
            </a:r>
            <a:endParaRPr lang="en-US" sz="1250" dirty="0"/>
          </a:p>
        </p:txBody>
      </p:sp>
      <p:sp>
        <p:nvSpPr>
          <p:cNvPr id="15" name="Text 13"/>
          <p:cNvSpPr/>
          <p:nvPr/>
        </p:nvSpPr>
        <p:spPr>
          <a:xfrm>
            <a:off x="3621024" y="2606040"/>
            <a:ext cx="2148840" cy="2240280"/>
          </a:xfrm>
          <a:prstGeom prst="rect">
            <a:avLst/>
          </a:prstGeom>
          <a:noFill/>
          <a:ln/>
        </p:spPr>
        <p:txBody>
          <a:bodyPr wrap="square" lIns="0" tIns="0" rIns="0" bIns="0" rtlCol="0" anchor="ctr"/>
          <a:lstStyle/>
          <a:p>
            <a:pPr marL="342900" indent="-342900">
              <a:lnSpc>
                <a:spcPts val="1600"/>
              </a:lnSpc>
              <a:spcAft>
                <a:spcPts val="800"/>
              </a:spcAft>
              <a:buSzPct val="100000"/>
              <a:buChar char="•"/>
            </a:pPr>
            <a:r>
              <a:rPr lang="en-US" sz="1200" dirty="0">
                <a:solidFill>
                  <a:srgbClr val="5B7178"/>
                </a:solidFill>
                <a:latin typeface="Calibri" pitchFamily="34" charset="0"/>
                <a:ea typeface="Calibri" pitchFamily="34" charset="-122"/>
                <a:cs typeface="Calibri" pitchFamily="34" charset="-120"/>
              </a:rPr>
              <a:t>Python</a:t>
            </a:r>
            <a:endParaRPr lang="en-US" sz="1200" dirty="0"/>
          </a:p>
          <a:p>
            <a:pPr marL="342900" indent="-342900">
              <a:lnSpc>
                <a:spcPts val="1600"/>
              </a:lnSpc>
              <a:spcAft>
                <a:spcPts val="800"/>
              </a:spcAft>
              <a:buSzPct val="100000"/>
              <a:buChar char="•"/>
            </a:pPr>
            <a:r>
              <a:rPr lang="en-US" sz="1200" dirty="0">
                <a:solidFill>
                  <a:srgbClr val="5B7178"/>
                </a:solidFill>
                <a:latin typeface="Calibri" pitchFamily="34" charset="0"/>
                <a:ea typeface="Calibri" pitchFamily="34" charset="-122"/>
                <a:cs typeface="Calibri" pitchFamily="34" charset="-120"/>
              </a:rPr>
              <a:t>FastAPI</a:t>
            </a:r>
            <a:endParaRPr lang="en-US" sz="1200" dirty="0"/>
          </a:p>
          <a:p>
            <a:pPr marL="342900" indent="-342900">
              <a:lnSpc>
                <a:spcPts val="1600"/>
              </a:lnSpc>
              <a:spcAft>
                <a:spcPts val="800"/>
              </a:spcAft>
              <a:buSzPct val="100000"/>
              <a:buChar char="•"/>
            </a:pPr>
            <a:r>
              <a:rPr lang="en-US" sz="1200" dirty="0">
                <a:solidFill>
                  <a:srgbClr val="5B7178"/>
                </a:solidFill>
                <a:latin typeface="Calibri" pitchFamily="34" charset="0"/>
                <a:ea typeface="Calibri" pitchFamily="34" charset="-122"/>
                <a:cs typeface="Calibri" pitchFamily="34" charset="-120"/>
              </a:rPr>
              <a:t>Uvicorn</a:t>
            </a:r>
            <a:endParaRPr lang="en-US" sz="1200" dirty="0"/>
          </a:p>
          <a:p>
            <a:pPr marL="342900" indent="-342900">
              <a:lnSpc>
                <a:spcPts val="1600"/>
              </a:lnSpc>
              <a:spcAft>
                <a:spcPts val="800"/>
              </a:spcAft>
              <a:buSzPct val="100000"/>
              <a:buChar char="•"/>
            </a:pPr>
            <a:r>
              <a:rPr lang="en-US" sz="1200" dirty="0">
                <a:solidFill>
                  <a:srgbClr val="5B7178"/>
                </a:solidFill>
                <a:latin typeface="Calibri" pitchFamily="34" charset="0"/>
                <a:ea typeface="Calibri" pitchFamily="34" charset="-122"/>
                <a:cs typeface="Calibri" pitchFamily="34" charset="-120"/>
              </a:rPr>
              <a:t>REST / JSON</a:t>
            </a:r>
            <a:endParaRPr lang="en-US" sz="1200" dirty="0"/>
          </a:p>
          <a:p>
            <a:pPr marL="342900" indent="-342900">
              <a:lnSpc>
                <a:spcPts val="1600"/>
              </a:lnSpc>
              <a:spcAft>
                <a:spcPts val="800"/>
              </a:spcAft>
              <a:buSzPct val="100000"/>
              <a:buChar char="•"/>
            </a:pPr>
            <a:r>
              <a:rPr lang="en-US" sz="1200" dirty="0">
                <a:solidFill>
                  <a:srgbClr val="5B7178"/>
                </a:solidFill>
                <a:latin typeface="Calibri" pitchFamily="34" charset="0"/>
                <a:ea typeface="Calibri" pitchFamily="34" charset="-122"/>
                <a:cs typeface="Calibri" pitchFamily="34" charset="-120"/>
              </a:rPr>
              <a:t>Auto-generated docs at /docs</a:t>
            </a:r>
            <a:endParaRPr lang="en-US" sz="1200" dirty="0"/>
          </a:p>
        </p:txBody>
      </p:sp>
      <p:sp>
        <p:nvSpPr>
          <p:cNvPr id="16" name="Shape 14"/>
          <p:cNvSpPr/>
          <p:nvPr/>
        </p:nvSpPr>
        <p:spPr>
          <a:xfrm>
            <a:off x="6163056" y="1417320"/>
            <a:ext cx="2633472" cy="3657600"/>
          </a:xfrm>
          <a:prstGeom prst="roundRect">
            <a:avLst>
              <a:gd name="adj" fmla="val 2778"/>
            </a:avLst>
          </a:prstGeom>
          <a:solidFill>
            <a:srgbClr val="FFFFFF"/>
          </a:solidFill>
          <a:ln w="12700">
            <a:solidFill>
              <a:srgbClr val="D8E5E5"/>
            </a:solidFill>
            <a:prstDash val="solid"/>
          </a:ln>
          <a:effectLst>
            <a:outerShdw sx="100000" sy="100000" kx="0" ky="0" algn="bl" rotWithShape="0" blurRad="101600" dist="25400" dir="5400000">
              <a:srgbClr val="0B2B33">
                <a:alpha val="7000"/>
              </a:srgbClr>
            </a:outerShdw>
          </a:effectLst>
        </p:spPr>
      </p:sp>
      <p:sp>
        <p:nvSpPr>
          <p:cNvPr id="17" name="Shape 15"/>
          <p:cNvSpPr/>
          <p:nvPr/>
        </p:nvSpPr>
        <p:spPr>
          <a:xfrm>
            <a:off x="6419088" y="1691640"/>
            <a:ext cx="274320" cy="274320"/>
          </a:xfrm>
          <a:prstGeom prst="ellipse">
            <a:avLst/>
          </a:prstGeom>
          <a:solidFill>
            <a:srgbClr val="E07B39"/>
          </a:solidFill>
          <a:ln w="12700">
            <a:solidFill>
              <a:srgbClr val="E07B39"/>
            </a:solidFill>
            <a:prstDash val="solid"/>
          </a:ln>
        </p:spPr>
      </p:sp>
      <p:sp>
        <p:nvSpPr>
          <p:cNvPr id="18" name="Text 16"/>
          <p:cNvSpPr/>
          <p:nvPr/>
        </p:nvSpPr>
        <p:spPr>
          <a:xfrm>
            <a:off x="6419088" y="2084832"/>
            <a:ext cx="2148840" cy="457200"/>
          </a:xfrm>
          <a:prstGeom prst="rect">
            <a:avLst/>
          </a:prstGeom>
          <a:noFill/>
          <a:ln/>
        </p:spPr>
        <p:txBody>
          <a:bodyPr wrap="square" lIns="0" tIns="0" rIns="0" bIns="0" rtlCol="0" anchor="ctr"/>
          <a:lstStyle/>
          <a:p>
            <a:pPr indent="0" marL="0">
              <a:buNone/>
            </a:pPr>
            <a:r>
              <a:rPr lang="en-US" sz="1250" b="1" spc="100" kern="0" dirty="0">
                <a:solidFill>
                  <a:srgbClr val="13272E"/>
                </a:solidFill>
                <a:latin typeface="Calibri" pitchFamily="34" charset="0"/>
                <a:ea typeface="Calibri" pitchFamily="34" charset="-122"/>
                <a:cs typeface="Calibri" pitchFamily="34" charset="-120"/>
              </a:rPr>
              <a:t>MACHINE LEARNING</a:t>
            </a:r>
            <a:endParaRPr lang="en-US" sz="1250" dirty="0"/>
          </a:p>
        </p:txBody>
      </p:sp>
      <p:sp>
        <p:nvSpPr>
          <p:cNvPr id="19" name="Text 17"/>
          <p:cNvSpPr/>
          <p:nvPr/>
        </p:nvSpPr>
        <p:spPr>
          <a:xfrm>
            <a:off x="6419088" y="2606040"/>
            <a:ext cx="2148840" cy="2240280"/>
          </a:xfrm>
          <a:prstGeom prst="rect">
            <a:avLst/>
          </a:prstGeom>
          <a:noFill/>
          <a:ln/>
        </p:spPr>
        <p:txBody>
          <a:bodyPr wrap="square" lIns="0" tIns="0" rIns="0" bIns="0" rtlCol="0" anchor="ctr"/>
          <a:lstStyle/>
          <a:p>
            <a:pPr marL="342900" indent="-342900">
              <a:lnSpc>
                <a:spcPts val="1600"/>
              </a:lnSpc>
              <a:spcAft>
                <a:spcPts val="800"/>
              </a:spcAft>
              <a:buSzPct val="100000"/>
              <a:buChar char="•"/>
            </a:pPr>
            <a:r>
              <a:rPr lang="en-US" sz="1200" dirty="0">
                <a:solidFill>
                  <a:srgbClr val="5B7178"/>
                </a:solidFill>
                <a:latin typeface="Calibri" pitchFamily="34" charset="0"/>
                <a:ea typeface="Calibri" pitchFamily="34" charset="-122"/>
                <a:cs typeface="Calibri" pitchFamily="34" charset="-120"/>
              </a:rPr>
              <a:t>TensorFlow / Keras</a:t>
            </a:r>
            <a:endParaRPr lang="en-US" sz="1200" dirty="0"/>
          </a:p>
          <a:p>
            <a:pPr marL="342900" indent="-342900">
              <a:lnSpc>
                <a:spcPts val="1600"/>
              </a:lnSpc>
              <a:spcAft>
                <a:spcPts val="800"/>
              </a:spcAft>
              <a:buSzPct val="100000"/>
              <a:buChar char="•"/>
            </a:pPr>
            <a:r>
              <a:rPr lang="en-US" sz="1200" dirty="0">
                <a:solidFill>
                  <a:srgbClr val="5B7178"/>
                </a:solidFill>
                <a:latin typeface="Calibri" pitchFamily="34" charset="0"/>
                <a:ea typeface="Calibri" pitchFamily="34" charset="-122"/>
                <a:cs typeface="Calibri" pitchFamily="34" charset="-120"/>
              </a:rPr>
              <a:t>Feed-forward dense net</a:t>
            </a:r>
            <a:endParaRPr lang="en-US" sz="1200" dirty="0"/>
          </a:p>
          <a:p>
            <a:pPr marL="342900" indent="-342900">
              <a:lnSpc>
                <a:spcPts val="1600"/>
              </a:lnSpc>
              <a:spcAft>
                <a:spcPts val="800"/>
              </a:spcAft>
              <a:buSzPct val="100000"/>
              <a:buChar char="•"/>
            </a:pPr>
            <a:r>
              <a:rPr lang="en-US" sz="1200" dirty="0">
                <a:solidFill>
                  <a:srgbClr val="5B7178"/>
                </a:solidFill>
                <a:latin typeface="Calibri" pitchFamily="34" charset="0"/>
                <a:ea typeface="Calibri" pitchFamily="34" charset="-122"/>
                <a:cs typeface="Calibri" pitchFamily="34" charset="-120"/>
              </a:rPr>
              <a:t>scikit-learn StandardScaler</a:t>
            </a:r>
            <a:endParaRPr lang="en-US" sz="1200" dirty="0"/>
          </a:p>
          <a:p>
            <a:pPr marL="342900" indent="-342900">
              <a:lnSpc>
                <a:spcPts val="1600"/>
              </a:lnSpc>
              <a:spcAft>
                <a:spcPts val="800"/>
              </a:spcAft>
              <a:buSzPct val="100000"/>
              <a:buChar char="•"/>
            </a:pPr>
            <a:r>
              <a:rPr lang="en-US" sz="1200" dirty="0">
                <a:solidFill>
                  <a:srgbClr val="5B7178"/>
                </a:solidFill>
                <a:latin typeface="Calibri" pitchFamily="34" charset="0"/>
                <a:ea typeface="Calibri" pitchFamily="34" charset="-122"/>
                <a:cs typeface="Calibri" pitchFamily="34" charset="-120"/>
              </a:rPr>
              <a:t>Joblib persistence</a:t>
            </a:r>
            <a:endParaRPr lang="en-US" sz="1200" dirty="0"/>
          </a:p>
        </p:txBody>
      </p:sp>
      <p:sp>
        <p:nvSpPr>
          <p:cNvPr id="20" name="Shape 18"/>
          <p:cNvSpPr/>
          <p:nvPr/>
        </p:nvSpPr>
        <p:spPr>
          <a:xfrm>
            <a:off x="8961120" y="1417320"/>
            <a:ext cx="2633472" cy="3657600"/>
          </a:xfrm>
          <a:prstGeom prst="roundRect">
            <a:avLst>
              <a:gd name="adj" fmla="val 2778"/>
            </a:avLst>
          </a:prstGeom>
          <a:solidFill>
            <a:srgbClr val="FFFFFF"/>
          </a:solidFill>
          <a:ln w="12700">
            <a:solidFill>
              <a:srgbClr val="D8E5E5"/>
            </a:solidFill>
            <a:prstDash val="solid"/>
          </a:ln>
          <a:effectLst>
            <a:outerShdw sx="100000" sy="100000" kx="0" ky="0" algn="bl" rotWithShape="0" blurRad="101600" dist="25400" dir="5400000">
              <a:srgbClr val="0B2B33">
                <a:alpha val="7000"/>
              </a:srgbClr>
            </a:outerShdw>
          </a:effectLst>
        </p:spPr>
      </p:sp>
      <p:sp>
        <p:nvSpPr>
          <p:cNvPr id="21" name="Shape 19"/>
          <p:cNvSpPr/>
          <p:nvPr/>
        </p:nvSpPr>
        <p:spPr>
          <a:xfrm>
            <a:off x="9217152" y="1691640"/>
            <a:ext cx="274320" cy="274320"/>
          </a:xfrm>
          <a:prstGeom prst="ellipse">
            <a:avLst/>
          </a:prstGeom>
          <a:solidFill>
            <a:srgbClr val="C2453D"/>
          </a:solidFill>
          <a:ln w="12700">
            <a:solidFill>
              <a:srgbClr val="C2453D"/>
            </a:solidFill>
            <a:prstDash val="solid"/>
          </a:ln>
        </p:spPr>
      </p:sp>
      <p:sp>
        <p:nvSpPr>
          <p:cNvPr id="22" name="Text 20"/>
          <p:cNvSpPr/>
          <p:nvPr/>
        </p:nvSpPr>
        <p:spPr>
          <a:xfrm>
            <a:off x="9217152" y="2084832"/>
            <a:ext cx="2148840" cy="457200"/>
          </a:xfrm>
          <a:prstGeom prst="rect">
            <a:avLst/>
          </a:prstGeom>
          <a:noFill/>
          <a:ln/>
        </p:spPr>
        <p:txBody>
          <a:bodyPr wrap="square" lIns="0" tIns="0" rIns="0" bIns="0" rtlCol="0" anchor="ctr"/>
          <a:lstStyle/>
          <a:p>
            <a:pPr indent="0" marL="0">
              <a:buNone/>
            </a:pPr>
            <a:r>
              <a:rPr lang="en-US" sz="1250" b="1" spc="100" kern="0" dirty="0">
                <a:solidFill>
                  <a:srgbClr val="13272E"/>
                </a:solidFill>
                <a:latin typeface="Calibri" pitchFamily="34" charset="0"/>
                <a:ea typeface="Calibri" pitchFamily="34" charset="-122"/>
                <a:cs typeface="Calibri" pitchFamily="34" charset="-120"/>
              </a:rPr>
              <a:t>DATA SOURCES</a:t>
            </a:r>
            <a:endParaRPr lang="en-US" sz="1250" dirty="0"/>
          </a:p>
        </p:txBody>
      </p:sp>
      <p:sp>
        <p:nvSpPr>
          <p:cNvPr id="23" name="Text 21"/>
          <p:cNvSpPr/>
          <p:nvPr/>
        </p:nvSpPr>
        <p:spPr>
          <a:xfrm>
            <a:off x="9217152" y="2606040"/>
            <a:ext cx="2148840" cy="2240280"/>
          </a:xfrm>
          <a:prstGeom prst="rect">
            <a:avLst/>
          </a:prstGeom>
          <a:noFill/>
          <a:ln/>
        </p:spPr>
        <p:txBody>
          <a:bodyPr wrap="square" lIns="0" tIns="0" rIns="0" bIns="0" rtlCol="0" anchor="ctr"/>
          <a:lstStyle/>
          <a:p>
            <a:pPr marL="342900" indent="-342900">
              <a:lnSpc>
                <a:spcPts val="1600"/>
              </a:lnSpc>
              <a:spcAft>
                <a:spcPts val="800"/>
              </a:spcAft>
              <a:buSzPct val="100000"/>
              <a:buChar char="•"/>
            </a:pPr>
            <a:r>
              <a:rPr lang="en-US" sz="1200" dirty="0">
                <a:solidFill>
                  <a:srgbClr val="5B7178"/>
                </a:solidFill>
                <a:latin typeface="Calibri" pitchFamily="34" charset="0"/>
                <a:ea typeface="Calibri" pitchFamily="34" charset="-122"/>
                <a:cs typeface="Calibri" pitchFamily="34" charset="-120"/>
              </a:rPr>
              <a:t>Open-Meteo — weather</a:t>
            </a:r>
            <a:endParaRPr lang="en-US" sz="1200" dirty="0"/>
          </a:p>
          <a:p>
            <a:pPr marL="342900" indent="-342900">
              <a:lnSpc>
                <a:spcPts val="1600"/>
              </a:lnSpc>
              <a:spcAft>
                <a:spcPts val="800"/>
              </a:spcAft>
              <a:buSzPct val="100000"/>
              <a:buChar char="•"/>
            </a:pPr>
            <a:r>
              <a:rPr lang="en-US" sz="1200" dirty="0">
                <a:solidFill>
                  <a:srgbClr val="5B7178"/>
                </a:solidFill>
                <a:latin typeface="Calibri" pitchFamily="34" charset="0"/>
                <a:ea typeface="Calibri" pitchFamily="34" charset="-122"/>
                <a:cs typeface="Calibri" pitchFamily="34" charset="-120"/>
              </a:rPr>
              <a:t>OpenWeather Air Pollution — AQI</a:t>
            </a:r>
            <a:endParaRPr lang="en-US" sz="1200" dirty="0"/>
          </a:p>
          <a:p>
            <a:pPr marL="342900" indent="-342900">
              <a:lnSpc>
                <a:spcPts val="1600"/>
              </a:lnSpc>
              <a:spcAft>
                <a:spcPts val="800"/>
              </a:spcAft>
              <a:buSzPct val="100000"/>
              <a:buChar char="•"/>
            </a:pPr>
            <a:r>
              <a:rPr lang="en-US" sz="1200" dirty="0">
                <a:solidFill>
                  <a:srgbClr val="5B7178"/>
                </a:solidFill>
                <a:latin typeface="Calibri" pitchFamily="34" charset="0"/>
                <a:ea typeface="Calibri" pitchFamily="34" charset="-122"/>
                <a:cs typeface="Calibri" pitchFamily="34" charset="-120"/>
              </a:rPr>
              <a:t>Device GPS — location</a:t>
            </a:r>
            <a:endParaRPr lang="en-US" sz="1200" dirty="0"/>
          </a:p>
        </p:txBody>
      </p:sp>
      <p:sp>
        <p:nvSpPr>
          <p:cNvPr id="24" name="Shape 22"/>
          <p:cNvSpPr/>
          <p:nvPr/>
        </p:nvSpPr>
        <p:spPr>
          <a:xfrm>
            <a:off x="566928" y="5303520"/>
            <a:ext cx="11064240" cy="713232"/>
          </a:xfrm>
          <a:prstGeom prst="roundRect">
            <a:avLst>
              <a:gd name="adj" fmla="val 8974"/>
            </a:avLst>
          </a:prstGeom>
          <a:solidFill>
            <a:srgbClr val="F0F6F6"/>
          </a:solidFill>
          <a:ln w="12700">
            <a:solidFill>
              <a:srgbClr val="D8E5E5"/>
            </a:solidFill>
            <a:prstDash val="solid"/>
          </a:ln>
        </p:spPr>
      </p:sp>
      <p:sp>
        <p:nvSpPr>
          <p:cNvPr id="25" name="Text 23"/>
          <p:cNvSpPr/>
          <p:nvPr/>
        </p:nvSpPr>
        <p:spPr>
          <a:xfrm>
            <a:off x="868680" y="5440680"/>
            <a:ext cx="10515600" cy="438912"/>
          </a:xfrm>
          <a:prstGeom prst="rect">
            <a:avLst/>
          </a:prstGeom>
          <a:noFill/>
          <a:ln/>
        </p:spPr>
        <p:txBody>
          <a:bodyPr wrap="square" lIns="0" tIns="0" rIns="0" bIns="0" rtlCol="0" anchor="ctr"/>
          <a:lstStyle/>
          <a:p>
            <a:pPr indent="0" marL="0">
              <a:buNone/>
            </a:pPr>
            <a:r>
              <a:rPr lang="en-US" sz="1200" b="1" dirty="0">
                <a:solidFill>
                  <a:srgbClr val="13272E"/>
                </a:solidFill>
                <a:latin typeface="Calibri" pitchFamily="34" charset="0"/>
                <a:ea typeface="Calibri" pitchFamily="34" charset="-122"/>
                <a:cs typeface="Calibri" pitchFamily="34" charset="-120"/>
              </a:rPr>
              <a:t>Trained artifacts:  </a:t>
            </a:r>
            <a:pPr indent="0" marL="0">
              <a:buNone/>
            </a:pPr>
            <a:r>
              <a:rPr lang="en-US" sz="1200" dirty="0">
                <a:solidFill>
                  <a:srgbClr val="028090"/>
                </a:solidFill>
                <a:latin typeface="Courier New" pitchFamily="34" charset="0"/>
                <a:ea typeface="Courier New" pitchFamily="34" charset="-122"/>
                <a:cs typeface="Courier New" pitchFamily="34" charset="-120"/>
              </a:rPr>
              <a:t>health_model.keras</a:t>
            </a:r>
            <a:pPr indent="0" marL="0">
              <a:buNone/>
            </a:pPr>
            <a:r>
              <a:rPr lang="en-US" sz="1200" dirty="0">
                <a:solidFill>
                  <a:srgbClr val="5B7178"/>
                </a:solidFill>
                <a:latin typeface="Calibri" pitchFamily="34" charset="0"/>
                <a:ea typeface="Calibri" pitchFamily="34" charset="-122"/>
                <a:cs typeface="Calibri" pitchFamily="34" charset="-120"/>
              </a:rPr>
              <a:t>  and  </a:t>
            </a:r>
            <a:pPr indent="0" marL="0">
              <a:buNone/>
            </a:pPr>
            <a:r>
              <a:rPr lang="en-US" sz="1200" dirty="0">
                <a:solidFill>
                  <a:srgbClr val="028090"/>
                </a:solidFill>
                <a:latin typeface="Courier New" pitchFamily="34" charset="0"/>
                <a:ea typeface="Courier New" pitchFamily="34" charset="-122"/>
                <a:cs typeface="Courier New" pitchFamily="34" charset="-120"/>
              </a:rPr>
              <a:t>scaler.pkl</a:t>
            </a:r>
            <a:pPr indent="0" marL="0">
              <a:buNone/>
            </a:pPr>
            <a:r>
              <a:rPr lang="en-US" sz="1200" dirty="0">
                <a:solidFill>
                  <a:srgbClr val="5B7178"/>
                </a:solidFill>
                <a:latin typeface="Calibri" pitchFamily="34" charset="0"/>
                <a:ea typeface="Calibri" pitchFamily="34" charset="-122"/>
                <a:cs typeface="Calibri" pitchFamily="34" charset="-120"/>
              </a:rPr>
              <a:t>  — both loaded at backend startup.   Emulator reaches the host at </a:t>
            </a:r>
            <a:pPr indent="0" marL="0">
              <a:buNone/>
            </a:pPr>
            <a:r>
              <a:rPr lang="en-US" sz="1200" dirty="0">
                <a:solidFill>
                  <a:srgbClr val="028090"/>
                </a:solidFill>
                <a:latin typeface="Courier New" pitchFamily="34" charset="0"/>
                <a:ea typeface="Courier New" pitchFamily="34" charset="-122"/>
                <a:cs typeface="Courier New" pitchFamily="34" charset="-120"/>
              </a:rPr>
              <a:t>10.0.2.2:8000</a:t>
            </a:r>
            <a:endParaRPr lang="en-US" sz="1200" dirty="0"/>
          </a:p>
        </p:txBody>
      </p:sp>
      <p:sp>
        <p:nvSpPr>
          <p:cNvPr id="26" name="Text 24"/>
          <p:cNvSpPr/>
          <p:nvPr/>
        </p:nvSpPr>
        <p:spPr>
          <a:xfrm>
            <a:off x="11292840" y="6263640"/>
            <a:ext cx="457200" cy="274320"/>
          </a:xfrm>
          <a:prstGeom prst="rect">
            <a:avLst/>
          </a:prstGeom>
          <a:noFill/>
          <a:ln/>
        </p:spPr>
        <p:txBody>
          <a:bodyPr wrap="square" lIns="0" tIns="0" rIns="0" bIns="0" rtlCol="0" anchor="ctr"/>
          <a:lstStyle/>
          <a:p>
            <a:pPr algn="r" indent="0" marL="0">
              <a:buNone/>
            </a:pPr>
            <a:r>
              <a:rPr lang="en-US" sz="1000" dirty="0">
                <a:solidFill>
                  <a:srgbClr val="5B7178"/>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329184"/>
            <a:ext cx="8412480" cy="566928"/>
          </a:xfrm>
          <a:prstGeom prst="rect">
            <a:avLst/>
          </a:prstGeom>
          <a:noFill/>
          <a:ln/>
        </p:spPr>
        <p:txBody>
          <a:bodyPr wrap="square" lIns="0" tIns="0" rIns="0" bIns="0" rtlCol="0" anchor="ctr"/>
          <a:lstStyle/>
          <a:p>
            <a:pPr algn="l" indent="0" marL="0">
              <a:buNone/>
            </a:pPr>
            <a:r>
              <a:rPr lang="en-US" sz="3400" b="1" dirty="0">
                <a:solidFill>
                  <a:srgbClr val="13272E"/>
                </a:solidFill>
                <a:latin typeface="Cambria" pitchFamily="34" charset="0"/>
                <a:ea typeface="Cambria" pitchFamily="34" charset="-122"/>
                <a:cs typeface="Cambria" pitchFamily="34" charset="-120"/>
              </a:rPr>
              <a:t>Results</a:t>
            </a:r>
            <a:endParaRPr lang="en-US" sz="3400" dirty="0"/>
          </a:p>
        </p:txBody>
      </p:sp>
      <p:sp>
        <p:nvSpPr>
          <p:cNvPr id="3" name="Text 1"/>
          <p:cNvSpPr/>
          <p:nvPr/>
        </p:nvSpPr>
        <p:spPr>
          <a:xfrm>
            <a:off x="585216" y="914400"/>
            <a:ext cx="10058400" cy="274320"/>
          </a:xfrm>
          <a:prstGeom prst="rect">
            <a:avLst/>
          </a:prstGeom>
          <a:noFill/>
          <a:ln/>
        </p:spPr>
        <p:txBody>
          <a:bodyPr wrap="square" lIns="0" tIns="0" rIns="0" bIns="0" rtlCol="0" anchor="ctr"/>
          <a:lstStyle/>
          <a:p>
            <a:pPr indent="0" marL="0">
              <a:buNone/>
            </a:pPr>
            <a:r>
              <a:rPr lang="en-US" sz="1300" i="1" dirty="0">
                <a:solidFill>
                  <a:srgbClr val="028090"/>
                </a:solidFill>
                <a:latin typeface="Calibri" pitchFamily="34" charset="0"/>
                <a:ea typeface="Calibri" pitchFamily="34" charset="-122"/>
                <a:cs typeface="Calibri" pitchFamily="34" charset="-120"/>
              </a:rPr>
              <a:t>A working end-to-end prototype: GPS to prediction to screen</a:t>
            </a:r>
            <a:endParaRPr lang="en-US" sz="1300" dirty="0"/>
          </a:p>
        </p:txBody>
      </p:sp>
      <p:sp>
        <p:nvSpPr>
          <p:cNvPr id="4" name="Shape 2"/>
          <p:cNvSpPr/>
          <p:nvPr/>
        </p:nvSpPr>
        <p:spPr>
          <a:xfrm>
            <a:off x="585216" y="118872"/>
            <a:ext cx="100584" cy="100584"/>
          </a:xfrm>
          <a:prstGeom prst="ellipse">
            <a:avLst/>
          </a:prstGeom>
          <a:solidFill>
            <a:srgbClr val="3FA34D"/>
          </a:solidFill>
          <a:ln w="12700">
            <a:solidFill>
              <a:srgbClr val="3FA34D"/>
            </a:solidFill>
            <a:prstDash val="solid"/>
          </a:ln>
        </p:spPr>
      </p:sp>
      <p:sp>
        <p:nvSpPr>
          <p:cNvPr id="5" name="Shape 3"/>
          <p:cNvSpPr/>
          <p:nvPr/>
        </p:nvSpPr>
        <p:spPr>
          <a:xfrm>
            <a:off x="749808" y="118872"/>
            <a:ext cx="100584" cy="100584"/>
          </a:xfrm>
          <a:prstGeom prst="ellipse">
            <a:avLst/>
          </a:prstGeom>
          <a:solidFill>
            <a:srgbClr val="E9B949"/>
          </a:solidFill>
          <a:ln w="12700">
            <a:solidFill>
              <a:srgbClr val="E9B949"/>
            </a:solidFill>
            <a:prstDash val="solid"/>
          </a:ln>
        </p:spPr>
      </p:sp>
      <p:sp>
        <p:nvSpPr>
          <p:cNvPr id="6" name="Shape 4"/>
          <p:cNvSpPr/>
          <p:nvPr/>
        </p:nvSpPr>
        <p:spPr>
          <a:xfrm>
            <a:off x="914400" y="118872"/>
            <a:ext cx="100584" cy="100584"/>
          </a:xfrm>
          <a:prstGeom prst="ellipse">
            <a:avLst/>
          </a:prstGeom>
          <a:solidFill>
            <a:srgbClr val="E07B39"/>
          </a:solidFill>
          <a:ln w="12700">
            <a:solidFill>
              <a:srgbClr val="E07B39"/>
            </a:solidFill>
            <a:prstDash val="solid"/>
          </a:ln>
        </p:spPr>
      </p:sp>
      <p:sp>
        <p:nvSpPr>
          <p:cNvPr id="7" name="Shape 5"/>
          <p:cNvSpPr/>
          <p:nvPr/>
        </p:nvSpPr>
        <p:spPr>
          <a:xfrm>
            <a:off x="1078992" y="118872"/>
            <a:ext cx="100584" cy="100584"/>
          </a:xfrm>
          <a:prstGeom prst="ellipse">
            <a:avLst/>
          </a:prstGeom>
          <a:solidFill>
            <a:srgbClr val="C2453D"/>
          </a:solidFill>
          <a:ln w="12700">
            <a:solidFill>
              <a:srgbClr val="C2453D"/>
            </a:solidFill>
            <a:prstDash val="solid"/>
          </a:ln>
        </p:spPr>
      </p:sp>
      <p:sp>
        <p:nvSpPr>
          <p:cNvPr id="8" name="Shape 6"/>
          <p:cNvSpPr/>
          <p:nvPr/>
        </p:nvSpPr>
        <p:spPr>
          <a:xfrm>
            <a:off x="566928" y="1389888"/>
            <a:ext cx="5120640" cy="3931920"/>
          </a:xfrm>
          <a:prstGeom prst="roundRect">
            <a:avLst>
              <a:gd name="adj" fmla="val 1860"/>
            </a:avLst>
          </a:prstGeom>
          <a:solidFill>
            <a:srgbClr val="0B2B33"/>
          </a:solidFill>
          <a:ln w="12700">
            <a:solidFill>
              <a:srgbClr val="0B2B33"/>
            </a:solidFill>
            <a:prstDash val="solid"/>
          </a:ln>
          <a:effectLst>
            <a:outerShdw sx="100000" sy="100000" kx="0" ky="0" algn="bl" rotWithShape="0" blurRad="127000" dist="25400" dir="5400000">
              <a:srgbClr val="0B2B33">
                <a:alpha val="12000"/>
              </a:srgbClr>
            </a:outerShdw>
          </a:effectLst>
        </p:spPr>
      </p:sp>
      <p:sp>
        <p:nvSpPr>
          <p:cNvPr id="9" name="Text 7"/>
          <p:cNvSpPr/>
          <p:nvPr/>
        </p:nvSpPr>
        <p:spPr>
          <a:xfrm>
            <a:off x="841248" y="1600200"/>
            <a:ext cx="4572000" cy="237744"/>
          </a:xfrm>
          <a:prstGeom prst="rect">
            <a:avLst/>
          </a:prstGeom>
          <a:noFill/>
          <a:ln/>
        </p:spPr>
        <p:txBody>
          <a:bodyPr wrap="square" lIns="0" tIns="0" rIns="0" bIns="0" rtlCol="0" anchor="ctr"/>
          <a:lstStyle/>
          <a:p>
            <a:pPr indent="0" marL="0">
              <a:buNone/>
            </a:pPr>
            <a:r>
              <a:rPr lang="en-US" sz="1050" b="1" spc="150" kern="0" dirty="0">
                <a:solidFill>
                  <a:srgbClr val="02C39A"/>
                </a:solidFill>
                <a:latin typeface="Calibri" pitchFamily="34" charset="0"/>
                <a:ea typeface="Calibri" pitchFamily="34" charset="-122"/>
                <a:cs typeface="Calibri" pitchFamily="34" charset="-120"/>
              </a:rPr>
              <a:t>SAMPLE RESPONSE  ·  POST /predict</a:t>
            </a:r>
            <a:endParaRPr lang="en-US" sz="1050" dirty="0"/>
          </a:p>
        </p:txBody>
      </p:sp>
      <p:sp>
        <p:nvSpPr>
          <p:cNvPr id="10" name="Text 8"/>
          <p:cNvSpPr/>
          <p:nvPr/>
        </p:nvSpPr>
        <p:spPr>
          <a:xfrm>
            <a:off x="841248" y="1920240"/>
            <a:ext cx="4572000" cy="1965960"/>
          </a:xfrm>
          <a:prstGeom prst="rect">
            <a:avLst/>
          </a:prstGeom>
          <a:noFill/>
          <a:ln/>
        </p:spPr>
        <p:txBody>
          <a:bodyPr wrap="square" lIns="0" tIns="0" rIns="0" bIns="0" rtlCol="0" anchor="ctr"/>
          <a:lstStyle/>
          <a:p>
            <a:pPr indent="0" marL="0">
              <a:lnSpc>
                <a:spcPts val="1600"/>
              </a:lnSpc>
              <a:buNone/>
            </a:pPr>
            <a:r>
              <a:rPr lang="en-US" sz="1100" dirty="0">
                <a:solidFill>
                  <a:srgbClr val="CFE4E7"/>
                </a:solidFill>
                <a:latin typeface="Courier New" pitchFamily="34" charset="0"/>
                <a:ea typeface="Courier New" pitchFamily="34" charset="-122"/>
                <a:cs typeface="Courier New" pitchFamily="34" charset="-120"/>
              </a:rPr>
              <a:t>request</a:t>
            </a:r>
            <a:endParaRPr lang="en-US" sz="1100" dirty="0"/>
          </a:p>
          <a:p>
            <a:pPr indent="0" marL="0">
              <a:lnSpc>
                <a:spcPts val="1600"/>
              </a:lnSpc>
              <a:buNone/>
            </a:pPr>
            <a:r>
              <a:rPr lang="en-US" sz="1100" dirty="0">
                <a:solidFill>
                  <a:srgbClr val="CFE4E7"/>
                </a:solidFill>
                <a:latin typeface="Courier New" pitchFamily="34" charset="0"/>
                <a:ea typeface="Courier New" pitchFamily="34" charset="-122"/>
                <a:cs typeface="Courier New" pitchFamily="34" charset="-120"/>
              </a:rPr>
              <a:t>{ "aqi": 152, "temperature": 31.4,</a:t>
            </a:r>
            <a:endParaRPr lang="en-US" sz="1100" dirty="0"/>
          </a:p>
          <a:p>
            <a:pPr indent="0" marL="0">
              <a:lnSpc>
                <a:spcPts val="1600"/>
              </a:lnSpc>
              <a:buNone/>
            </a:pPr>
            <a:r>
              <a:rPr lang="en-US" sz="1100" dirty="0">
                <a:solidFill>
                  <a:srgbClr val="CFE4E7"/>
                </a:solidFill>
                <a:latin typeface="Courier New" pitchFamily="34" charset="0"/>
                <a:ea typeface="Courier New" pitchFamily="34" charset="-122"/>
                <a:cs typeface="Courier New" pitchFamily="34" charset="-120"/>
              </a:rPr>
              <a:t>  "humidity": 68, "wind_speed": 3.2 }</a:t>
            </a:r>
            <a:endParaRPr lang="en-US" sz="1100" dirty="0"/>
          </a:p>
          <a:p>
            <a:pPr indent="0" marL="0">
              <a:lnSpc>
                <a:spcPts val="1600"/>
              </a:lnSpc>
              <a:buNone/>
            </a:pPr>
            <a:endParaRPr lang="en-US" sz="1100" dirty="0"/>
          </a:p>
          <a:p>
            <a:pPr indent="0" marL="0">
              <a:lnSpc>
                <a:spcPts val="1600"/>
              </a:lnSpc>
              <a:buNone/>
            </a:pPr>
            <a:r>
              <a:rPr lang="en-US" sz="1100" dirty="0">
                <a:solidFill>
                  <a:srgbClr val="CFE4E7"/>
                </a:solidFill>
                <a:latin typeface="Courier New" pitchFamily="34" charset="0"/>
                <a:ea typeface="Courier New" pitchFamily="34" charset="-122"/>
                <a:cs typeface="Courier New" pitchFamily="34" charset="-120"/>
              </a:rPr>
              <a:t>response</a:t>
            </a:r>
            <a:endParaRPr lang="en-US" sz="1100" dirty="0"/>
          </a:p>
          <a:p>
            <a:pPr indent="0" marL="0">
              <a:lnSpc>
                <a:spcPts val="1600"/>
              </a:lnSpc>
              <a:buNone/>
            </a:pPr>
            <a:r>
              <a:rPr lang="en-US" sz="1100" dirty="0">
                <a:solidFill>
                  <a:srgbClr val="CFE4E7"/>
                </a:solidFill>
                <a:latin typeface="Courier New" pitchFamily="34" charset="0"/>
                <a:ea typeface="Courier New" pitchFamily="34" charset="-122"/>
                <a:cs typeface="Courier New" pitchFamily="34" charset="-120"/>
              </a:rPr>
              <a:t>{ "respiratory_cases": 42.7,</a:t>
            </a:r>
            <a:endParaRPr lang="en-US" sz="1100" dirty="0"/>
          </a:p>
          <a:p>
            <a:pPr indent="0" marL="0">
              <a:lnSpc>
                <a:spcPts val="1600"/>
              </a:lnSpc>
              <a:buNone/>
            </a:pPr>
            <a:r>
              <a:rPr lang="en-US" sz="1100" dirty="0">
                <a:solidFill>
                  <a:srgbClr val="CFE4E7"/>
                </a:solidFill>
                <a:latin typeface="Courier New" pitchFamily="34" charset="0"/>
                <a:ea typeface="Courier New" pitchFamily="34" charset="-122"/>
                <a:cs typeface="Courier New" pitchFamily="34" charset="-120"/>
              </a:rPr>
              <a:t>  "cardiovascular_cases": 28.3,</a:t>
            </a:r>
            <a:endParaRPr lang="en-US" sz="1100" dirty="0"/>
          </a:p>
          <a:p>
            <a:pPr indent="0" marL="0">
              <a:lnSpc>
                <a:spcPts val="1600"/>
              </a:lnSpc>
              <a:buNone/>
            </a:pPr>
            <a:r>
              <a:rPr lang="en-US" sz="1100" dirty="0">
                <a:solidFill>
                  <a:srgbClr val="CFE4E7"/>
                </a:solidFill>
                <a:latin typeface="Courier New" pitchFamily="34" charset="0"/>
                <a:ea typeface="Courier New" pitchFamily="34" charset="-122"/>
                <a:cs typeface="Courier New" pitchFamily="34" charset="-120"/>
              </a:rPr>
              <a:t>  "respiratory_risk": 71.2,</a:t>
            </a:r>
            <a:endParaRPr lang="en-US" sz="1100" dirty="0"/>
          </a:p>
          <a:p>
            <a:pPr indent="0" marL="0">
              <a:lnSpc>
                <a:spcPts val="1600"/>
              </a:lnSpc>
              <a:buNone/>
            </a:pPr>
            <a:r>
              <a:rPr lang="en-US" sz="1100" dirty="0">
                <a:solidFill>
                  <a:srgbClr val="CFE4E7"/>
                </a:solidFill>
                <a:latin typeface="Courier New" pitchFamily="34" charset="0"/>
                <a:ea typeface="Courier New" pitchFamily="34" charset="-122"/>
                <a:cs typeface="Courier New" pitchFamily="34" charset="-120"/>
              </a:rPr>
              <a:t>  "cardiovascular_risk": 47.1 }</a:t>
            </a:r>
            <a:endParaRPr lang="en-US" sz="1100" dirty="0"/>
          </a:p>
        </p:txBody>
      </p:sp>
      <p:sp>
        <p:nvSpPr>
          <p:cNvPr id="11" name="Text 9"/>
          <p:cNvSpPr/>
          <p:nvPr/>
        </p:nvSpPr>
        <p:spPr>
          <a:xfrm>
            <a:off x="841248" y="4041648"/>
            <a:ext cx="2743200" cy="219456"/>
          </a:xfrm>
          <a:prstGeom prst="rect">
            <a:avLst/>
          </a:prstGeom>
          <a:noFill/>
          <a:ln/>
        </p:spPr>
        <p:txBody>
          <a:bodyPr wrap="square" lIns="0" tIns="0" rIns="0" bIns="0" rtlCol="0" anchor="ctr"/>
          <a:lstStyle/>
          <a:p>
            <a:pPr indent="0" marL="0">
              <a:buNone/>
            </a:pPr>
            <a:r>
              <a:rPr lang="en-US" sz="1150" dirty="0">
                <a:solidFill>
                  <a:srgbClr val="B9CFD3"/>
                </a:solidFill>
                <a:latin typeface="Calibri" pitchFamily="34" charset="0"/>
                <a:ea typeface="Calibri" pitchFamily="34" charset="-122"/>
                <a:cs typeface="Calibri" pitchFamily="34" charset="-120"/>
              </a:rPr>
              <a:t>Respiratory risk</a:t>
            </a:r>
            <a:endParaRPr lang="en-US" sz="1150" dirty="0"/>
          </a:p>
        </p:txBody>
      </p:sp>
      <p:sp>
        <p:nvSpPr>
          <p:cNvPr id="12" name="Text 10"/>
          <p:cNvSpPr/>
          <p:nvPr/>
        </p:nvSpPr>
        <p:spPr>
          <a:xfrm>
            <a:off x="4114800" y="4041648"/>
            <a:ext cx="1280160" cy="219456"/>
          </a:xfrm>
          <a:prstGeom prst="rect">
            <a:avLst/>
          </a:prstGeom>
          <a:noFill/>
          <a:ln/>
        </p:spPr>
        <p:txBody>
          <a:bodyPr wrap="square" lIns="0" tIns="0" rIns="0" bIns="0" rtlCol="0" anchor="ctr"/>
          <a:lstStyle/>
          <a:p>
            <a:pPr algn="r" indent="0" marL="0">
              <a:buNone/>
            </a:pPr>
            <a:r>
              <a:rPr lang="en-US" sz="1200" b="1" dirty="0">
                <a:solidFill>
                  <a:srgbClr val="FFFFFF"/>
                </a:solidFill>
                <a:latin typeface="Calibri" pitchFamily="34" charset="0"/>
                <a:ea typeface="Calibri" pitchFamily="34" charset="-122"/>
                <a:cs typeface="Calibri" pitchFamily="34" charset="-120"/>
              </a:rPr>
              <a:t>71.2%</a:t>
            </a:r>
            <a:endParaRPr lang="en-US" sz="1200" dirty="0"/>
          </a:p>
        </p:txBody>
      </p:sp>
      <p:sp>
        <p:nvSpPr>
          <p:cNvPr id="13" name="Shape 11"/>
          <p:cNvSpPr/>
          <p:nvPr/>
        </p:nvSpPr>
        <p:spPr>
          <a:xfrm>
            <a:off x="841248" y="4297680"/>
            <a:ext cx="4572000" cy="155448"/>
          </a:xfrm>
          <a:prstGeom prst="roundRect">
            <a:avLst>
              <a:gd name="adj" fmla="val 35294"/>
            </a:avLst>
          </a:prstGeom>
          <a:solidFill>
            <a:srgbClr val="23505B"/>
          </a:solidFill>
          <a:ln w="12700">
            <a:solidFill>
              <a:srgbClr val="23505B"/>
            </a:solidFill>
            <a:prstDash val="solid"/>
          </a:ln>
        </p:spPr>
      </p:sp>
      <p:sp>
        <p:nvSpPr>
          <p:cNvPr id="14" name="Shape 12"/>
          <p:cNvSpPr/>
          <p:nvPr/>
        </p:nvSpPr>
        <p:spPr>
          <a:xfrm>
            <a:off x="841248" y="4297680"/>
            <a:ext cx="3255264" cy="155448"/>
          </a:xfrm>
          <a:prstGeom prst="roundRect">
            <a:avLst>
              <a:gd name="adj" fmla="val 35294"/>
            </a:avLst>
          </a:prstGeom>
          <a:solidFill>
            <a:srgbClr val="C2453D"/>
          </a:solidFill>
          <a:ln w="12700">
            <a:solidFill>
              <a:srgbClr val="C2453D"/>
            </a:solidFill>
            <a:prstDash val="solid"/>
          </a:ln>
        </p:spPr>
      </p:sp>
      <p:sp>
        <p:nvSpPr>
          <p:cNvPr id="15" name="Text 13"/>
          <p:cNvSpPr/>
          <p:nvPr/>
        </p:nvSpPr>
        <p:spPr>
          <a:xfrm>
            <a:off x="841248" y="4663440"/>
            <a:ext cx="2743200" cy="219456"/>
          </a:xfrm>
          <a:prstGeom prst="rect">
            <a:avLst/>
          </a:prstGeom>
          <a:noFill/>
          <a:ln/>
        </p:spPr>
        <p:txBody>
          <a:bodyPr wrap="square" lIns="0" tIns="0" rIns="0" bIns="0" rtlCol="0" anchor="ctr"/>
          <a:lstStyle/>
          <a:p>
            <a:pPr indent="0" marL="0">
              <a:buNone/>
            </a:pPr>
            <a:r>
              <a:rPr lang="en-US" sz="1150" dirty="0">
                <a:solidFill>
                  <a:srgbClr val="B9CFD3"/>
                </a:solidFill>
                <a:latin typeface="Calibri" pitchFamily="34" charset="0"/>
                <a:ea typeface="Calibri" pitchFamily="34" charset="-122"/>
                <a:cs typeface="Calibri" pitchFamily="34" charset="-120"/>
              </a:rPr>
              <a:t>Cardiovascular risk</a:t>
            </a:r>
            <a:endParaRPr lang="en-US" sz="1150" dirty="0"/>
          </a:p>
        </p:txBody>
      </p:sp>
      <p:sp>
        <p:nvSpPr>
          <p:cNvPr id="16" name="Text 14"/>
          <p:cNvSpPr/>
          <p:nvPr/>
        </p:nvSpPr>
        <p:spPr>
          <a:xfrm>
            <a:off x="4114800" y="4663440"/>
            <a:ext cx="1280160" cy="219456"/>
          </a:xfrm>
          <a:prstGeom prst="rect">
            <a:avLst/>
          </a:prstGeom>
          <a:noFill/>
          <a:ln/>
        </p:spPr>
        <p:txBody>
          <a:bodyPr wrap="square" lIns="0" tIns="0" rIns="0" bIns="0" rtlCol="0" anchor="ctr"/>
          <a:lstStyle/>
          <a:p>
            <a:pPr algn="r" indent="0" marL="0">
              <a:buNone/>
            </a:pPr>
            <a:r>
              <a:rPr lang="en-US" sz="1200" b="1" dirty="0">
                <a:solidFill>
                  <a:srgbClr val="FFFFFF"/>
                </a:solidFill>
                <a:latin typeface="Calibri" pitchFamily="34" charset="0"/>
                <a:ea typeface="Calibri" pitchFamily="34" charset="-122"/>
                <a:cs typeface="Calibri" pitchFamily="34" charset="-120"/>
              </a:rPr>
              <a:t>47.1%</a:t>
            </a:r>
            <a:endParaRPr lang="en-US" sz="1200" dirty="0"/>
          </a:p>
        </p:txBody>
      </p:sp>
      <p:sp>
        <p:nvSpPr>
          <p:cNvPr id="17" name="Shape 15"/>
          <p:cNvSpPr/>
          <p:nvPr/>
        </p:nvSpPr>
        <p:spPr>
          <a:xfrm>
            <a:off x="841248" y="4919472"/>
            <a:ext cx="4572000" cy="155448"/>
          </a:xfrm>
          <a:prstGeom prst="roundRect">
            <a:avLst>
              <a:gd name="adj" fmla="val 35294"/>
            </a:avLst>
          </a:prstGeom>
          <a:solidFill>
            <a:srgbClr val="23505B"/>
          </a:solidFill>
          <a:ln w="12700">
            <a:solidFill>
              <a:srgbClr val="23505B"/>
            </a:solidFill>
            <a:prstDash val="solid"/>
          </a:ln>
        </p:spPr>
      </p:sp>
      <p:sp>
        <p:nvSpPr>
          <p:cNvPr id="18" name="Shape 16"/>
          <p:cNvSpPr/>
          <p:nvPr/>
        </p:nvSpPr>
        <p:spPr>
          <a:xfrm>
            <a:off x="841248" y="4919472"/>
            <a:ext cx="2153412" cy="155448"/>
          </a:xfrm>
          <a:prstGeom prst="roundRect">
            <a:avLst>
              <a:gd name="adj" fmla="val 35294"/>
            </a:avLst>
          </a:prstGeom>
          <a:solidFill>
            <a:srgbClr val="E9B949"/>
          </a:solidFill>
          <a:ln w="12700">
            <a:solidFill>
              <a:srgbClr val="E9B949"/>
            </a:solidFill>
            <a:prstDash val="solid"/>
          </a:ln>
        </p:spPr>
      </p:sp>
      <p:sp>
        <p:nvSpPr>
          <p:cNvPr id="19" name="Shape 17"/>
          <p:cNvSpPr/>
          <p:nvPr/>
        </p:nvSpPr>
        <p:spPr>
          <a:xfrm>
            <a:off x="6053328" y="1444752"/>
            <a:ext cx="237744" cy="237744"/>
          </a:xfrm>
          <a:prstGeom prst="ellipse">
            <a:avLst/>
          </a:prstGeom>
          <a:solidFill>
            <a:srgbClr val="3FA34D"/>
          </a:solidFill>
          <a:ln w="12700">
            <a:solidFill>
              <a:srgbClr val="3FA34D"/>
            </a:solidFill>
            <a:prstDash val="solid"/>
          </a:ln>
        </p:spPr>
      </p:sp>
      <p:sp>
        <p:nvSpPr>
          <p:cNvPr id="20" name="Text 18"/>
          <p:cNvSpPr/>
          <p:nvPr/>
        </p:nvSpPr>
        <p:spPr>
          <a:xfrm>
            <a:off x="6446520" y="1389888"/>
            <a:ext cx="5184648" cy="274320"/>
          </a:xfrm>
          <a:prstGeom prst="rect">
            <a:avLst/>
          </a:prstGeom>
          <a:noFill/>
          <a:ln/>
        </p:spPr>
        <p:txBody>
          <a:bodyPr wrap="square" lIns="0" tIns="0" rIns="0" bIns="0" rtlCol="0" anchor="ctr"/>
          <a:lstStyle/>
          <a:p>
            <a:pPr indent="0" marL="0">
              <a:buNone/>
            </a:pPr>
            <a:r>
              <a:rPr lang="en-US" sz="1500" b="1" dirty="0">
                <a:solidFill>
                  <a:srgbClr val="13272E"/>
                </a:solidFill>
                <a:latin typeface="Calibri" pitchFamily="34" charset="0"/>
                <a:ea typeface="Calibri" pitchFamily="34" charset="-122"/>
                <a:cs typeface="Calibri" pitchFamily="34" charset="-120"/>
              </a:rPr>
              <a:t>Full pipeline working</a:t>
            </a:r>
            <a:endParaRPr lang="en-US" sz="1500" dirty="0"/>
          </a:p>
        </p:txBody>
      </p:sp>
      <p:sp>
        <p:nvSpPr>
          <p:cNvPr id="21" name="Text 19"/>
          <p:cNvSpPr/>
          <p:nvPr/>
        </p:nvSpPr>
        <p:spPr>
          <a:xfrm>
            <a:off x="6446520" y="1673352"/>
            <a:ext cx="5184648" cy="548640"/>
          </a:xfrm>
          <a:prstGeom prst="rect">
            <a:avLst/>
          </a:prstGeom>
          <a:noFill/>
          <a:ln/>
        </p:spPr>
        <p:txBody>
          <a:bodyPr wrap="square" lIns="0" tIns="0" rIns="0" bIns="0" rtlCol="0" anchor="ctr"/>
          <a:lstStyle/>
          <a:p>
            <a:pPr indent="0" marL="0">
              <a:lnSpc>
                <a:spcPts val="1700"/>
              </a:lnSpc>
              <a:buNone/>
            </a:pPr>
            <a:r>
              <a:rPr lang="en-US" sz="1250" dirty="0">
                <a:solidFill>
                  <a:srgbClr val="5B7178"/>
                </a:solidFill>
                <a:latin typeface="Calibri" pitchFamily="34" charset="0"/>
                <a:ea typeface="Calibri" pitchFamily="34" charset="-122"/>
                <a:cs typeface="Calibri" pitchFamily="34" charset="-120"/>
              </a:rPr>
              <a:t>GPS fix, live weather and AQI, backend inference and UI update all run in a single tap.</a:t>
            </a:r>
            <a:endParaRPr lang="en-US" sz="1250" dirty="0"/>
          </a:p>
        </p:txBody>
      </p:sp>
      <p:sp>
        <p:nvSpPr>
          <p:cNvPr id="22" name="Shape 20"/>
          <p:cNvSpPr/>
          <p:nvPr/>
        </p:nvSpPr>
        <p:spPr>
          <a:xfrm>
            <a:off x="6053328" y="2359152"/>
            <a:ext cx="237744" cy="237744"/>
          </a:xfrm>
          <a:prstGeom prst="ellipse">
            <a:avLst/>
          </a:prstGeom>
          <a:solidFill>
            <a:srgbClr val="E9B949"/>
          </a:solidFill>
          <a:ln w="12700">
            <a:solidFill>
              <a:srgbClr val="E9B949"/>
            </a:solidFill>
            <a:prstDash val="solid"/>
          </a:ln>
        </p:spPr>
      </p:sp>
      <p:sp>
        <p:nvSpPr>
          <p:cNvPr id="23" name="Text 21"/>
          <p:cNvSpPr/>
          <p:nvPr/>
        </p:nvSpPr>
        <p:spPr>
          <a:xfrm>
            <a:off x="6446520" y="2304288"/>
            <a:ext cx="5184648" cy="274320"/>
          </a:xfrm>
          <a:prstGeom prst="rect">
            <a:avLst/>
          </a:prstGeom>
          <a:noFill/>
          <a:ln/>
        </p:spPr>
        <p:txBody>
          <a:bodyPr wrap="square" lIns="0" tIns="0" rIns="0" bIns="0" rtlCol="0" anchor="ctr"/>
          <a:lstStyle/>
          <a:p>
            <a:pPr indent="0" marL="0">
              <a:buNone/>
            </a:pPr>
            <a:r>
              <a:rPr lang="en-US" sz="1500" b="1" dirty="0">
                <a:solidFill>
                  <a:srgbClr val="13272E"/>
                </a:solidFill>
                <a:latin typeface="Calibri" pitchFamily="34" charset="0"/>
                <a:ea typeface="Calibri" pitchFamily="34" charset="-122"/>
                <a:cs typeface="Calibri" pitchFamily="34" charset="-120"/>
              </a:rPr>
              <a:t>Dual risk output</a:t>
            </a:r>
            <a:endParaRPr lang="en-US" sz="1500" dirty="0"/>
          </a:p>
        </p:txBody>
      </p:sp>
      <p:sp>
        <p:nvSpPr>
          <p:cNvPr id="24" name="Text 22"/>
          <p:cNvSpPr/>
          <p:nvPr/>
        </p:nvSpPr>
        <p:spPr>
          <a:xfrm>
            <a:off x="6446520" y="2587752"/>
            <a:ext cx="5184648" cy="548640"/>
          </a:xfrm>
          <a:prstGeom prst="rect">
            <a:avLst/>
          </a:prstGeom>
          <a:noFill/>
          <a:ln/>
        </p:spPr>
        <p:txBody>
          <a:bodyPr wrap="square" lIns="0" tIns="0" rIns="0" bIns="0" rtlCol="0" anchor="ctr"/>
          <a:lstStyle/>
          <a:p>
            <a:pPr indent="0" marL="0">
              <a:lnSpc>
                <a:spcPts val="1700"/>
              </a:lnSpc>
              <a:buNone/>
            </a:pPr>
            <a:r>
              <a:rPr lang="en-US" sz="1250" dirty="0">
                <a:solidFill>
                  <a:srgbClr val="5B7178"/>
                </a:solidFill>
                <a:latin typeface="Calibri" pitchFamily="34" charset="0"/>
                <a:ea typeface="Calibri" pitchFamily="34" charset="-122"/>
                <a:cs typeface="Calibri" pitchFamily="34" charset="-120"/>
              </a:rPr>
              <a:t>Respiratory and cardiovascular risk returned separately from one model, one request.</a:t>
            </a:r>
            <a:endParaRPr lang="en-US" sz="1250" dirty="0"/>
          </a:p>
        </p:txBody>
      </p:sp>
      <p:sp>
        <p:nvSpPr>
          <p:cNvPr id="25" name="Shape 23"/>
          <p:cNvSpPr/>
          <p:nvPr/>
        </p:nvSpPr>
        <p:spPr>
          <a:xfrm>
            <a:off x="6053328" y="3273552"/>
            <a:ext cx="237744" cy="237744"/>
          </a:xfrm>
          <a:prstGeom prst="ellipse">
            <a:avLst/>
          </a:prstGeom>
          <a:solidFill>
            <a:srgbClr val="E07B39"/>
          </a:solidFill>
          <a:ln w="12700">
            <a:solidFill>
              <a:srgbClr val="E07B39"/>
            </a:solidFill>
            <a:prstDash val="solid"/>
          </a:ln>
        </p:spPr>
      </p:sp>
      <p:sp>
        <p:nvSpPr>
          <p:cNvPr id="26" name="Text 24"/>
          <p:cNvSpPr/>
          <p:nvPr/>
        </p:nvSpPr>
        <p:spPr>
          <a:xfrm>
            <a:off x="6446520" y="3218688"/>
            <a:ext cx="5184648" cy="274320"/>
          </a:xfrm>
          <a:prstGeom prst="rect">
            <a:avLst/>
          </a:prstGeom>
          <a:noFill/>
          <a:ln/>
        </p:spPr>
        <p:txBody>
          <a:bodyPr wrap="square" lIns="0" tIns="0" rIns="0" bIns="0" rtlCol="0" anchor="ctr"/>
          <a:lstStyle/>
          <a:p>
            <a:pPr indent="0" marL="0">
              <a:buNone/>
            </a:pPr>
            <a:r>
              <a:rPr lang="en-US" sz="1500" b="1" dirty="0">
                <a:solidFill>
                  <a:srgbClr val="13272E"/>
                </a:solidFill>
                <a:latin typeface="Calibri" pitchFamily="34" charset="0"/>
                <a:ea typeface="Calibri" pitchFamily="34" charset="-122"/>
                <a:cs typeface="Calibri" pitchFamily="34" charset="-120"/>
              </a:rPr>
              <a:t>Real-time inference</a:t>
            </a:r>
            <a:endParaRPr lang="en-US" sz="1500" dirty="0"/>
          </a:p>
        </p:txBody>
      </p:sp>
      <p:sp>
        <p:nvSpPr>
          <p:cNvPr id="27" name="Text 25"/>
          <p:cNvSpPr/>
          <p:nvPr/>
        </p:nvSpPr>
        <p:spPr>
          <a:xfrm>
            <a:off x="6446520" y="3502152"/>
            <a:ext cx="5184648" cy="548640"/>
          </a:xfrm>
          <a:prstGeom prst="rect">
            <a:avLst/>
          </a:prstGeom>
          <a:noFill/>
          <a:ln/>
        </p:spPr>
        <p:txBody>
          <a:bodyPr wrap="square" lIns="0" tIns="0" rIns="0" bIns="0" rtlCol="0" anchor="ctr"/>
          <a:lstStyle/>
          <a:p>
            <a:pPr indent="0" marL="0">
              <a:lnSpc>
                <a:spcPts val="1700"/>
              </a:lnSpc>
              <a:buNone/>
            </a:pPr>
            <a:r>
              <a:rPr lang="en-US" sz="1250" dirty="0">
                <a:solidFill>
                  <a:srgbClr val="5B7178"/>
                </a:solidFill>
                <a:latin typeface="Calibri" pitchFamily="34" charset="0"/>
                <a:ea typeface="Calibri" pitchFamily="34" charset="-122"/>
                <a:cs typeface="Calibri" pitchFamily="34" charset="-120"/>
              </a:rPr>
              <a:t>Model and scaler held in memory — the endpoint responds without reloading either.</a:t>
            </a:r>
            <a:endParaRPr lang="en-US" sz="1250" dirty="0"/>
          </a:p>
        </p:txBody>
      </p:sp>
      <p:sp>
        <p:nvSpPr>
          <p:cNvPr id="28" name="Shape 26"/>
          <p:cNvSpPr/>
          <p:nvPr/>
        </p:nvSpPr>
        <p:spPr>
          <a:xfrm>
            <a:off x="6053328" y="4187952"/>
            <a:ext cx="237744" cy="237744"/>
          </a:xfrm>
          <a:prstGeom prst="ellipse">
            <a:avLst/>
          </a:prstGeom>
          <a:solidFill>
            <a:srgbClr val="C2453D"/>
          </a:solidFill>
          <a:ln w="12700">
            <a:solidFill>
              <a:srgbClr val="C2453D"/>
            </a:solidFill>
            <a:prstDash val="solid"/>
          </a:ln>
        </p:spPr>
      </p:sp>
      <p:sp>
        <p:nvSpPr>
          <p:cNvPr id="29" name="Text 27"/>
          <p:cNvSpPr/>
          <p:nvPr/>
        </p:nvSpPr>
        <p:spPr>
          <a:xfrm>
            <a:off x="6446520" y="4133088"/>
            <a:ext cx="5184648" cy="274320"/>
          </a:xfrm>
          <a:prstGeom prst="rect">
            <a:avLst/>
          </a:prstGeom>
          <a:noFill/>
          <a:ln/>
        </p:spPr>
        <p:txBody>
          <a:bodyPr wrap="square" lIns="0" tIns="0" rIns="0" bIns="0" rtlCol="0" anchor="ctr"/>
          <a:lstStyle/>
          <a:p>
            <a:pPr indent="0" marL="0">
              <a:buNone/>
            </a:pPr>
            <a:r>
              <a:rPr lang="en-US" sz="1500" b="1" dirty="0">
                <a:solidFill>
                  <a:srgbClr val="13272E"/>
                </a:solidFill>
                <a:latin typeface="Calibri" pitchFamily="34" charset="0"/>
                <a:ea typeface="Calibri" pitchFamily="34" charset="-122"/>
                <a:cs typeface="Calibri" pitchFamily="34" charset="-120"/>
              </a:rPr>
              <a:t>Reactive UI</a:t>
            </a:r>
            <a:endParaRPr lang="en-US" sz="1500" dirty="0"/>
          </a:p>
        </p:txBody>
      </p:sp>
      <p:sp>
        <p:nvSpPr>
          <p:cNvPr id="30" name="Text 28"/>
          <p:cNvSpPr/>
          <p:nvPr/>
        </p:nvSpPr>
        <p:spPr>
          <a:xfrm>
            <a:off x="6446520" y="4416552"/>
            <a:ext cx="5184648" cy="548640"/>
          </a:xfrm>
          <a:prstGeom prst="rect">
            <a:avLst/>
          </a:prstGeom>
          <a:noFill/>
          <a:ln/>
        </p:spPr>
        <p:txBody>
          <a:bodyPr wrap="square" lIns="0" tIns="0" rIns="0" bIns="0" rtlCol="0" anchor="ctr"/>
          <a:lstStyle/>
          <a:p>
            <a:pPr indent="0" marL="0">
              <a:lnSpc>
                <a:spcPts val="1700"/>
              </a:lnSpc>
              <a:buNone/>
            </a:pPr>
            <a:r>
              <a:rPr lang="en-US" sz="1250" dirty="0">
                <a:solidFill>
                  <a:srgbClr val="5B7178"/>
                </a:solidFill>
                <a:latin typeface="Calibri" pitchFamily="34" charset="0"/>
                <a:ea typeface="Calibri" pitchFamily="34" charset="-122"/>
                <a:cs typeface="Calibri" pitchFamily="34" charset="-120"/>
              </a:rPr>
              <a:t>Prediction, AQI and weather cards update independently as each data source resolves.</a:t>
            </a:r>
            <a:endParaRPr lang="en-US" sz="1250" dirty="0"/>
          </a:p>
        </p:txBody>
      </p:sp>
      <p:sp>
        <p:nvSpPr>
          <p:cNvPr id="31" name="Shape 29"/>
          <p:cNvSpPr/>
          <p:nvPr/>
        </p:nvSpPr>
        <p:spPr>
          <a:xfrm>
            <a:off x="6053328" y="5138928"/>
            <a:ext cx="5577840" cy="822960"/>
          </a:xfrm>
          <a:prstGeom prst="roundRect">
            <a:avLst>
              <a:gd name="adj" fmla="val 8889"/>
            </a:avLst>
          </a:prstGeom>
          <a:solidFill>
            <a:srgbClr val="F0F6F6"/>
          </a:solidFill>
          <a:ln w="12700">
            <a:solidFill>
              <a:srgbClr val="D8E5E5"/>
            </a:solidFill>
            <a:prstDash val="solid"/>
          </a:ln>
          <a:effectLst>
            <a:outerShdw sx="100000" sy="100000" kx="0" ky="0" algn="bl" rotWithShape="0" blurRad="101600" dist="25400" dir="5400000">
              <a:srgbClr val="0B2B33">
                <a:alpha val="7000"/>
              </a:srgbClr>
            </a:outerShdw>
          </a:effectLst>
        </p:spPr>
      </p:sp>
      <p:sp>
        <p:nvSpPr>
          <p:cNvPr id="32" name="Text 30"/>
          <p:cNvSpPr/>
          <p:nvPr/>
        </p:nvSpPr>
        <p:spPr>
          <a:xfrm>
            <a:off x="6309360" y="5349240"/>
            <a:ext cx="365760" cy="365760"/>
          </a:xfrm>
          <a:prstGeom prst="rect">
            <a:avLst/>
          </a:prstGeom>
          <a:noFill/>
          <a:ln/>
        </p:spPr>
        <p:txBody>
          <a:bodyPr wrap="square" lIns="0" tIns="0" rIns="0" bIns="0" rtlCol="0" anchor="ctr"/>
          <a:lstStyle/>
          <a:p>
            <a:pPr indent="0" marL="0">
              <a:buNone/>
            </a:pPr>
            <a:r>
              <a:rPr lang="en-US" sz="1800" dirty="0">
                <a:solidFill>
                  <a:srgbClr val="028090"/>
                </a:solidFill>
                <a:latin typeface="Calibri" pitchFamily="34" charset="0"/>
                <a:ea typeface="Calibri" pitchFamily="34" charset="-122"/>
                <a:cs typeface="Calibri" pitchFamily="34" charset="-120"/>
              </a:rPr>
              <a:t>▶</a:t>
            </a:r>
            <a:endParaRPr lang="en-US" sz="1800" dirty="0"/>
          </a:p>
        </p:txBody>
      </p:sp>
      <p:sp>
        <p:nvSpPr>
          <p:cNvPr id="33" name="Text 31"/>
          <p:cNvSpPr/>
          <p:nvPr/>
        </p:nvSpPr>
        <p:spPr>
          <a:xfrm>
            <a:off x="6766560" y="5285232"/>
            <a:ext cx="4663440" cy="566928"/>
          </a:xfrm>
          <a:prstGeom prst="rect">
            <a:avLst/>
          </a:prstGeom>
          <a:noFill/>
          <a:ln/>
        </p:spPr>
        <p:txBody>
          <a:bodyPr wrap="square" lIns="0" tIns="0" rIns="0" bIns="0" rtlCol="0" anchor="ctr"/>
          <a:lstStyle/>
          <a:p>
            <a:pPr indent="0" marL="0">
              <a:lnSpc>
                <a:spcPts val="1600"/>
              </a:lnSpc>
              <a:buNone/>
            </a:pPr>
            <a:r>
              <a:rPr lang="en-US" sz="1200" b="1" dirty="0">
                <a:solidFill>
                  <a:srgbClr val="13272E"/>
                </a:solidFill>
                <a:latin typeface="Calibri" pitchFamily="34" charset="0"/>
                <a:ea typeface="Calibri" pitchFamily="34" charset="-122"/>
                <a:cs typeface="Calibri" pitchFamily="34" charset="-120"/>
              </a:rPr>
              <a:t>Demo video</a:t>
            </a:r>
            <a:endParaRPr lang="en-US" sz="1200" dirty="0"/>
          </a:p>
          <a:p>
            <a:pPr indent="0" marL="0">
              <a:lnSpc>
                <a:spcPts val="1600"/>
              </a:lnSpc>
              <a:buNone/>
            </a:pPr>
            <a:r>
              <a:rPr lang="en-US" sz="1200" dirty="0">
                <a:solidFill>
                  <a:srgbClr val="5B7178"/>
                </a:solidFill>
                <a:latin typeface="Calibri" pitchFamily="34" charset="0"/>
                <a:ea typeface="Calibri" pitchFamily="34" charset="-122"/>
                <a:cs typeface="Calibri" pitchFamily="34" charset="-120"/>
              </a:rPr>
              <a:t>Full walkthrough of the working prototype — /demo in the project repository.</a:t>
            </a:r>
            <a:endParaRPr lang="en-US" sz="1200" dirty="0"/>
          </a:p>
        </p:txBody>
      </p:sp>
      <p:sp>
        <p:nvSpPr>
          <p:cNvPr id="34" name="Text 32"/>
          <p:cNvSpPr/>
          <p:nvPr/>
        </p:nvSpPr>
        <p:spPr>
          <a:xfrm>
            <a:off x="11292840" y="6263640"/>
            <a:ext cx="457200" cy="274320"/>
          </a:xfrm>
          <a:prstGeom prst="rect">
            <a:avLst/>
          </a:prstGeom>
          <a:noFill/>
          <a:ln/>
        </p:spPr>
        <p:txBody>
          <a:bodyPr wrap="square" lIns="0" tIns="0" rIns="0" bIns="0" rtlCol="0" anchor="ctr"/>
          <a:lstStyle/>
          <a:p>
            <a:pPr algn="r" indent="0" marL="0">
              <a:buNone/>
            </a:pPr>
            <a:r>
              <a:rPr lang="en-US" sz="1000" dirty="0">
                <a:solidFill>
                  <a:srgbClr val="5B7178"/>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29184"/>
            <a:ext cx="8412480" cy="566928"/>
          </a:xfrm>
          <a:prstGeom prst="rect">
            <a:avLst/>
          </a:prstGeom>
          <a:noFill/>
          <a:ln/>
        </p:spPr>
        <p:txBody>
          <a:bodyPr wrap="square" lIns="0" tIns="0" rIns="0" bIns="0" rtlCol="0" anchor="ctr"/>
          <a:lstStyle/>
          <a:p>
            <a:pPr algn="l" indent="0" marL="0">
              <a:buNone/>
            </a:pPr>
            <a:r>
              <a:rPr lang="en-US" sz="3400" b="1" dirty="0">
                <a:solidFill>
                  <a:srgbClr val="13272E"/>
                </a:solidFill>
                <a:latin typeface="Cambria" pitchFamily="34" charset="0"/>
                <a:ea typeface="Cambria" pitchFamily="34" charset="-122"/>
                <a:cs typeface="Cambria" pitchFamily="34" charset="-120"/>
              </a:rPr>
              <a:t>Compared with Existing Solutions</a:t>
            </a:r>
            <a:endParaRPr lang="en-US" sz="3400" dirty="0"/>
          </a:p>
        </p:txBody>
      </p:sp>
      <p:sp>
        <p:nvSpPr>
          <p:cNvPr id="3" name="Text 1"/>
          <p:cNvSpPr/>
          <p:nvPr/>
        </p:nvSpPr>
        <p:spPr>
          <a:xfrm>
            <a:off x="585216" y="914400"/>
            <a:ext cx="10058400" cy="274320"/>
          </a:xfrm>
          <a:prstGeom prst="rect">
            <a:avLst/>
          </a:prstGeom>
          <a:noFill/>
          <a:ln/>
        </p:spPr>
        <p:txBody>
          <a:bodyPr wrap="square" lIns="0" tIns="0" rIns="0" bIns="0" rtlCol="0" anchor="ctr"/>
          <a:lstStyle/>
          <a:p>
            <a:pPr indent="0" marL="0">
              <a:buNone/>
            </a:pPr>
            <a:r>
              <a:rPr lang="en-US" sz="1300" i="1" dirty="0">
                <a:solidFill>
                  <a:srgbClr val="028090"/>
                </a:solidFill>
                <a:latin typeface="Calibri" pitchFamily="34" charset="0"/>
                <a:ea typeface="Calibri" pitchFamily="34" charset="-122"/>
                <a:cs typeface="Calibri" pitchFamily="34" charset="-120"/>
              </a:rPr>
              <a:t>Where HealthGuardAI sits against the tools people use today</a:t>
            </a:r>
            <a:endParaRPr lang="en-US" sz="1300" dirty="0"/>
          </a:p>
        </p:txBody>
      </p:sp>
      <p:sp>
        <p:nvSpPr>
          <p:cNvPr id="4" name="Shape 2"/>
          <p:cNvSpPr/>
          <p:nvPr/>
        </p:nvSpPr>
        <p:spPr>
          <a:xfrm>
            <a:off x="585216" y="118872"/>
            <a:ext cx="100584" cy="100584"/>
          </a:xfrm>
          <a:prstGeom prst="ellipse">
            <a:avLst/>
          </a:prstGeom>
          <a:solidFill>
            <a:srgbClr val="3FA34D"/>
          </a:solidFill>
          <a:ln w="12700">
            <a:solidFill>
              <a:srgbClr val="3FA34D"/>
            </a:solidFill>
            <a:prstDash val="solid"/>
          </a:ln>
        </p:spPr>
      </p:sp>
      <p:sp>
        <p:nvSpPr>
          <p:cNvPr id="5" name="Shape 3"/>
          <p:cNvSpPr/>
          <p:nvPr/>
        </p:nvSpPr>
        <p:spPr>
          <a:xfrm>
            <a:off x="749808" y="118872"/>
            <a:ext cx="100584" cy="100584"/>
          </a:xfrm>
          <a:prstGeom prst="ellipse">
            <a:avLst/>
          </a:prstGeom>
          <a:solidFill>
            <a:srgbClr val="E9B949"/>
          </a:solidFill>
          <a:ln w="12700">
            <a:solidFill>
              <a:srgbClr val="E9B949"/>
            </a:solidFill>
            <a:prstDash val="solid"/>
          </a:ln>
        </p:spPr>
      </p:sp>
      <p:sp>
        <p:nvSpPr>
          <p:cNvPr id="6" name="Shape 4"/>
          <p:cNvSpPr/>
          <p:nvPr/>
        </p:nvSpPr>
        <p:spPr>
          <a:xfrm>
            <a:off x="914400" y="118872"/>
            <a:ext cx="100584" cy="100584"/>
          </a:xfrm>
          <a:prstGeom prst="ellipse">
            <a:avLst/>
          </a:prstGeom>
          <a:solidFill>
            <a:srgbClr val="E07B39"/>
          </a:solidFill>
          <a:ln w="12700">
            <a:solidFill>
              <a:srgbClr val="E07B39"/>
            </a:solidFill>
            <a:prstDash val="solid"/>
          </a:ln>
        </p:spPr>
      </p:sp>
      <p:sp>
        <p:nvSpPr>
          <p:cNvPr id="7" name="Shape 5"/>
          <p:cNvSpPr/>
          <p:nvPr/>
        </p:nvSpPr>
        <p:spPr>
          <a:xfrm>
            <a:off x="1078992" y="118872"/>
            <a:ext cx="100584" cy="100584"/>
          </a:xfrm>
          <a:prstGeom prst="ellipse">
            <a:avLst/>
          </a:prstGeom>
          <a:solidFill>
            <a:srgbClr val="C2453D"/>
          </a:solidFill>
          <a:ln w="12700">
            <a:solidFill>
              <a:srgbClr val="C2453D"/>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1417320"/>
          <a:ext cx="11064240" cy="914400"/>
        </p:xfrm>
        <a:graphic>
          <a:graphicData uri="http://schemas.openxmlformats.org/drawingml/2006/table">
            <a:tbl>
              <a:tblPr/>
              <a:tblGrid>
                <a:gridCol w="4480560"/>
                <a:gridCol w="1554480"/>
                <a:gridCol w="1645920"/>
                <a:gridCol w="1737360"/>
                <a:gridCol w="1645920"/>
              </a:tblGrid>
              <a:tr h="40233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Capability</a:t>
                      </a:r>
                      <a:endParaRPr lang="en-US" sz="1250" dirty="0">
                        <a:latin typeface="Calibri" charset="0"/>
                        <a:ea typeface="Calibri" charset="0"/>
                        <a:cs typeface="Calibri" charset="0"/>
                      </a:endParaRPr>
                    </a:p>
                  </a:txBody>
                  <a:tcPr marL="101600" marR="101600" marT="50800" marB="50800" anchor="ctr">
                    <a:lnL w="12700" cap="flat" cmpd="sng" algn="ctr">
                      <a:solidFill>
                        <a:srgbClr val="D8E5E5"/>
                      </a:solidFill>
                      <a:prstDash val="solid"/>
                      <a:round/>
                      <a:headEnd type="none" w="med" len="med"/>
                      <a:tailEnd type="none" w="med" len="med"/>
                    </a:lnL>
                    <a:lnR w="12700" cap="flat" cmpd="sng" algn="ctr">
                      <a:solidFill>
                        <a:srgbClr val="D8E5E5"/>
                      </a:solidFill>
                      <a:prstDash val="solid"/>
                      <a:round/>
                      <a:headEnd type="none" w="med" len="med"/>
                      <a:tailEnd type="none" w="med" len="med"/>
                    </a:lnR>
                    <a:lnT w="12700" cap="flat" cmpd="sng" algn="ctr">
                      <a:solidFill>
                        <a:srgbClr val="D8E5E5"/>
                      </a:solidFill>
                      <a:prstDash val="solid"/>
                      <a:round/>
                      <a:headEnd type="none" w="med" len="med"/>
                      <a:tailEnd type="none" w="med" len="med"/>
                    </a:lnT>
                    <a:lnB w="12700" cap="flat" cmpd="sng" algn="ctr">
                      <a:solidFill>
                        <a:srgbClr val="D8E5E5"/>
                      </a:solidFill>
                      <a:prstDash val="solid"/>
                      <a:round/>
                      <a:headEnd type="none" w="med" len="med"/>
                      <a:tailEnd type="none" w="med" len="med"/>
                    </a:lnB>
                    <a:solidFill>
                      <a:srgbClr val="0B2B33"/>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AQI apps</a:t>
                      </a:r>
                      <a:endParaRPr lang="en-US" sz="1250" dirty="0">
                        <a:latin typeface="Calibri" charset="0"/>
                        <a:ea typeface="Calibri" charset="0"/>
                        <a:cs typeface="Calibri" charset="0"/>
                      </a:endParaRPr>
                    </a:p>
                  </a:txBody>
                  <a:tcPr marL="101600" marR="101600" marT="50800" marB="50800" anchor="ctr">
                    <a:lnL w="12700" cap="flat" cmpd="sng" algn="ctr">
                      <a:solidFill>
                        <a:srgbClr val="D8E5E5"/>
                      </a:solidFill>
                      <a:prstDash val="solid"/>
                      <a:round/>
                      <a:headEnd type="none" w="med" len="med"/>
                      <a:tailEnd type="none" w="med" len="med"/>
                    </a:lnL>
                    <a:lnR w="12700" cap="flat" cmpd="sng" algn="ctr">
                      <a:solidFill>
                        <a:srgbClr val="D8E5E5"/>
                      </a:solidFill>
                      <a:prstDash val="solid"/>
                      <a:round/>
                      <a:headEnd type="none" w="med" len="med"/>
                      <a:tailEnd type="none" w="med" len="med"/>
                    </a:lnR>
                    <a:lnT w="12700" cap="flat" cmpd="sng" algn="ctr">
                      <a:solidFill>
                        <a:srgbClr val="D8E5E5"/>
                      </a:solidFill>
                      <a:prstDash val="solid"/>
                      <a:round/>
                      <a:headEnd type="none" w="med" len="med"/>
                      <a:tailEnd type="none" w="med" len="med"/>
                    </a:lnT>
                    <a:lnB w="12700" cap="flat" cmpd="sng" algn="ctr">
                      <a:solidFill>
                        <a:srgbClr val="D8E5E5"/>
                      </a:solidFill>
                      <a:prstDash val="solid"/>
                      <a:round/>
                      <a:headEnd type="none" w="med" len="med"/>
                      <a:tailEnd type="none" w="med" len="med"/>
                    </a:lnB>
                    <a:solidFill>
                      <a:srgbClr val="0B2B33"/>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Weather apps</a:t>
                      </a:r>
                      <a:endParaRPr lang="en-US" sz="1250" dirty="0">
                        <a:latin typeface="Calibri" charset="0"/>
                        <a:ea typeface="Calibri" charset="0"/>
                        <a:cs typeface="Calibri" charset="0"/>
                      </a:endParaRPr>
                    </a:p>
                  </a:txBody>
                  <a:tcPr marL="101600" marR="101600" marT="50800" marB="50800" anchor="ctr">
                    <a:lnL w="12700" cap="flat" cmpd="sng" algn="ctr">
                      <a:solidFill>
                        <a:srgbClr val="D8E5E5"/>
                      </a:solidFill>
                      <a:prstDash val="solid"/>
                      <a:round/>
                      <a:headEnd type="none" w="med" len="med"/>
                      <a:tailEnd type="none" w="med" len="med"/>
                    </a:lnL>
                    <a:lnR w="12700" cap="flat" cmpd="sng" algn="ctr">
                      <a:solidFill>
                        <a:srgbClr val="D8E5E5"/>
                      </a:solidFill>
                      <a:prstDash val="solid"/>
                      <a:round/>
                      <a:headEnd type="none" w="med" len="med"/>
                      <a:tailEnd type="none" w="med" len="med"/>
                    </a:lnR>
                    <a:lnT w="12700" cap="flat" cmpd="sng" algn="ctr">
                      <a:solidFill>
                        <a:srgbClr val="D8E5E5"/>
                      </a:solidFill>
                      <a:prstDash val="solid"/>
                      <a:round/>
                      <a:headEnd type="none" w="med" len="med"/>
                      <a:tailEnd type="none" w="med" len="med"/>
                    </a:lnT>
                    <a:lnB w="12700" cap="flat" cmpd="sng" algn="ctr">
                      <a:solidFill>
                        <a:srgbClr val="D8E5E5"/>
                      </a:solidFill>
                      <a:prstDash val="solid"/>
                      <a:round/>
                      <a:headEnd type="none" w="med" len="med"/>
                      <a:tailEnd type="none" w="med" len="med"/>
                    </a:lnB>
                    <a:solidFill>
                      <a:srgbClr val="0B2B33"/>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Clinical systems</a:t>
                      </a:r>
                      <a:endParaRPr lang="en-US" sz="1250" dirty="0">
                        <a:latin typeface="Calibri" charset="0"/>
                        <a:ea typeface="Calibri" charset="0"/>
                        <a:cs typeface="Calibri" charset="0"/>
                      </a:endParaRPr>
                    </a:p>
                  </a:txBody>
                  <a:tcPr marL="101600" marR="101600" marT="50800" marB="50800" anchor="ctr">
                    <a:lnL w="12700" cap="flat" cmpd="sng" algn="ctr">
                      <a:solidFill>
                        <a:srgbClr val="D8E5E5"/>
                      </a:solidFill>
                      <a:prstDash val="solid"/>
                      <a:round/>
                      <a:headEnd type="none" w="med" len="med"/>
                      <a:tailEnd type="none" w="med" len="med"/>
                    </a:lnL>
                    <a:lnR w="12700" cap="flat" cmpd="sng" algn="ctr">
                      <a:solidFill>
                        <a:srgbClr val="D8E5E5"/>
                      </a:solidFill>
                      <a:prstDash val="solid"/>
                      <a:round/>
                      <a:headEnd type="none" w="med" len="med"/>
                      <a:tailEnd type="none" w="med" len="med"/>
                    </a:lnR>
                    <a:lnT w="12700" cap="flat" cmpd="sng" algn="ctr">
                      <a:solidFill>
                        <a:srgbClr val="D8E5E5"/>
                      </a:solidFill>
                      <a:prstDash val="solid"/>
                      <a:round/>
                      <a:headEnd type="none" w="med" len="med"/>
                      <a:tailEnd type="none" w="med" len="med"/>
                    </a:lnT>
                    <a:lnB w="12700" cap="flat" cmpd="sng" algn="ctr">
                      <a:solidFill>
                        <a:srgbClr val="D8E5E5"/>
                      </a:solidFill>
                      <a:prstDash val="solid"/>
                      <a:round/>
                      <a:headEnd type="none" w="med" len="med"/>
                      <a:tailEnd type="none" w="med" len="med"/>
                    </a:lnB>
                    <a:solidFill>
                      <a:srgbClr val="0B2B33"/>
                    </a:solidFill>
                  </a:tcPr>
                </a:tc>
                <a:tc>
                  <a:txBody>
                    <a:bodyPr/>
                    <a:lstStyle/>
                    <a:p>
                      <a:pPr algn="ctr" indent="0" marL="0">
                        <a:buNone/>
                      </a:pPr>
                      <a:r>
                        <a:rPr lang="en-US" sz="1250" b="1" dirty="0">
                          <a:solidFill>
                            <a:srgbClr val="0B2B33"/>
                          </a:solidFill>
                          <a:latin typeface="Calibri" pitchFamily="34" charset="0"/>
                          <a:ea typeface="Calibri" pitchFamily="34" charset="-122"/>
                          <a:cs typeface="Calibri" pitchFamily="34" charset="-120"/>
                        </a:rPr>
                        <a:t>HealthGuardAI</a:t>
                      </a:r>
                      <a:endParaRPr lang="en-US" sz="1250" dirty="0">
                        <a:latin typeface="Calibri" charset="0"/>
                        <a:ea typeface="Calibri" charset="0"/>
                        <a:cs typeface="Calibri" charset="0"/>
                      </a:endParaRPr>
                    </a:p>
                  </a:txBody>
                  <a:tcPr marL="101600" marR="101600" marT="50800" marB="50800" anchor="ctr">
                    <a:lnL w="12700" cap="flat" cmpd="sng" algn="ctr">
                      <a:solidFill>
                        <a:srgbClr val="D8E5E5"/>
                      </a:solidFill>
                      <a:prstDash val="solid"/>
                      <a:round/>
                      <a:headEnd type="none" w="med" len="med"/>
                      <a:tailEnd type="none" w="med" len="med"/>
                    </a:lnL>
                    <a:lnR w="12700" cap="flat" cmpd="sng" algn="ctr">
                      <a:solidFill>
                        <a:srgbClr val="D8E5E5"/>
                      </a:solidFill>
                      <a:prstDash val="solid"/>
                      <a:round/>
                      <a:headEnd type="none" w="med" len="med"/>
                      <a:tailEnd type="none" w="med" len="med"/>
                    </a:lnR>
                    <a:lnT w="12700" cap="flat" cmpd="sng" algn="ctr">
                      <a:solidFill>
                        <a:srgbClr val="D8E5E5"/>
                      </a:solidFill>
                      <a:prstDash val="solid"/>
                      <a:round/>
                      <a:headEnd type="none" w="med" len="med"/>
                      <a:tailEnd type="none" w="med" len="med"/>
                    </a:lnT>
                    <a:lnB w="12700" cap="flat" cmpd="sng" algn="ctr">
                      <a:solidFill>
                        <a:srgbClr val="D8E5E5"/>
                      </a:solidFill>
                      <a:prstDash val="solid"/>
                      <a:round/>
                      <a:headEnd type="none" w="med" len="med"/>
                      <a:tailEnd type="none" w="med" len="med"/>
                    </a:lnB>
                    <a:solidFill>
                      <a:srgbClr val="02C39A"/>
                    </a:solidFill>
                  </a:tcPr>
                </a:tc>
              </a:tr>
              <a:tr h="402336">
                <a:tc>
                  <a:txBody>
                    <a:bodyPr/>
                    <a:lstStyle/>
                    <a:p>
                      <a:pPr indent="0" marL="0">
                        <a:buNone/>
                      </a:pPr>
                      <a:r>
                        <a:rPr lang="en-US" sz="1250" dirty="0">
                          <a:solidFill>
                            <a:srgbClr val="13272E"/>
                          </a:solidFill>
                          <a:latin typeface="Calibri" pitchFamily="34" charset="0"/>
                          <a:ea typeface="Calibri" pitchFamily="34" charset="-122"/>
                          <a:cs typeface="Calibri" pitchFamily="34" charset="-120"/>
                        </a:rPr>
                        <a:t>Live AQI for the user's exact location</a:t>
                      </a:r>
                      <a:endParaRPr lang="en-US" sz="1250" dirty="0">
                        <a:latin typeface="Calibri" charset="0"/>
                        <a:ea typeface="Calibri" charset="0"/>
                        <a:cs typeface="Calibri" charset="0"/>
                      </a:endParaRPr>
                    </a:p>
                  </a:txBody>
                  <a:tcPr marL="101600" marR="101600" marT="50800" marB="50800" anchor="ctr">
                    <a:lnL w="12700" cap="flat" cmpd="sng" algn="ctr">
                      <a:solidFill>
                        <a:srgbClr val="D8E5E5"/>
                      </a:solidFill>
                      <a:prstDash val="solid"/>
                      <a:round/>
                      <a:headEnd type="none" w="med" len="med"/>
                      <a:tailEnd type="none" w="med" len="med"/>
                    </a:lnL>
                    <a:lnR w="12700" cap="flat" cmpd="sng" algn="ctr">
                      <a:solidFill>
                        <a:srgbClr val="D8E5E5"/>
                      </a:solidFill>
                      <a:prstDash val="solid"/>
                      <a:round/>
                      <a:headEnd type="none" w="med" len="med"/>
                      <a:tailEnd type="none" w="med" len="med"/>
                    </a:lnR>
                    <a:lnT w="12700" cap="flat" cmpd="sng" algn="ctr">
                      <a:solidFill>
                        <a:srgbClr val="D8E5E5"/>
                      </a:solidFill>
                      <a:prstDash val="solid"/>
                      <a:round/>
                      <a:headEnd type="none" w="med" len="med"/>
                      <a:tailEnd type="none" w="med" len="med"/>
                    </a:lnT>
                    <a:lnB w="12700" cap="flat" cmpd="sng" algn="ctr">
                      <a:solidFill>
                        <a:srgbClr val="D8E5E5"/>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028090"/>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101600" marR="101600" marT="50800" marB="50800" anchor="ctr">
                    <a:lnL w="12700" cap="flat" cmpd="sng" algn="ctr">
                      <a:solidFill>
                        <a:srgbClr val="D8E5E5"/>
                      </a:solidFill>
                      <a:prstDash val="solid"/>
                      <a:round/>
                      <a:headEnd type="none" w="med" len="med"/>
                      <a:tailEnd type="none" w="med" len="med"/>
                    </a:lnL>
                    <a:lnR w="12700" cap="flat" cmpd="sng" algn="ctr">
                      <a:solidFill>
                        <a:srgbClr val="D8E5E5"/>
                      </a:solidFill>
                      <a:prstDash val="solid"/>
                      <a:round/>
                      <a:headEnd type="none" w="med" len="med"/>
                      <a:tailEnd type="none" w="med" len="med"/>
                    </a:lnR>
                    <a:lnT w="12700" cap="flat" cmpd="sng" algn="ctr">
                      <a:solidFill>
                        <a:srgbClr val="D8E5E5"/>
                      </a:solidFill>
                      <a:prstDash val="solid"/>
                      <a:round/>
                      <a:headEnd type="none" w="med" len="med"/>
                      <a:tailEnd type="none" w="med" len="med"/>
                    </a:lnT>
                    <a:lnB w="12700" cap="flat" cmpd="sng" algn="ctr">
                      <a:solidFill>
                        <a:srgbClr val="D8E5E5"/>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028090"/>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101600" marR="101600" marT="50800" marB="50800" anchor="ctr">
                    <a:lnL w="12700" cap="flat" cmpd="sng" algn="ctr">
                      <a:solidFill>
                        <a:srgbClr val="D8E5E5"/>
                      </a:solidFill>
                      <a:prstDash val="solid"/>
                      <a:round/>
                      <a:headEnd type="none" w="med" len="med"/>
                      <a:tailEnd type="none" w="med" len="med"/>
                    </a:lnL>
                    <a:lnR w="12700" cap="flat" cmpd="sng" algn="ctr">
                      <a:solidFill>
                        <a:srgbClr val="D8E5E5"/>
                      </a:solidFill>
                      <a:prstDash val="solid"/>
                      <a:round/>
                      <a:headEnd type="none" w="med" len="med"/>
                      <a:tailEnd type="none" w="med" len="med"/>
                    </a:lnR>
                    <a:lnT w="12700" cap="flat" cmpd="sng" algn="ctr">
                      <a:solidFill>
                        <a:srgbClr val="D8E5E5"/>
                      </a:solidFill>
                      <a:prstDash val="solid"/>
                      <a:round/>
                      <a:headEnd type="none" w="med" len="med"/>
                      <a:tailEnd type="none" w="med" len="med"/>
                    </a:lnT>
                    <a:lnB w="12700" cap="flat" cmpd="sng" algn="ctr">
                      <a:solidFill>
                        <a:srgbClr val="D8E5E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5B7178"/>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1600" marR="101600" marT="50800" marB="50800" anchor="ctr">
                    <a:lnL w="12700" cap="flat" cmpd="sng" algn="ctr">
                      <a:solidFill>
                        <a:srgbClr val="D8E5E5"/>
                      </a:solidFill>
                      <a:prstDash val="solid"/>
                      <a:round/>
                      <a:headEnd type="none" w="med" len="med"/>
                      <a:tailEnd type="none" w="med" len="med"/>
                    </a:lnL>
                    <a:lnR w="12700" cap="flat" cmpd="sng" algn="ctr">
                      <a:solidFill>
                        <a:srgbClr val="D8E5E5"/>
                      </a:solidFill>
                      <a:prstDash val="solid"/>
                      <a:round/>
                      <a:headEnd type="none" w="med" len="med"/>
                      <a:tailEnd type="none" w="med" len="med"/>
                    </a:lnR>
                    <a:lnT w="12700" cap="flat" cmpd="sng" algn="ctr">
                      <a:solidFill>
                        <a:srgbClr val="D8E5E5"/>
                      </a:solidFill>
                      <a:prstDash val="solid"/>
                      <a:round/>
                      <a:headEnd type="none" w="med" len="med"/>
                      <a:tailEnd type="none" w="med" len="med"/>
                    </a:lnT>
                    <a:lnB w="12700" cap="flat" cmpd="sng" algn="ctr">
                      <a:solidFill>
                        <a:srgbClr val="D8E5E5"/>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00A896"/>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101600" marR="101600" marT="50800" marB="50800" anchor="ctr">
                    <a:lnL w="12700" cap="flat" cmpd="sng" algn="ctr">
                      <a:solidFill>
                        <a:srgbClr val="D8E5E5"/>
                      </a:solidFill>
                      <a:prstDash val="solid"/>
                      <a:round/>
                      <a:headEnd type="none" w="med" len="med"/>
                      <a:tailEnd type="none" w="med" len="med"/>
                    </a:lnL>
                    <a:lnR w="12700" cap="flat" cmpd="sng" algn="ctr">
                      <a:solidFill>
                        <a:srgbClr val="D8E5E5"/>
                      </a:solidFill>
                      <a:prstDash val="solid"/>
                      <a:round/>
                      <a:headEnd type="none" w="med" len="med"/>
                      <a:tailEnd type="none" w="med" len="med"/>
                    </a:lnR>
                    <a:lnT w="12700" cap="flat" cmpd="sng" algn="ctr">
                      <a:solidFill>
                        <a:srgbClr val="D8E5E5"/>
                      </a:solidFill>
                      <a:prstDash val="solid"/>
                      <a:round/>
                      <a:headEnd type="none" w="med" len="med"/>
                      <a:tailEnd type="none" w="med" len="med"/>
                    </a:lnT>
                    <a:lnB w="12700" cap="flat" cmpd="sng" algn="ctr">
                      <a:solidFill>
                        <a:srgbClr val="D8E5E5"/>
                      </a:solidFill>
                      <a:prstDash val="solid"/>
                      <a:round/>
                      <a:headEnd type="none" w="med" len="med"/>
                      <a:tailEnd type="none" w="med" len="med"/>
                    </a:lnB>
                    <a:solidFill>
                      <a:srgbClr val="E7F6F3"/>
                    </a:solidFill>
                  </a:tcPr>
                </a:tc>
              </a:tr>
              <a:tr h="402336">
                <a:tc>
                  <a:txBody>
                    <a:bodyPr/>
                    <a:lstStyle/>
                    <a:p>
                      <a:pPr indent="0" marL="0">
                        <a:buNone/>
                      </a:pPr>
                      <a:r>
                        <a:rPr lang="en-US" sz="1250" dirty="0">
                          <a:solidFill>
                            <a:srgbClr val="13272E"/>
                          </a:solidFill>
                          <a:latin typeface="Calibri" pitchFamily="34" charset="0"/>
                          <a:ea typeface="Calibri" pitchFamily="34" charset="-122"/>
                          <a:cs typeface="Calibri" pitchFamily="34" charset="-120"/>
                        </a:rPr>
                        <a:t>Personal health risk, not an index number</a:t>
                      </a:r>
                      <a:endParaRPr lang="en-US" sz="1250" dirty="0">
                        <a:latin typeface="Calibri" charset="0"/>
                        <a:ea typeface="Calibri" charset="0"/>
                        <a:cs typeface="Calibri" charset="0"/>
                      </a:endParaRPr>
                    </a:p>
                  </a:txBody>
                  <a:tcPr marL="101600" marR="101600" marT="50800" marB="50800" anchor="ctr">
                    <a:lnL w="12700" cap="flat" cmpd="sng" algn="ctr">
                      <a:solidFill>
                        <a:srgbClr val="D8E5E5"/>
                      </a:solidFill>
                      <a:prstDash val="solid"/>
                      <a:round/>
                      <a:headEnd type="none" w="med" len="med"/>
                      <a:tailEnd type="none" w="med" len="med"/>
                    </a:lnL>
                    <a:lnR w="12700" cap="flat" cmpd="sng" algn="ctr">
                      <a:solidFill>
                        <a:srgbClr val="D8E5E5"/>
                      </a:solidFill>
                      <a:prstDash val="solid"/>
                      <a:round/>
                      <a:headEnd type="none" w="med" len="med"/>
                      <a:tailEnd type="none" w="med" len="med"/>
                    </a:lnR>
                    <a:lnT w="12700" cap="flat" cmpd="sng" algn="ctr">
                      <a:solidFill>
                        <a:srgbClr val="D8E5E5"/>
                      </a:solidFill>
                      <a:prstDash val="solid"/>
                      <a:round/>
                      <a:headEnd type="none" w="med" len="med"/>
                      <a:tailEnd type="none" w="med" len="med"/>
                    </a:lnT>
                    <a:lnB w="12700" cap="flat" cmpd="sng" algn="ctr">
                      <a:solidFill>
                        <a:srgbClr val="D8E5E5"/>
                      </a:solidFill>
                      <a:prstDash val="solid"/>
                      <a:round/>
                      <a:headEnd type="none" w="med" len="med"/>
                      <a:tailEnd type="none" w="med" len="med"/>
                    </a:lnB>
                    <a:solidFill>
                      <a:srgbClr val="F0F6F6"/>
                    </a:solidFill>
                  </a:tcPr>
                </a:tc>
                <a:tc>
                  <a:txBody>
                    <a:bodyPr/>
                    <a:lstStyle/>
                    <a:p>
                      <a:pPr algn="ctr" indent="0" marL="0">
                        <a:buNone/>
                      </a:pPr>
                      <a:r>
                        <a:rPr lang="en-US" sz="1250" dirty="0">
                          <a:solidFill>
                            <a:srgbClr val="5B7178"/>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101600" marR="101600" marT="50800" marB="50800" anchor="ctr">
                    <a:lnL w="12700" cap="flat" cmpd="sng" algn="ctr">
                      <a:solidFill>
                        <a:srgbClr val="D8E5E5"/>
                      </a:solidFill>
                      <a:prstDash val="solid"/>
                      <a:round/>
                      <a:headEnd type="none" w="med" len="med"/>
                      <a:tailEnd type="none" w="med" len="med"/>
                    </a:lnL>
                    <a:lnR w="12700" cap="flat" cmpd="sng" algn="ctr">
                      <a:solidFill>
                        <a:srgbClr val="D8E5E5"/>
                      </a:solidFill>
                      <a:prstDash val="solid"/>
                      <a:round/>
                      <a:headEnd type="none" w="med" len="med"/>
                      <a:tailEnd type="none" w="med" len="med"/>
                    </a:lnR>
                    <a:lnT w="12700" cap="flat" cmpd="sng" algn="ctr">
                      <a:solidFill>
                        <a:srgbClr val="D8E5E5"/>
                      </a:solidFill>
                      <a:prstDash val="solid"/>
                      <a:round/>
                      <a:headEnd type="none" w="med" len="med"/>
                      <a:tailEnd type="none" w="med" len="med"/>
                    </a:lnT>
                    <a:lnB w="12700" cap="flat" cmpd="sng" algn="ctr">
                      <a:solidFill>
                        <a:srgbClr val="D8E5E5"/>
                      </a:solidFill>
                      <a:prstDash val="solid"/>
                      <a:round/>
                      <a:headEnd type="none" w="med" len="med"/>
                      <a:tailEnd type="none" w="med" len="med"/>
                    </a:lnB>
                    <a:solidFill>
                      <a:srgbClr val="F0F6F6"/>
                    </a:solidFill>
                  </a:tcPr>
                </a:tc>
                <a:tc>
                  <a:txBody>
                    <a:bodyPr/>
                    <a:lstStyle/>
                    <a:p>
                      <a:pPr algn="ctr" indent="0" marL="0">
                        <a:buNone/>
                      </a:pPr>
                      <a:r>
                        <a:rPr lang="en-US" sz="1250" dirty="0">
                          <a:solidFill>
                            <a:srgbClr val="5B7178"/>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101600" marR="101600" marT="50800" marB="50800" anchor="ctr">
                    <a:lnL w="12700" cap="flat" cmpd="sng" algn="ctr">
                      <a:solidFill>
                        <a:srgbClr val="D8E5E5"/>
                      </a:solidFill>
                      <a:prstDash val="solid"/>
                      <a:round/>
                      <a:headEnd type="none" w="med" len="med"/>
                      <a:tailEnd type="none" w="med" len="med"/>
                    </a:lnL>
                    <a:lnR w="12700" cap="flat" cmpd="sng" algn="ctr">
                      <a:solidFill>
                        <a:srgbClr val="D8E5E5"/>
                      </a:solidFill>
                      <a:prstDash val="solid"/>
                      <a:round/>
                      <a:headEnd type="none" w="med" len="med"/>
                      <a:tailEnd type="none" w="med" len="med"/>
                    </a:lnR>
                    <a:lnT w="12700" cap="flat" cmpd="sng" algn="ctr">
                      <a:solidFill>
                        <a:srgbClr val="D8E5E5"/>
                      </a:solidFill>
                      <a:prstDash val="solid"/>
                      <a:round/>
                      <a:headEnd type="none" w="med" len="med"/>
                      <a:tailEnd type="none" w="med" len="med"/>
                    </a:lnT>
                    <a:lnB w="12700" cap="flat" cmpd="sng" algn="ctr">
                      <a:solidFill>
                        <a:srgbClr val="D8E5E5"/>
                      </a:solidFill>
                      <a:prstDash val="solid"/>
                      <a:round/>
                      <a:headEnd type="none" w="med" len="med"/>
                      <a:tailEnd type="none" w="med" len="med"/>
                    </a:lnB>
                    <a:solidFill>
                      <a:srgbClr val="F0F6F6"/>
                    </a:solidFill>
                  </a:tcPr>
                </a:tc>
                <a:tc>
                  <a:txBody>
                    <a:bodyPr/>
                    <a:lstStyle/>
                    <a:p>
                      <a:pPr algn="ctr" indent="0" marL="0">
                        <a:buNone/>
                      </a:pPr>
                      <a:r>
                        <a:rPr lang="en-US" sz="1100" dirty="0">
                          <a:solidFill>
                            <a:srgbClr val="5B7178"/>
                          </a:solidFill>
                          <a:latin typeface="Calibri" pitchFamily="34" charset="0"/>
                          <a:ea typeface="Calibri" pitchFamily="34" charset="-122"/>
                          <a:cs typeface="Calibri" pitchFamily="34" charset="-120"/>
                        </a:rPr>
                        <a:t>partial</a:t>
                      </a:r>
                      <a:endParaRPr lang="en-US" sz="1100" dirty="0">
                        <a:latin typeface="Calibri" charset="0"/>
                        <a:ea typeface="Calibri" charset="0"/>
                        <a:cs typeface="Calibri" charset="0"/>
                      </a:endParaRPr>
                    </a:p>
                  </a:txBody>
                  <a:tcPr marL="101600" marR="101600" marT="50800" marB="50800" anchor="ctr">
                    <a:lnL w="12700" cap="flat" cmpd="sng" algn="ctr">
                      <a:solidFill>
                        <a:srgbClr val="D8E5E5"/>
                      </a:solidFill>
                      <a:prstDash val="solid"/>
                      <a:round/>
                      <a:headEnd type="none" w="med" len="med"/>
                      <a:tailEnd type="none" w="med" len="med"/>
                    </a:lnL>
                    <a:lnR w="12700" cap="flat" cmpd="sng" algn="ctr">
                      <a:solidFill>
                        <a:srgbClr val="D8E5E5"/>
                      </a:solidFill>
                      <a:prstDash val="solid"/>
                      <a:round/>
                      <a:headEnd type="none" w="med" len="med"/>
                      <a:tailEnd type="none" w="med" len="med"/>
                    </a:lnR>
                    <a:lnT w="12700" cap="flat" cmpd="sng" algn="ctr">
                      <a:solidFill>
                        <a:srgbClr val="D8E5E5"/>
                      </a:solidFill>
                      <a:prstDash val="solid"/>
                      <a:round/>
                      <a:headEnd type="none" w="med" len="med"/>
                      <a:tailEnd type="none" w="med" len="med"/>
                    </a:lnT>
                    <a:lnB w="12700" cap="flat" cmpd="sng" algn="ctr">
                      <a:solidFill>
                        <a:srgbClr val="D8E5E5"/>
                      </a:solidFill>
                      <a:prstDash val="solid"/>
                      <a:round/>
                      <a:headEnd type="none" w="med" len="med"/>
                      <a:tailEnd type="none" w="med" len="med"/>
                    </a:lnB>
                    <a:solidFill>
                      <a:srgbClr val="F0F6F6"/>
                    </a:solidFill>
                  </a:tcPr>
                </a:tc>
                <a:tc>
                  <a:txBody>
                    <a:bodyPr/>
                    <a:lstStyle/>
                    <a:p>
                      <a:pPr algn="ctr" indent="0" marL="0">
                        <a:buNone/>
                      </a:pPr>
                      <a:r>
                        <a:rPr lang="en-US" sz="1250" b="1" dirty="0">
                          <a:solidFill>
                            <a:srgbClr val="00A896"/>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101600" marR="101600" marT="50800" marB="50800" anchor="ctr">
                    <a:lnL w="12700" cap="flat" cmpd="sng" algn="ctr">
                      <a:solidFill>
                        <a:srgbClr val="D8E5E5"/>
                      </a:solidFill>
                      <a:prstDash val="solid"/>
                      <a:round/>
                      <a:headEnd type="none" w="med" len="med"/>
                      <a:tailEnd type="none" w="med" len="med"/>
                    </a:lnL>
                    <a:lnR w="12700" cap="flat" cmpd="sng" algn="ctr">
                      <a:solidFill>
                        <a:srgbClr val="D8E5E5"/>
                      </a:solidFill>
                      <a:prstDash val="solid"/>
                      <a:round/>
                      <a:headEnd type="none" w="med" len="med"/>
                      <a:tailEnd type="none" w="med" len="med"/>
                    </a:lnR>
                    <a:lnT w="12700" cap="flat" cmpd="sng" algn="ctr">
                      <a:solidFill>
                        <a:srgbClr val="D8E5E5"/>
                      </a:solidFill>
                      <a:prstDash val="solid"/>
                      <a:round/>
                      <a:headEnd type="none" w="med" len="med"/>
                      <a:tailEnd type="none" w="med" len="med"/>
                    </a:lnT>
                    <a:lnB w="12700" cap="flat" cmpd="sng" algn="ctr">
                      <a:solidFill>
                        <a:srgbClr val="D8E5E5"/>
                      </a:solidFill>
                      <a:prstDash val="solid"/>
                      <a:round/>
                      <a:headEnd type="none" w="med" len="med"/>
                      <a:tailEnd type="none" w="med" len="med"/>
                    </a:lnB>
                    <a:solidFill>
                      <a:srgbClr val="E7F6F3"/>
                    </a:solidFill>
                  </a:tcPr>
                </a:tc>
              </a:tr>
              <a:tr h="402336">
                <a:tc>
                  <a:txBody>
                    <a:bodyPr/>
                    <a:lstStyle/>
                    <a:p>
                      <a:pPr indent="0" marL="0">
                        <a:buNone/>
                      </a:pPr>
                      <a:r>
                        <a:rPr lang="en-US" sz="1250" dirty="0">
                          <a:solidFill>
                            <a:srgbClr val="13272E"/>
                          </a:solidFill>
                          <a:latin typeface="Calibri" pitchFamily="34" charset="0"/>
                          <a:ea typeface="Calibri" pitchFamily="34" charset="-122"/>
                          <a:cs typeface="Calibri" pitchFamily="34" charset="-120"/>
                        </a:rPr>
                        <a:t>Respiratory and cardiovascular risk, separately</a:t>
                      </a:r>
                      <a:endParaRPr lang="en-US" sz="1250" dirty="0">
                        <a:latin typeface="Calibri" charset="0"/>
                        <a:ea typeface="Calibri" charset="0"/>
                        <a:cs typeface="Calibri" charset="0"/>
                      </a:endParaRPr>
                    </a:p>
                  </a:txBody>
                  <a:tcPr marL="101600" marR="101600" marT="50800" marB="50800" anchor="ctr">
                    <a:lnL w="12700" cap="flat" cmpd="sng" algn="ctr">
                      <a:solidFill>
                        <a:srgbClr val="D8E5E5"/>
                      </a:solidFill>
                      <a:prstDash val="solid"/>
                      <a:round/>
                      <a:headEnd type="none" w="med" len="med"/>
                      <a:tailEnd type="none" w="med" len="med"/>
                    </a:lnL>
                    <a:lnR w="12700" cap="flat" cmpd="sng" algn="ctr">
                      <a:solidFill>
                        <a:srgbClr val="D8E5E5"/>
                      </a:solidFill>
                      <a:prstDash val="solid"/>
                      <a:round/>
                      <a:headEnd type="none" w="med" len="med"/>
                      <a:tailEnd type="none" w="med" len="med"/>
                    </a:lnR>
                    <a:lnT w="12700" cap="flat" cmpd="sng" algn="ctr">
                      <a:solidFill>
                        <a:srgbClr val="D8E5E5"/>
                      </a:solidFill>
                      <a:prstDash val="solid"/>
                      <a:round/>
                      <a:headEnd type="none" w="med" len="med"/>
                      <a:tailEnd type="none" w="med" len="med"/>
                    </a:lnT>
                    <a:lnB w="12700" cap="flat" cmpd="sng" algn="ctr">
                      <a:solidFill>
                        <a:srgbClr val="D8E5E5"/>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5B7178"/>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101600" marR="101600" marT="50800" marB="50800" anchor="ctr">
                    <a:lnL w="12700" cap="flat" cmpd="sng" algn="ctr">
                      <a:solidFill>
                        <a:srgbClr val="D8E5E5"/>
                      </a:solidFill>
                      <a:prstDash val="solid"/>
                      <a:round/>
                      <a:headEnd type="none" w="med" len="med"/>
                      <a:tailEnd type="none" w="med" len="med"/>
                    </a:lnL>
                    <a:lnR w="12700" cap="flat" cmpd="sng" algn="ctr">
                      <a:solidFill>
                        <a:srgbClr val="D8E5E5"/>
                      </a:solidFill>
                      <a:prstDash val="solid"/>
                      <a:round/>
                      <a:headEnd type="none" w="med" len="med"/>
                      <a:tailEnd type="none" w="med" len="med"/>
                    </a:lnR>
                    <a:lnT w="12700" cap="flat" cmpd="sng" algn="ctr">
                      <a:solidFill>
                        <a:srgbClr val="D8E5E5"/>
                      </a:solidFill>
                      <a:prstDash val="solid"/>
                      <a:round/>
                      <a:headEnd type="none" w="med" len="med"/>
                      <a:tailEnd type="none" w="med" len="med"/>
                    </a:lnT>
                    <a:lnB w="12700" cap="flat" cmpd="sng" algn="ctr">
                      <a:solidFill>
                        <a:srgbClr val="D8E5E5"/>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5B7178"/>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101600" marR="101600" marT="50800" marB="50800" anchor="ctr">
                    <a:lnL w="12700" cap="flat" cmpd="sng" algn="ctr">
                      <a:solidFill>
                        <a:srgbClr val="D8E5E5"/>
                      </a:solidFill>
                      <a:prstDash val="solid"/>
                      <a:round/>
                      <a:headEnd type="none" w="med" len="med"/>
                      <a:tailEnd type="none" w="med" len="med"/>
                    </a:lnL>
                    <a:lnR w="12700" cap="flat" cmpd="sng" algn="ctr">
                      <a:solidFill>
                        <a:srgbClr val="D8E5E5"/>
                      </a:solidFill>
                      <a:prstDash val="solid"/>
                      <a:round/>
                      <a:headEnd type="none" w="med" len="med"/>
                      <a:tailEnd type="none" w="med" len="med"/>
                    </a:lnR>
                    <a:lnT w="12700" cap="flat" cmpd="sng" algn="ctr">
                      <a:solidFill>
                        <a:srgbClr val="D8E5E5"/>
                      </a:solidFill>
                      <a:prstDash val="solid"/>
                      <a:round/>
                      <a:headEnd type="none" w="med" len="med"/>
                      <a:tailEnd type="none" w="med" len="med"/>
                    </a:lnT>
                    <a:lnB w="12700" cap="flat" cmpd="sng" algn="ctr">
                      <a:solidFill>
                        <a:srgbClr val="D8E5E5"/>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B7178"/>
                          </a:solidFill>
                          <a:latin typeface="Calibri" pitchFamily="34" charset="0"/>
                          <a:ea typeface="Calibri" pitchFamily="34" charset="-122"/>
                          <a:cs typeface="Calibri" pitchFamily="34" charset="-120"/>
                        </a:rPr>
                        <a:t>partial</a:t>
                      </a:r>
                      <a:endParaRPr lang="en-US" sz="1100" dirty="0">
                        <a:latin typeface="Calibri" charset="0"/>
                        <a:ea typeface="Calibri" charset="0"/>
                        <a:cs typeface="Calibri" charset="0"/>
                      </a:endParaRPr>
                    </a:p>
                  </a:txBody>
                  <a:tcPr marL="101600" marR="101600" marT="50800" marB="50800" anchor="ctr">
                    <a:lnL w="12700" cap="flat" cmpd="sng" algn="ctr">
                      <a:solidFill>
                        <a:srgbClr val="D8E5E5"/>
                      </a:solidFill>
                      <a:prstDash val="solid"/>
                      <a:round/>
                      <a:headEnd type="none" w="med" len="med"/>
                      <a:tailEnd type="none" w="med" len="med"/>
                    </a:lnL>
                    <a:lnR w="12700" cap="flat" cmpd="sng" algn="ctr">
                      <a:solidFill>
                        <a:srgbClr val="D8E5E5"/>
                      </a:solidFill>
                      <a:prstDash val="solid"/>
                      <a:round/>
                      <a:headEnd type="none" w="med" len="med"/>
                      <a:tailEnd type="none" w="med" len="med"/>
                    </a:lnR>
                    <a:lnT w="12700" cap="flat" cmpd="sng" algn="ctr">
                      <a:solidFill>
                        <a:srgbClr val="D8E5E5"/>
                      </a:solidFill>
                      <a:prstDash val="solid"/>
                      <a:round/>
                      <a:headEnd type="none" w="med" len="med"/>
                      <a:tailEnd type="none" w="med" len="med"/>
                    </a:lnT>
                    <a:lnB w="12700" cap="flat" cmpd="sng" algn="ctr">
                      <a:solidFill>
                        <a:srgbClr val="D8E5E5"/>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00A896"/>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101600" marR="101600" marT="50800" marB="50800" anchor="ctr">
                    <a:lnL w="12700" cap="flat" cmpd="sng" algn="ctr">
                      <a:solidFill>
                        <a:srgbClr val="D8E5E5"/>
                      </a:solidFill>
                      <a:prstDash val="solid"/>
                      <a:round/>
                      <a:headEnd type="none" w="med" len="med"/>
                      <a:tailEnd type="none" w="med" len="med"/>
                    </a:lnL>
                    <a:lnR w="12700" cap="flat" cmpd="sng" algn="ctr">
                      <a:solidFill>
                        <a:srgbClr val="D8E5E5"/>
                      </a:solidFill>
                      <a:prstDash val="solid"/>
                      <a:round/>
                      <a:headEnd type="none" w="med" len="med"/>
                      <a:tailEnd type="none" w="med" len="med"/>
                    </a:lnR>
                    <a:lnT w="12700" cap="flat" cmpd="sng" algn="ctr">
                      <a:solidFill>
                        <a:srgbClr val="D8E5E5"/>
                      </a:solidFill>
                      <a:prstDash val="solid"/>
                      <a:round/>
                      <a:headEnd type="none" w="med" len="med"/>
                      <a:tailEnd type="none" w="med" len="med"/>
                    </a:lnT>
                    <a:lnB w="12700" cap="flat" cmpd="sng" algn="ctr">
                      <a:solidFill>
                        <a:srgbClr val="D8E5E5"/>
                      </a:solidFill>
                      <a:prstDash val="solid"/>
                      <a:round/>
                      <a:headEnd type="none" w="med" len="med"/>
                      <a:tailEnd type="none" w="med" len="med"/>
                    </a:lnB>
                    <a:solidFill>
                      <a:srgbClr val="E7F6F3"/>
                    </a:solidFill>
                  </a:tcPr>
                </a:tc>
              </a:tr>
              <a:tr h="402336">
                <a:tc>
                  <a:txBody>
                    <a:bodyPr/>
                    <a:lstStyle/>
                    <a:p>
                      <a:pPr indent="0" marL="0">
                        <a:buNone/>
                      </a:pPr>
                      <a:r>
                        <a:rPr lang="en-US" sz="1250" dirty="0">
                          <a:solidFill>
                            <a:srgbClr val="13272E"/>
                          </a:solidFill>
                          <a:latin typeface="Calibri" pitchFamily="34" charset="0"/>
                          <a:ea typeface="Calibri" pitchFamily="34" charset="-122"/>
                          <a:cs typeface="Calibri" pitchFamily="34" charset="-120"/>
                        </a:rPr>
                        <a:t>ML model linking environment to health outcome</a:t>
                      </a:r>
                      <a:endParaRPr lang="en-US" sz="1250" dirty="0">
                        <a:latin typeface="Calibri" charset="0"/>
                        <a:ea typeface="Calibri" charset="0"/>
                        <a:cs typeface="Calibri" charset="0"/>
                      </a:endParaRPr>
                    </a:p>
                  </a:txBody>
                  <a:tcPr marL="101600" marR="101600" marT="50800" marB="50800" anchor="ctr">
                    <a:lnL w="12700" cap="flat" cmpd="sng" algn="ctr">
                      <a:solidFill>
                        <a:srgbClr val="D8E5E5"/>
                      </a:solidFill>
                      <a:prstDash val="solid"/>
                      <a:round/>
                      <a:headEnd type="none" w="med" len="med"/>
                      <a:tailEnd type="none" w="med" len="med"/>
                    </a:lnL>
                    <a:lnR w="12700" cap="flat" cmpd="sng" algn="ctr">
                      <a:solidFill>
                        <a:srgbClr val="D8E5E5"/>
                      </a:solidFill>
                      <a:prstDash val="solid"/>
                      <a:round/>
                      <a:headEnd type="none" w="med" len="med"/>
                      <a:tailEnd type="none" w="med" len="med"/>
                    </a:lnR>
                    <a:lnT w="12700" cap="flat" cmpd="sng" algn="ctr">
                      <a:solidFill>
                        <a:srgbClr val="D8E5E5"/>
                      </a:solidFill>
                      <a:prstDash val="solid"/>
                      <a:round/>
                      <a:headEnd type="none" w="med" len="med"/>
                      <a:tailEnd type="none" w="med" len="med"/>
                    </a:lnT>
                    <a:lnB w="12700" cap="flat" cmpd="sng" algn="ctr">
                      <a:solidFill>
                        <a:srgbClr val="D8E5E5"/>
                      </a:solidFill>
                      <a:prstDash val="solid"/>
                      <a:round/>
                      <a:headEnd type="none" w="med" len="med"/>
                      <a:tailEnd type="none" w="med" len="med"/>
                    </a:lnB>
                    <a:solidFill>
                      <a:srgbClr val="F0F6F6"/>
                    </a:solidFill>
                  </a:tcPr>
                </a:tc>
                <a:tc>
                  <a:txBody>
                    <a:bodyPr/>
                    <a:lstStyle/>
                    <a:p>
                      <a:pPr algn="ctr" indent="0" marL="0">
                        <a:buNone/>
                      </a:pPr>
                      <a:r>
                        <a:rPr lang="en-US" sz="1250" dirty="0">
                          <a:solidFill>
                            <a:srgbClr val="5B7178"/>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101600" marR="101600" marT="50800" marB="50800" anchor="ctr">
                    <a:lnL w="12700" cap="flat" cmpd="sng" algn="ctr">
                      <a:solidFill>
                        <a:srgbClr val="D8E5E5"/>
                      </a:solidFill>
                      <a:prstDash val="solid"/>
                      <a:round/>
                      <a:headEnd type="none" w="med" len="med"/>
                      <a:tailEnd type="none" w="med" len="med"/>
                    </a:lnL>
                    <a:lnR w="12700" cap="flat" cmpd="sng" algn="ctr">
                      <a:solidFill>
                        <a:srgbClr val="D8E5E5"/>
                      </a:solidFill>
                      <a:prstDash val="solid"/>
                      <a:round/>
                      <a:headEnd type="none" w="med" len="med"/>
                      <a:tailEnd type="none" w="med" len="med"/>
                    </a:lnR>
                    <a:lnT w="12700" cap="flat" cmpd="sng" algn="ctr">
                      <a:solidFill>
                        <a:srgbClr val="D8E5E5"/>
                      </a:solidFill>
                      <a:prstDash val="solid"/>
                      <a:round/>
                      <a:headEnd type="none" w="med" len="med"/>
                      <a:tailEnd type="none" w="med" len="med"/>
                    </a:lnT>
                    <a:lnB w="12700" cap="flat" cmpd="sng" algn="ctr">
                      <a:solidFill>
                        <a:srgbClr val="D8E5E5"/>
                      </a:solidFill>
                      <a:prstDash val="solid"/>
                      <a:round/>
                      <a:headEnd type="none" w="med" len="med"/>
                      <a:tailEnd type="none" w="med" len="med"/>
                    </a:lnB>
                    <a:solidFill>
                      <a:srgbClr val="F0F6F6"/>
                    </a:solidFill>
                  </a:tcPr>
                </a:tc>
                <a:tc>
                  <a:txBody>
                    <a:bodyPr/>
                    <a:lstStyle/>
                    <a:p>
                      <a:pPr algn="ctr" indent="0" marL="0">
                        <a:buNone/>
                      </a:pPr>
                      <a:r>
                        <a:rPr lang="en-US" sz="1250" dirty="0">
                          <a:solidFill>
                            <a:srgbClr val="5B7178"/>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101600" marR="101600" marT="50800" marB="50800" anchor="ctr">
                    <a:lnL w="12700" cap="flat" cmpd="sng" algn="ctr">
                      <a:solidFill>
                        <a:srgbClr val="D8E5E5"/>
                      </a:solidFill>
                      <a:prstDash val="solid"/>
                      <a:round/>
                      <a:headEnd type="none" w="med" len="med"/>
                      <a:tailEnd type="none" w="med" len="med"/>
                    </a:lnL>
                    <a:lnR w="12700" cap="flat" cmpd="sng" algn="ctr">
                      <a:solidFill>
                        <a:srgbClr val="D8E5E5"/>
                      </a:solidFill>
                      <a:prstDash val="solid"/>
                      <a:round/>
                      <a:headEnd type="none" w="med" len="med"/>
                      <a:tailEnd type="none" w="med" len="med"/>
                    </a:lnR>
                    <a:lnT w="12700" cap="flat" cmpd="sng" algn="ctr">
                      <a:solidFill>
                        <a:srgbClr val="D8E5E5"/>
                      </a:solidFill>
                      <a:prstDash val="solid"/>
                      <a:round/>
                      <a:headEnd type="none" w="med" len="med"/>
                      <a:tailEnd type="none" w="med" len="med"/>
                    </a:lnT>
                    <a:lnB w="12700" cap="flat" cmpd="sng" algn="ctr">
                      <a:solidFill>
                        <a:srgbClr val="D8E5E5"/>
                      </a:solidFill>
                      <a:prstDash val="solid"/>
                      <a:round/>
                      <a:headEnd type="none" w="med" len="med"/>
                      <a:tailEnd type="none" w="med" len="med"/>
                    </a:lnB>
                    <a:solidFill>
                      <a:srgbClr val="F0F6F6"/>
                    </a:solidFill>
                  </a:tcPr>
                </a:tc>
                <a:tc>
                  <a:txBody>
                    <a:bodyPr/>
                    <a:lstStyle/>
                    <a:p>
                      <a:pPr algn="ctr" indent="0" marL="0">
                        <a:buNone/>
                      </a:pPr>
                      <a:r>
                        <a:rPr lang="en-US" sz="1400" dirty="0">
                          <a:solidFill>
                            <a:srgbClr val="5B7178"/>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1600" marR="101600" marT="50800" marB="50800" anchor="ctr">
                    <a:lnL w="12700" cap="flat" cmpd="sng" algn="ctr">
                      <a:solidFill>
                        <a:srgbClr val="D8E5E5"/>
                      </a:solidFill>
                      <a:prstDash val="solid"/>
                      <a:round/>
                      <a:headEnd type="none" w="med" len="med"/>
                      <a:tailEnd type="none" w="med" len="med"/>
                    </a:lnL>
                    <a:lnR w="12700" cap="flat" cmpd="sng" algn="ctr">
                      <a:solidFill>
                        <a:srgbClr val="D8E5E5"/>
                      </a:solidFill>
                      <a:prstDash val="solid"/>
                      <a:round/>
                      <a:headEnd type="none" w="med" len="med"/>
                      <a:tailEnd type="none" w="med" len="med"/>
                    </a:lnR>
                    <a:lnT w="12700" cap="flat" cmpd="sng" algn="ctr">
                      <a:solidFill>
                        <a:srgbClr val="D8E5E5"/>
                      </a:solidFill>
                      <a:prstDash val="solid"/>
                      <a:round/>
                      <a:headEnd type="none" w="med" len="med"/>
                      <a:tailEnd type="none" w="med" len="med"/>
                    </a:lnT>
                    <a:lnB w="12700" cap="flat" cmpd="sng" algn="ctr">
                      <a:solidFill>
                        <a:srgbClr val="D8E5E5"/>
                      </a:solidFill>
                      <a:prstDash val="solid"/>
                      <a:round/>
                      <a:headEnd type="none" w="med" len="med"/>
                      <a:tailEnd type="none" w="med" len="med"/>
                    </a:lnB>
                    <a:solidFill>
                      <a:srgbClr val="F0F6F6"/>
                    </a:solidFill>
                  </a:tcPr>
                </a:tc>
                <a:tc>
                  <a:txBody>
                    <a:bodyPr/>
                    <a:lstStyle/>
                    <a:p>
                      <a:pPr algn="ctr" indent="0" marL="0">
                        <a:buNone/>
                      </a:pPr>
                      <a:r>
                        <a:rPr lang="en-US" sz="1250" b="1" dirty="0">
                          <a:solidFill>
                            <a:srgbClr val="00A896"/>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101600" marR="101600" marT="50800" marB="50800" anchor="ctr">
                    <a:lnL w="12700" cap="flat" cmpd="sng" algn="ctr">
                      <a:solidFill>
                        <a:srgbClr val="D8E5E5"/>
                      </a:solidFill>
                      <a:prstDash val="solid"/>
                      <a:round/>
                      <a:headEnd type="none" w="med" len="med"/>
                      <a:tailEnd type="none" w="med" len="med"/>
                    </a:lnL>
                    <a:lnR w="12700" cap="flat" cmpd="sng" algn="ctr">
                      <a:solidFill>
                        <a:srgbClr val="D8E5E5"/>
                      </a:solidFill>
                      <a:prstDash val="solid"/>
                      <a:round/>
                      <a:headEnd type="none" w="med" len="med"/>
                      <a:tailEnd type="none" w="med" len="med"/>
                    </a:lnR>
                    <a:lnT w="12700" cap="flat" cmpd="sng" algn="ctr">
                      <a:solidFill>
                        <a:srgbClr val="D8E5E5"/>
                      </a:solidFill>
                      <a:prstDash val="solid"/>
                      <a:round/>
                      <a:headEnd type="none" w="med" len="med"/>
                      <a:tailEnd type="none" w="med" len="med"/>
                    </a:lnT>
                    <a:lnB w="12700" cap="flat" cmpd="sng" algn="ctr">
                      <a:solidFill>
                        <a:srgbClr val="D8E5E5"/>
                      </a:solidFill>
                      <a:prstDash val="solid"/>
                      <a:round/>
                      <a:headEnd type="none" w="med" len="med"/>
                      <a:tailEnd type="none" w="med" len="med"/>
                    </a:lnB>
                    <a:solidFill>
                      <a:srgbClr val="E7F6F3"/>
                    </a:solidFill>
                  </a:tcPr>
                </a:tc>
              </a:tr>
              <a:tr h="402336">
                <a:tc>
                  <a:txBody>
                    <a:bodyPr/>
                    <a:lstStyle/>
                    <a:p>
                      <a:pPr indent="0" marL="0">
                        <a:buNone/>
                      </a:pPr>
                      <a:r>
                        <a:rPr lang="en-US" sz="1250" dirty="0">
                          <a:solidFill>
                            <a:srgbClr val="13272E"/>
                          </a:solidFill>
                          <a:latin typeface="Calibri" pitchFamily="34" charset="0"/>
                          <a:ea typeface="Calibri" pitchFamily="34" charset="-122"/>
                          <a:cs typeface="Calibri" pitchFamily="34" charset="-120"/>
                        </a:rPr>
                        <a:t>Zero manual input — GPS driven</a:t>
                      </a:r>
                      <a:endParaRPr lang="en-US" sz="1250" dirty="0">
                        <a:latin typeface="Calibri" charset="0"/>
                        <a:ea typeface="Calibri" charset="0"/>
                        <a:cs typeface="Calibri" charset="0"/>
                      </a:endParaRPr>
                    </a:p>
                  </a:txBody>
                  <a:tcPr marL="101600" marR="101600" marT="50800" marB="50800" anchor="ctr">
                    <a:lnL w="12700" cap="flat" cmpd="sng" algn="ctr">
                      <a:solidFill>
                        <a:srgbClr val="D8E5E5"/>
                      </a:solidFill>
                      <a:prstDash val="solid"/>
                      <a:round/>
                      <a:headEnd type="none" w="med" len="med"/>
                      <a:tailEnd type="none" w="med" len="med"/>
                    </a:lnL>
                    <a:lnR w="12700" cap="flat" cmpd="sng" algn="ctr">
                      <a:solidFill>
                        <a:srgbClr val="D8E5E5"/>
                      </a:solidFill>
                      <a:prstDash val="solid"/>
                      <a:round/>
                      <a:headEnd type="none" w="med" len="med"/>
                      <a:tailEnd type="none" w="med" len="med"/>
                    </a:lnR>
                    <a:lnT w="12700" cap="flat" cmpd="sng" algn="ctr">
                      <a:solidFill>
                        <a:srgbClr val="D8E5E5"/>
                      </a:solidFill>
                      <a:prstDash val="solid"/>
                      <a:round/>
                      <a:headEnd type="none" w="med" len="med"/>
                      <a:tailEnd type="none" w="med" len="med"/>
                    </a:lnT>
                    <a:lnB w="12700" cap="flat" cmpd="sng" algn="ctr">
                      <a:solidFill>
                        <a:srgbClr val="D8E5E5"/>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028090"/>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101600" marR="101600" marT="50800" marB="50800" anchor="ctr">
                    <a:lnL w="12700" cap="flat" cmpd="sng" algn="ctr">
                      <a:solidFill>
                        <a:srgbClr val="D8E5E5"/>
                      </a:solidFill>
                      <a:prstDash val="solid"/>
                      <a:round/>
                      <a:headEnd type="none" w="med" len="med"/>
                      <a:tailEnd type="none" w="med" len="med"/>
                    </a:lnL>
                    <a:lnR w="12700" cap="flat" cmpd="sng" algn="ctr">
                      <a:solidFill>
                        <a:srgbClr val="D8E5E5"/>
                      </a:solidFill>
                      <a:prstDash val="solid"/>
                      <a:round/>
                      <a:headEnd type="none" w="med" len="med"/>
                      <a:tailEnd type="none" w="med" len="med"/>
                    </a:lnR>
                    <a:lnT w="12700" cap="flat" cmpd="sng" algn="ctr">
                      <a:solidFill>
                        <a:srgbClr val="D8E5E5"/>
                      </a:solidFill>
                      <a:prstDash val="solid"/>
                      <a:round/>
                      <a:headEnd type="none" w="med" len="med"/>
                      <a:tailEnd type="none" w="med" len="med"/>
                    </a:lnT>
                    <a:lnB w="12700" cap="flat" cmpd="sng" algn="ctr">
                      <a:solidFill>
                        <a:srgbClr val="D8E5E5"/>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028090"/>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101600" marR="101600" marT="50800" marB="50800" anchor="ctr">
                    <a:lnL w="12700" cap="flat" cmpd="sng" algn="ctr">
                      <a:solidFill>
                        <a:srgbClr val="D8E5E5"/>
                      </a:solidFill>
                      <a:prstDash val="solid"/>
                      <a:round/>
                      <a:headEnd type="none" w="med" len="med"/>
                      <a:tailEnd type="none" w="med" len="med"/>
                    </a:lnL>
                    <a:lnR w="12700" cap="flat" cmpd="sng" algn="ctr">
                      <a:solidFill>
                        <a:srgbClr val="D8E5E5"/>
                      </a:solidFill>
                      <a:prstDash val="solid"/>
                      <a:round/>
                      <a:headEnd type="none" w="med" len="med"/>
                      <a:tailEnd type="none" w="med" len="med"/>
                    </a:lnR>
                    <a:lnT w="12700" cap="flat" cmpd="sng" algn="ctr">
                      <a:solidFill>
                        <a:srgbClr val="D8E5E5"/>
                      </a:solidFill>
                      <a:prstDash val="solid"/>
                      <a:round/>
                      <a:headEnd type="none" w="med" len="med"/>
                      <a:tailEnd type="none" w="med" len="med"/>
                    </a:lnT>
                    <a:lnB w="12700" cap="flat" cmpd="sng" algn="ctr">
                      <a:solidFill>
                        <a:srgbClr val="D8E5E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5B7178"/>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1600" marR="101600" marT="50800" marB="50800" anchor="ctr">
                    <a:lnL w="12700" cap="flat" cmpd="sng" algn="ctr">
                      <a:solidFill>
                        <a:srgbClr val="D8E5E5"/>
                      </a:solidFill>
                      <a:prstDash val="solid"/>
                      <a:round/>
                      <a:headEnd type="none" w="med" len="med"/>
                      <a:tailEnd type="none" w="med" len="med"/>
                    </a:lnL>
                    <a:lnR w="12700" cap="flat" cmpd="sng" algn="ctr">
                      <a:solidFill>
                        <a:srgbClr val="D8E5E5"/>
                      </a:solidFill>
                      <a:prstDash val="solid"/>
                      <a:round/>
                      <a:headEnd type="none" w="med" len="med"/>
                      <a:tailEnd type="none" w="med" len="med"/>
                    </a:lnR>
                    <a:lnT w="12700" cap="flat" cmpd="sng" algn="ctr">
                      <a:solidFill>
                        <a:srgbClr val="D8E5E5"/>
                      </a:solidFill>
                      <a:prstDash val="solid"/>
                      <a:round/>
                      <a:headEnd type="none" w="med" len="med"/>
                      <a:tailEnd type="none" w="med" len="med"/>
                    </a:lnT>
                    <a:lnB w="12700" cap="flat" cmpd="sng" algn="ctr">
                      <a:solidFill>
                        <a:srgbClr val="D8E5E5"/>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00A896"/>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101600" marR="101600" marT="50800" marB="50800" anchor="ctr">
                    <a:lnL w="12700" cap="flat" cmpd="sng" algn="ctr">
                      <a:solidFill>
                        <a:srgbClr val="D8E5E5"/>
                      </a:solidFill>
                      <a:prstDash val="solid"/>
                      <a:round/>
                      <a:headEnd type="none" w="med" len="med"/>
                      <a:tailEnd type="none" w="med" len="med"/>
                    </a:lnL>
                    <a:lnR w="12700" cap="flat" cmpd="sng" algn="ctr">
                      <a:solidFill>
                        <a:srgbClr val="D8E5E5"/>
                      </a:solidFill>
                      <a:prstDash val="solid"/>
                      <a:round/>
                      <a:headEnd type="none" w="med" len="med"/>
                      <a:tailEnd type="none" w="med" len="med"/>
                    </a:lnR>
                    <a:lnT w="12700" cap="flat" cmpd="sng" algn="ctr">
                      <a:solidFill>
                        <a:srgbClr val="D8E5E5"/>
                      </a:solidFill>
                      <a:prstDash val="solid"/>
                      <a:round/>
                      <a:headEnd type="none" w="med" len="med"/>
                      <a:tailEnd type="none" w="med" len="med"/>
                    </a:lnT>
                    <a:lnB w="12700" cap="flat" cmpd="sng" algn="ctr">
                      <a:solidFill>
                        <a:srgbClr val="D8E5E5"/>
                      </a:solidFill>
                      <a:prstDash val="solid"/>
                      <a:round/>
                      <a:headEnd type="none" w="med" len="med"/>
                      <a:tailEnd type="none" w="med" len="med"/>
                    </a:lnB>
                    <a:solidFill>
                      <a:srgbClr val="E7F6F3"/>
                    </a:solidFill>
                  </a:tcPr>
                </a:tc>
              </a:tr>
              <a:tr h="402336">
                <a:tc>
                  <a:txBody>
                    <a:bodyPr/>
                    <a:lstStyle/>
                    <a:p>
                      <a:pPr indent="0" marL="0">
                        <a:buNone/>
                      </a:pPr>
                      <a:r>
                        <a:rPr lang="en-US" sz="1250" dirty="0">
                          <a:solidFill>
                            <a:srgbClr val="13272E"/>
                          </a:solidFill>
                          <a:latin typeface="Calibri" pitchFamily="34" charset="0"/>
                          <a:ea typeface="Calibri" pitchFamily="34" charset="-122"/>
                          <a:cs typeface="Calibri" pitchFamily="34" charset="-120"/>
                        </a:rPr>
                        <a:t>Preventive: acts before symptoms appear</a:t>
                      </a:r>
                      <a:endParaRPr lang="en-US" sz="1250" dirty="0">
                        <a:latin typeface="Calibri" charset="0"/>
                        <a:ea typeface="Calibri" charset="0"/>
                        <a:cs typeface="Calibri" charset="0"/>
                      </a:endParaRPr>
                    </a:p>
                  </a:txBody>
                  <a:tcPr marL="101600" marR="101600" marT="50800" marB="50800" anchor="ctr">
                    <a:lnL w="12700" cap="flat" cmpd="sng" algn="ctr">
                      <a:solidFill>
                        <a:srgbClr val="D8E5E5"/>
                      </a:solidFill>
                      <a:prstDash val="solid"/>
                      <a:round/>
                      <a:headEnd type="none" w="med" len="med"/>
                      <a:tailEnd type="none" w="med" len="med"/>
                    </a:lnL>
                    <a:lnR w="12700" cap="flat" cmpd="sng" algn="ctr">
                      <a:solidFill>
                        <a:srgbClr val="D8E5E5"/>
                      </a:solidFill>
                      <a:prstDash val="solid"/>
                      <a:round/>
                      <a:headEnd type="none" w="med" len="med"/>
                      <a:tailEnd type="none" w="med" len="med"/>
                    </a:lnR>
                    <a:lnT w="12700" cap="flat" cmpd="sng" algn="ctr">
                      <a:solidFill>
                        <a:srgbClr val="D8E5E5"/>
                      </a:solidFill>
                      <a:prstDash val="solid"/>
                      <a:round/>
                      <a:headEnd type="none" w="med" len="med"/>
                      <a:tailEnd type="none" w="med" len="med"/>
                    </a:lnT>
                    <a:lnB w="12700" cap="flat" cmpd="sng" algn="ctr">
                      <a:solidFill>
                        <a:srgbClr val="D8E5E5"/>
                      </a:solidFill>
                      <a:prstDash val="solid"/>
                      <a:round/>
                      <a:headEnd type="none" w="med" len="med"/>
                      <a:tailEnd type="none" w="med" len="med"/>
                    </a:lnB>
                    <a:solidFill>
                      <a:srgbClr val="F0F6F6"/>
                    </a:solidFill>
                  </a:tcPr>
                </a:tc>
                <a:tc>
                  <a:txBody>
                    <a:bodyPr/>
                    <a:lstStyle/>
                    <a:p>
                      <a:pPr algn="ctr" indent="0" marL="0">
                        <a:buNone/>
                      </a:pPr>
                      <a:r>
                        <a:rPr lang="en-US" sz="1250" dirty="0">
                          <a:solidFill>
                            <a:srgbClr val="5B7178"/>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101600" marR="101600" marT="50800" marB="50800" anchor="ctr">
                    <a:lnL w="12700" cap="flat" cmpd="sng" algn="ctr">
                      <a:solidFill>
                        <a:srgbClr val="D8E5E5"/>
                      </a:solidFill>
                      <a:prstDash val="solid"/>
                      <a:round/>
                      <a:headEnd type="none" w="med" len="med"/>
                      <a:tailEnd type="none" w="med" len="med"/>
                    </a:lnL>
                    <a:lnR w="12700" cap="flat" cmpd="sng" algn="ctr">
                      <a:solidFill>
                        <a:srgbClr val="D8E5E5"/>
                      </a:solidFill>
                      <a:prstDash val="solid"/>
                      <a:round/>
                      <a:headEnd type="none" w="med" len="med"/>
                      <a:tailEnd type="none" w="med" len="med"/>
                    </a:lnR>
                    <a:lnT w="12700" cap="flat" cmpd="sng" algn="ctr">
                      <a:solidFill>
                        <a:srgbClr val="D8E5E5"/>
                      </a:solidFill>
                      <a:prstDash val="solid"/>
                      <a:round/>
                      <a:headEnd type="none" w="med" len="med"/>
                      <a:tailEnd type="none" w="med" len="med"/>
                    </a:lnT>
                    <a:lnB w="12700" cap="flat" cmpd="sng" algn="ctr">
                      <a:solidFill>
                        <a:srgbClr val="D8E5E5"/>
                      </a:solidFill>
                      <a:prstDash val="solid"/>
                      <a:round/>
                      <a:headEnd type="none" w="med" len="med"/>
                      <a:tailEnd type="none" w="med" len="med"/>
                    </a:lnB>
                    <a:solidFill>
                      <a:srgbClr val="F0F6F6"/>
                    </a:solidFill>
                  </a:tcPr>
                </a:tc>
                <a:tc>
                  <a:txBody>
                    <a:bodyPr/>
                    <a:lstStyle/>
                    <a:p>
                      <a:pPr algn="ctr" indent="0" marL="0">
                        <a:buNone/>
                      </a:pPr>
                      <a:r>
                        <a:rPr lang="en-US" sz="1250" dirty="0">
                          <a:solidFill>
                            <a:srgbClr val="5B7178"/>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101600" marR="101600" marT="50800" marB="50800" anchor="ctr">
                    <a:lnL w="12700" cap="flat" cmpd="sng" algn="ctr">
                      <a:solidFill>
                        <a:srgbClr val="D8E5E5"/>
                      </a:solidFill>
                      <a:prstDash val="solid"/>
                      <a:round/>
                      <a:headEnd type="none" w="med" len="med"/>
                      <a:tailEnd type="none" w="med" len="med"/>
                    </a:lnL>
                    <a:lnR w="12700" cap="flat" cmpd="sng" algn="ctr">
                      <a:solidFill>
                        <a:srgbClr val="D8E5E5"/>
                      </a:solidFill>
                      <a:prstDash val="solid"/>
                      <a:round/>
                      <a:headEnd type="none" w="med" len="med"/>
                      <a:tailEnd type="none" w="med" len="med"/>
                    </a:lnR>
                    <a:lnT w="12700" cap="flat" cmpd="sng" algn="ctr">
                      <a:solidFill>
                        <a:srgbClr val="D8E5E5"/>
                      </a:solidFill>
                      <a:prstDash val="solid"/>
                      <a:round/>
                      <a:headEnd type="none" w="med" len="med"/>
                      <a:tailEnd type="none" w="med" len="med"/>
                    </a:lnT>
                    <a:lnB w="12700" cap="flat" cmpd="sng" algn="ctr">
                      <a:solidFill>
                        <a:srgbClr val="D8E5E5"/>
                      </a:solidFill>
                      <a:prstDash val="solid"/>
                      <a:round/>
                      <a:headEnd type="none" w="med" len="med"/>
                      <a:tailEnd type="none" w="med" len="med"/>
                    </a:lnB>
                    <a:solidFill>
                      <a:srgbClr val="F0F6F6"/>
                    </a:solidFill>
                  </a:tcPr>
                </a:tc>
                <a:tc>
                  <a:txBody>
                    <a:bodyPr/>
                    <a:lstStyle/>
                    <a:p>
                      <a:pPr algn="ctr" indent="0" marL="0">
                        <a:buNone/>
                      </a:pPr>
                      <a:r>
                        <a:rPr lang="en-US" sz="1400" dirty="0">
                          <a:solidFill>
                            <a:srgbClr val="5B7178"/>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1600" marR="101600" marT="50800" marB="50800" anchor="ctr">
                    <a:lnL w="12700" cap="flat" cmpd="sng" algn="ctr">
                      <a:solidFill>
                        <a:srgbClr val="D8E5E5"/>
                      </a:solidFill>
                      <a:prstDash val="solid"/>
                      <a:round/>
                      <a:headEnd type="none" w="med" len="med"/>
                      <a:tailEnd type="none" w="med" len="med"/>
                    </a:lnL>
                    <a:lnR w="12700" cap="flat" cmpd="sng" algn="ctr">
                      <a:solidFill>
                        <a:srgbClr val="D8E5E5"/>
                      </a:solidFill>
                      <a:prstDash val="solid"/>
                      <a:round/>
                      <a:headEnd type="none" w="med" len="med"/>
                      <a:tailEnd type="none" w="med" len="med"/>
                    </a:lnR>
                    <a:lnT w="12700" cap="flat" cmpd="sng" algn="ctr">
                      <a:solidFill>
                        <a:srgbClr val="D8E5E5"/>
                      </a:solidFill>
                      <a:prstDash val="solid"/>
                      <a:round/>
                      <a:headEnd type="none" w="med" len="med"/>
                      <a:tailEnd type="none" w="med" len="med"/>
                    </a:lnT>
                    <a:lnB w="12700" cap="flat" cmpd="sng" algn="ctr">
                      <a:solidFill>
                        <a:srgbClr val="D8E5E5"/>
                      </a:solidFill>
                      <a:prstDash val="solid"/>
                      <a:round/>
                      <a:headEnd type="none" w="med" len="med"/>
                      <a:tailEnd type="none" w="med" len="med"/>
                    </a:lnB>
                    <a:solidFill>
                      <a:srgbClr val="F0F6F6"/>
                    </a:solidFill>
                  </a:tcPr>
                </a:tc>
                <a:tc>
                  <a:txBody>
                    <a:bodyPr/>
                    <a:lstStyle/>
                    <a:p>
                      <a:pPr algn="ctr" indent="0" marL="0">
                        <a:buNone/>
                      </a:pPr>
                      <a:r>
                        <a:rPr lang="en-US" sz="1250" b="1" dirty="0">
                          <a:solidFill>
                            <a:srgbClr val="00A896"/>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101600" marR="101600" marT="50800" marB="50800" anchor="ctr">
                    <a:lnL w="12700" cap="flat" cmpd="sng" algn="ctr">
                      <a:solidFill>
                        <a:srgbClr val="D8E5E5"/>
                      </a:solidFill>
                      <a:prstDash val="solid"/>
                      <a:round/>
                      <a:headEnd type="none" w="med" len="med"/>
                      <a:tailEnd type="none" w="med" len="med"/>
                    </a:lnL>
                    <a:lnR w="12700" cap="flat" cmpd="sng" algn="ctr">
                      <a:solidFill>
                        <a:srgbClr val="D8E5E5"/>
                      </a:solidFill>
                      <a:prstDash val="solid"/>
                      <a:round/>
                      <a:headEnd type="none" w="med" len="med"/>
                      <a:tailEnd type="none" w="med" len="med"/>
                    </a:lnR>
                    <a:lnT w="12700" cap="flat" cmpd="sng" algn="ctr">
                      <a:solidFill>
                        <a:srgbClr val="D8E5E5"/>
                      </a:solidFill>
                      <a:prstDash val="solid"/>
                      <a:round/>
                      <a:headEnd type="none" w="med" len="med"/>
                      <a:tailEnd type="none" w="med" len="med"/>
                    </a:lnT>
                    <a:lnB w="12700" cap="flat" cmpd="sng" algn="ctr">
                      <a:solidFill>
                        <a:srgbClr val="D8E5E5"/>
                      </a:solidFill>
                      <a:prstDash val="solid"/>
                      <a:round/>
                      <a:headEnd type="none" w="med" len="med"/>
                      <a:tailEnd type="none" w="med" len="med"/>
                    </a:lnB>
                    <a:solidFill>
                      <a:srgbClr val="E7F6F3"/>
                    </a:solidFill>
                  </a:tcPr>
                </a:tc>
              </a:tr>
            </a:tbl>
          </a:graphicData>
        </a:graphic>
      </p:graphicFrame>
      <p:sp>
        <p:nvSpPr>
          <p:cNvPr id="9" name="Shape 6"/>
          <p:cNvSpPr/>
          <p:nvPr/>
        </p:nvSpPr>
        <p:spPr>
          <a:xfrm>
            <a:off x="566928" y="4480560"/>
            <a:ext cx="11064240" cy="1234440"/>
          </a:xfrm>
          <a:prstGeom prst="roundRect">
            <a:avLst>
              <a:gd name="adj" fmla="val 5926"/>
            </a:avLst>
          </a:prstGeom>
          <a:solidFill>
            <a:srgbClr val="E7F6F3"/>
          </a:solidFill>
          <a:ln w="12700">
            <a:solidFill>
              <a:srgbClr val="00A896"/>
            </a:solidFill>
            <a:prstDash val="solid"/>
          </a:ln>
        </p:spPr>
      </p:sp>
      <p:sp>
        <p:nvSpPr>
          <p:cNvPr id="10" name="Text 7"/>
          <p:cNvSpPr/>
          <p:nvPr/>
        </p:nvSpPr>
        <p:spPr>
          <a:xfrm>
            <a:off x="868680" y="4617720"/>
            <a:ext cx="2743200" cy="274320"/>
          </a:xfrm>
          <a:prstGeom prst="rect">
            <a:avLst/>
          </a:prstGeom>
          <a:noFill/>
          <a:ln/>
        </p:spPr>
        <p:txBody>
          <a:bodyPr wrap="square" lIns="0" tIns="0" rIns="0" bIns="0" rtlCol="0" anchor="ctr"/>
          <a:lstStyle/>
          <a:p>
            <a:pPr indent="0" marL="0">
              <a:buNone/>
            </a:pPr>
            <a:r>
              <a:rPr lang="en-US" sz="1200" b="1" spc="100" kern="0" dirty="0">
                <a:solidFill>
                  <a:srgbClr val="028090"/>
                </a:solidFill>
                <a:latin typeface="Calibri" pitchFamily="34" charset="0"/>
                <a:ea typeface="Calibri" pitchFamily="34" charset="-122"/>
                <a:cs typeface="Calibri" pitchFamily="34" charset="-120"/>
              </a:rPr>
              <a:t>Our novelty</a:t>
            </a:r>
            <a:endParaRPr lang="en-US" sz="1200" dirty="0"/>
          </a:p>
        </p:txBody>
      </p:sp>
      <p:sp>
        <p:nvSpPr>
          <p:cNvPr id="11" name="Text 8"/>
          <p:cNvSpPr/>
          <p:nvPr/>
        </p:nvSpPr>
        <p:spPr>
          <a:xfrm>
            <a:off x="868680" y="4919472"/>
            <a:ext cx="10424160" cy="685800"/>
          </a:xfrm>
          <a:prstGeom prst="rect">
            <a:avLst/>
          </a:prstGeom>
          <a:noFill/>
          <a:ln/>
        </p:spPr>
        <p:txBody>
          <a:bodyPr wrap="square" lIns="0" tIns="0" rIns="0" bIns="0" rtlCol="0" anchor="ctr"/>
          <a:lstStyle/>
          <a:p>
            <a:pPr indent="0" marL="0">
              <a:lnSpc>
                <a:spcPts val="1900"/>
              </a:lnSpc>
              <a:buNone/>
            </a:pPr>
            <a:r>
              <a:rPr lang="en-US" sz="1300" dirty="0">
                <a:solidFill>
                  <a:srgbClr val="13272E"/>
                </a:solidFill>
                <a:latin typeface="Calibri" pitchFamily="34" charset="0"/>
                <a:ea typeface="Calibri" pitchFamily="34" charset="-122"/>
                <a:cs typeface="Calibri" pitchFamily="34" charset="-120"/>
              </a:rPr>
              <a:t>Existing tools report the environment; clinical systems assess the patient. Neither closes the loop between them. HealthGuardAI is the fusion layer — it takes live environmental conditions and returns a modelled, organ-specific health risk on a consumer phone, with no clinical input and no manual data entry.</a:t>
            </a:r>
            <a:endParaRPr lang="en-US" sz="1300" dirty="0"/>
          </a:p>
        </p:txBody>
      </p:sp>
      <p:sp>
        <p:nvSpPr>
          <p:cNvPr id="12" name="Text 9"/>
          <p:cNvSpPr/>
          <p:nvPr/>
        </p:nvSpPr>
        <p:spPr>
          <a:xfrm>
            <a:off x="566928" y="5852160"/>
            <a:ext cx="7315200" cy="237744"/>
          </a:xfrm>
          <a:prstGeom prst="rect">
            <a:avLst/>
          </a:prstGeom>
          <a:noFill/>
          <a:ln/>
        </p:spPr>
        <p:txBody>
          <a:bodyPr wrap="square" lIns="0" tIns="0" rIns="0" bIns="0" rtlCol="0" anchor="ctr"/>
          <a:lstStyle/>
          <a:p>
            <a:pPr indent="0" marL="0">
              <a:buNone/>
            </a:pPr>
            <a:r>
              <a:rPr lang="en-US" sz="1000" i="1" dirty="0">
                <a:solidFill>
                  <a:srgbClr val="5B7178"/>
                </a:solidFill>
                <a:latin typeface="Calibri" pitchFamily="34" charset="0"/>
                <a:ea typeface="Calibri" pitchFamily="34" charset="-122"/>
                <a:cs typeface="Calibri" pitchFamily="34" charset="-120"/>
              </a:rPr>
              <a:t>Positioning reflects the typical feature set of each category of tool.</a:t>
            </a:r>
            <a:endParaRPr lang="en-US" sz="1000" dirty="0"/>
          </a:p>
        </p:txBody>
      </p:sp>
      <p:sp>
        <p:nvSpPr>
          <p:cNvPr id="13" name="Text 10"/>
          <p:cNvSpPr/>
          <p:nvPr/>
        </p:nvSpPr>
        <p:spPr>
          <a:xfrm>
            <a:off x="11292840" y="6263640"/>
            <a:ext cx="457200" cy="274320"/>
          </a:xfrm>
          <a:prstGeom prst="rect">
            <a:avLst/>
          </a:prstGeom>
          <a:noFill/>
          <a:ln/>
        </p:spPr>
        <p:txBody>
          <a:bodyPr wrap="square" lIns="0" tIns="0" rIns="0" bIns="0" rtlCol="0" anchor="ctr"/>
          <a:lstStyle/>
          <a:p>
            <a:pPr algn="r" indent="0" marL="0">
              <a:buNone/>
            </a:pPr>
            <a:r>
              <a:rPr lang="en-US" sz="1000" dirty="0">
                <a:solidFill>
                  <a:srgbClr val="5B7178"/>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2B33"/>
        </a:solidFill>
      </p:bgPr>
    </p:bg>
    <p:spTree>
      <p:nvGrpSpPr>
        <p:cNvPr id="1" name=""/>
        <p:cNvGrpSpPr/>
        <p:nvPr/>
      </p:nvGrpSpPr>
      <p:grpSpPr>
        <a:xfrm>
          <a:off x="0" y="0"/>
          <a:ext cx="0" cy="0"/>
          <a:chOff x="0" y="0"/>
          <a:chExt cx="0" cy="0"/>
        </a:xfrm>
      </p:grpSpPr>
      <p:sp>
        <p:nvSpPr>
          <p:cNvPr id="2" name="Text 0"/>
          <p:cNvSpPr/>
          <p:nvPr/>
        </p:nvSpPr>
        <p:spPr>
          <a:xfrm>
            <a:off x="566928" y="329184"/>
            <a:ext cx="8412480" cy="566928"/>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Summary &amp; Future Work</a:t>
            </a:r>
            <a:endParaRPr lang="en-US" sz="3400" dirty="0"/>
          </a:p>
        </p:txBody>
      </p:sp>
      <p:sp>
        <p:nvSpPr>
          <p:cNvPr id="3" name="Shape 1"/>
          <p:cNvSpPr/>
          <p:nvPr/>
        </p:nvSpPr>
        <p:spPr>
          <a:xfrm>
            <a:off x="585216" y="118872"/>
            <a:ext cx="100584" cy="100584"/>
          </a:xfrm>
          <a:prstGeom prst="ellipse">
            <a:avLst/>
          </a:prstGeom>
          <a:solidFill>
            <a:srgbClr val="3FA34D"/>
          </a:solidFill>
          <a:ln w="12700">
            <a:solidFill>
              <a:srgbClr val="3FA34D"/>
            </a:solidFill>
            <a:prstDash val="solid"/>
          </a:ln>
        </p:spPr>
      </p:sp>
      <p:sp>
        <p:nvSpPr>
          <p:cNvPr id="4" name="Shape 2"/>
          <p:cNvSpPr/>
          <p:nvPr/>
        </p:nvSpPr>
        <p:spPr>
          <a:xfrm>
            <a:off x="749808" y="118872"/>
            <a:ext cx="100584" cy="100584"/>
          </a:xfrm>
          <a:prstGeom prst="ellipse">
            <a:avLst/>
          </a:prstGeom>
          <a:solidFill>
            <a:srgbClr val="E9B949"/>
          </a:solidFill>
          <a:ln w="12700">
            <a:solidFill>
              <a:srgbClr val="E9B949"/>
            </a:solidFill>
            <a:prstDash val="solid"/>
          </a:ln>
        </p:spPr>
      </p:sp>
      <p:sp>
        <p:nvSpPr>
          <p:cNvPr id="5" name="Shape 3"/>
          <p:cNvSpPr/>
          <p:nvPr/>
        </p:nvSpPr>
        <p:spPr>
          <a:xfrm>
            <a:off x="914400" y="118872"/>
            <a:ext cx="100584" cy="100584"/>
          </a:xfrm>
          <a:prstGeom prst="ellipse">
            <a:avLst/>
          </a:prstGeom>
          <a:solidFill>
            <a:srgbClr val="E07B39"/>
          </a:solidFill>
          <a:ln w="12700">
            <a:solidFill>
              <a:srgbClr val="E07B39"/>
            </a:solidFill>
            <a:prstDash val="solid"/>
          </a:ln>
        </p:spPr>
      </p:sp>
      <p:sp>
        <p:nvSpPr>
          <p:cNvPr id="6" name="Shape 4"/>
          <p:cNvSpPr/>
          <p:nvPr/>
        </p:nvSpPr>
        <p:spPr>
          <a:xfrm>
            <a:off x="1078992" y="118872"/>
            <a:ext cx="100584" cy="100584"/>
          </a:xfrm>
          <a:prstGeom prst="ellipse">
            <a:avLst/>
          </a:prstGeom>
          <a:solidFill>
            <a:srgbClr val="C2453D"/>
          </a:solidFill>
          <a:ln w="12700">
            <a:solidFill>
              <a:srgbClr val="C2453D"/>
            </a:solidFill>
            <a:prstDash val="solid"/>
          </a:ln>
        </p:spPr>
      </p:sp>
      <p:sp>
        <p:nvSpPr>
          <p:cNvPr id="7" name="Text 5"/>
          <p:cNvSpPr/>
          <p:nvPr/>
        </p:nvSpPr>
        <p:spPr>
          <a:xfrm>
            <a:off x="566928" y="1143000"/>
            <a:ext cx="5029200" cy="256032"/>
          </a:xfrm>
          <a:prstGeom prst="rect">
            <a:avLst/>
          </a:prstGeom>
          <a:noFill/>
          <a:ln/>
        </p:spPr>
        <p:txBody>
          <a:bodyPr wrap="square" lIns="0" tIns="0" rIns="0" bIns="0" rtlCol="0" anchor="ctr"/>
          <a:lstStyle/>
          <a:p>
            <a:pPr indent="0" marL="0">
              <a:buNone/>
            </a:pPr>
            <a:r>
              <a:rPr lang="en-US" sz="1100" b="1" spc="150" kern="0" dirty="0">
                <a:solidFill>
                  <a:srgbClr val="02C39A"/>
                </a:solidFill>
                <a:latin typeface="Calibri" pitchFamily="34" charset="0"/>
                <a:ea typeface="Calibri" pitchFamily="34" charset="-122"/>
                <a:cs typeface="Calibri" pitchFamily="34" charset="-120"/>
              </a:rPr>
              <a:t>BUILT IN 36 HOURS</a:t>
            </a:r>
            <a:endParaRPr lang="en-US" sz="1100" dirty="0"/>
          </a:p>
        </p:txBody>
      </p:sp>
      <p:sp>
        <p:nvSpPr>
          <p:cNvPr id="8" name="Shape 6"/>
          <p:cNvSpPr/>
          <p:nvPr/>
        </p:nvSpPr>
        <p:spPr>
          <a:xfrm>
            <a:off x="594360" y="1636776"/>
            <a:ext cx="219456" cy="219456"/>
          </a:xfrm>
          <a:prstGeom prst="ellipse">
            <a:avLst/>
          </a:prstGeom>
          <a:solidFill>
            <a:srgbClr val="3FA34D"/>
          </a:solidFill>
          <a:ln w="12700">
            <a:solidFill>
              <a:srgbClr val="3FA34D"/>
            </a:solidFill>
            <a:prstDash val="solid"/>
          </a:ln>
        </p:spPr>
      </p:sp>
      <p:sp>
        <p:nvSpPr>
          <p:cNvPr id="9" name="Text 7"/>
          <p:cNvSpPr/>
          <p:nvPr/>
        </p:nvSpPr>
        <p:spPr>
          <a:xfrm>
            <a:off x="960120" y="1572768"/>
            <a:ext cx="4663440" cy="2743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Working prototype, end to end</a:t>
            </a:r>
            <a:endParaRPr lang="en-US" sz="1500" dirty="0"/>
          </a:p>
        </p:txBody>
      </p:sp>
      <p:sp>
        <p:nvSpPr>
          <p:cNvPr id="10" name="Text 8"/>
          <p:cNvSpPr/>
          <p:nvPr/>
        </p:nvSpPr>
        <p:spPr>
          <a:xfrm>
            <a:off x="960120" y="1865376"/>
            <a:ext cx="4663440" cy="603504"/>
          </a:xfrm>
          <a:prstGeom prst="rect">
            <a:avLst/>
          </a:prstGeom>
          <a:noFill/>
          <a:ln/>
        </p:spPr>
        <p:txBody>
          <a:bodyPr wrap="square" lIns="0" tIns="0" rIns="0" bIns="0" rtlCol="0" anchor="ctr"/>
          <a:lstStyle/>
          <a:p>
            <a:pPr indent="0" marL="0">
              <a:lnSpc>
                <a:spcPts val="1700"/>
              </a:lnSpc>
              <a:buNone/>
            </a:pPr>
            <a:r>
              <a:rPr lang="en-US" sz="1250" dirty="0">
                <a:solidFill>
                  <a:srgbClr val="9CBAC0"/>
                </a:solidFill>
                <a:latin typeface="Calibri" pitchFamily="34" charset="0"/>
                <a:ea typeface="Calibri" pitchFamily="34" charset="-122"/>
                <a:cs typeface="Calibri" pitchFamily="34" charset="-120"/>
              </a:rPr>
              <a:t>Android app, FastAPI service and trained model integrated and running together.</a:t>
            </a:r>
            <a:endParaRPr lang="en-US" sz="1250" dirty="0"/>
          </a:p>
        </p:txBody>
      </p:sp>
      <p:sp>
        <p:nvSpPr>
          <p:cNvPr id="11" name="Shape 9"/>
          <p:cNvSpPr/>
          <p:nvPr/>
        </p:nvSpPr>
        <p:spPr>
          <a:xfrm>
            <a:off x="594360" y="2660904"/>
            <a:ext cx="219456" cy="219456"/>
          </a:xfrm>
          <a:prstGeom prst="ellipse">
            <a:avLst/>
          </a:prstGeom>
          <a:solidFill>
            <a:srgbClr val="E9B949"/>
          </a:solidFill>
          <a:ln w="12700">
            <a:solidFill>
              <a:srgbClr val="E9B949"/>
            </a:solidFill>
            <a:prstDash val="solid"/>
          </a:ln>
        </p:spPr>
      </p:sp>
      <p:sp>
        <p:nvSpPr>
          <p:cNvPr id="12" name="Text 10"/>
          <p:cNvSpPr/>
          <p:nvPr/>
        </p:nvSpPr>
        <p:spPr>
          <a:xfrm>
            <a:off x="960120" y="2596896"/>
            <a:ext cx="4663440" cy="2743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Environment fused with health</a:t>
            </a:r>
            <a:endParaRPr lang="en-US" sz="1500" dirty="0"/>
          </a:p>
        </p:txBody>
      </p:sp>
      <p:sp>
        <p:nvSpPr>
          <p:cNvPr id="13" name="Text 11"/>
          <p:cNvSpPr/>
          <p:nvPr/>
        </p:nvSpPr>
        <p:spPr>
          <a:xfrm>
            <a:off x="960120" y="2889504"/>
            <a:ext cx="4663440" cy="603504"/>
          </a:xfrm>
          <a:prstGeom prst="rect">
            <a:avLst/>
          </a:prstGeom>
          <a:noFill/>
          <a:ln/>
        </p:spPr>
        <p:txBody>
          <a:bodyPr wrap="square" lIns="0" tIns="0" rIns="0" bIns="0" rtlCol="0" anchor="ctr"/>
          <a:lstStyle/>
          <a:p>
            <a:pPr indent="0" marL="0">
              <a:lnSpc>
                <a:spcPts val="1700"/>
              </a:lnSpc>
              <a:buNone/>
            </a:pPr>
            <a:r>
              <a:rPr lang="en-US" sz="1250" dirty="0">
                <a:solidFill>
                  <a:srgbClr val="9CBAC0"/>
                </a:solidFill>
                <a:latin typeface="Calibri" pitchFamily="34" charset="0"/>
                <a:ea typeface="Calibri" pitchFamily="34" charset="-122"/>
                <a:cs typeface="Calibri" pitchFamily="34" charset="-120"/>
              </a:rPr>
              <a:t>A learned mapping from AQI and weather to respiratory and cardiovascular risk.</a:t>
            </a:r>
            <a:endParaRPr lang="en-US" sz="1250" dirty="0"/>
          </a:p>
        </p:txBody>
      </p:sp>
      <p:sp>
        <p:nvSpPr>
          <p:cNvPr id="14" name="Shape 12"/>
          <p:cNvSpPr/>
          <p:nvPr/>
        </p:nvSpPr>
        <p:spPr>
          <a:xfrm>
            <a:off x="594360" y="3685032"/>
            <a:ext cx="219456" cy="219456"/>
          </a:xfrm>
          <a:prstGeom prst="ellipse">
            <a:avLst/>
          </a:prstGeom>
          <a:solidFill>
            <a:srgbClr val="E07B39"/>
          </a:solidFill>
          <a:ln w="12700">
            <a:solidFill>
              <a:srgbClr val="E07B39"/>
            </a:solidFill>
            <a:prstDash val="solid"/>
          </a:ln>
        </p:spPr>
      </p:sp>
      <p:sp>
        <p:nvSpPr>
          <p:cNvPr id="15" name="Text 13"/>
          <p:cNvSpPr/>
          <p:nvPr/>
        </p:nvSpPr>
        <p:spPr>
          <a:xfrm>
            <a:off x="960120" y="3621024"/>
            <a:ext cx="4663440" cy="2743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Interpretable by design</a:t>
            </a:r>
            <a:endParaRPr lang="en-US" sz="1500" dirty="0"/>
          </a:p>
        </p:txBody>
      </p:sp>
      <p:sp>
        <p:nvSpPr>
          <p:cNvPr id="16" name="Text 14"/>
          <p:cNvSpPr/>
          <p:nvPr/>
        </p:nvSpPr>
        <p:spPr>
          <a:xfrm>
            <a:off x="960120" y="3913632"/>
            <a:ext cx="4663440" cy="603504"/>
          </a:xfrm>
          <a:prstGeom prst="rect">
            <a:avLst/>
          </a:prstGeom>
          <a:noFill/>
          <a:ln/>
        </p:spPr>
        <p:txBody>
          <a:bodyPr wrap="square" lIns="0" tIns="0" rIns="0" bIns="0" rtlCol="0" anchor="ctr"/>
          <a:lstStyle/>
          <a:p>
            <a:pPr indent="0" marL="0">
              <a:lnSpc>
                <a:spcPts val="1700"/>
              </a:lnSpc>
              <a:buNone/>
            </a:pPr>
            <a:r>
              <a:rPr lang="en-US" sz="1250" dirty="0">
                <a:solidFill>
                  <a:srgbClr val="9CBAC0"/>
                </a:solidFill>
                <a:latin typeface="Calibri" pitchFamily="34" charset="0"/>
                <a:ea typeface="Calibri" pitchFamily="34" charset="-122"/>
                <a:cs typeface="Calibri" pitchFamily="34" charset="-120"/>
              </a:rPr>
              <a:t>Case-count predictions converted into percentages a non-clinical user can act on.</a:t>
            </a:r>
            <a:endParaRPr lang="en-US" sz="1250" dirty="0"/>
          </a:p>
        </p:txBody>
      </p:sp>
      <p:sp>
        <p:nvSpPr>
          <p:cNvPr id="17" name="Text 15"/>
          <p:cNvSpPr/>
          <p:nvPr/>
        </p:nvSpPr>
        <p:spPr>
          <a:xfrm>
            <a:off x="594360" y="4800600"/>
            <a:ext cx="5029200" cy="777240"/>
          </a:xfrm>
          <a:prstGeom prst="rect">
            <a:avLst/>
          </a:prstGeom>
          <a:noFill/>
          <a:ln/>
        </p:spPr>
        <p:txBody>
          <a:bodyPr wrap="square" lIns="0" tIns="0" rIns="0" bIns="0" rtlCol="0" anchor="ctr"/>
          <a:lstStyle/>
          <a:p>
            <a:pPr indent="0" marL="0">
              <a:lnSpc>
                <a:spcPts val="1900"/>
              </a:lnSpc>
              <a:buNone/>
            </a:pPr>
            <a:r>
              <a:rPr lang="en-US" sz="1300" i="1" dirty="0">
                <a:solidFill>
                  <a:srgbClr val="02C39A"/>
                </a:solidFill>
                <a:latin typeface="Calibri" pitchFamily="34" charset="0"/>
                <a:ea typeface="Calibri" pitchFamily="34" charset="-122"/>
                <a:cs typeface="Calibri" pitchFamily="34" charset="-120"/>
              </a:rPr>
              <a:t>The prototype proves the pipeline. The model is the part that scales — every improvement below feeds the same architecture.</a:t>
            </a:r>
            <a:endParaRPr lang="en-US" sz="1300" dirty="0"/>
          </a:p>
        </p:txBody>
      </p:sp>
      <p:sp>
        <p:nvSpPr>
          <p:cNvPr id="18" name="Shape 16"/>
          <p:cNvSpPr/>
          <p:nvPr/>
        </p:nvSpPr>
        <p:spPr>
          <a:xfrm>
            <a:off x="6172200" y="1097280"/>
            <a:ext cx="5458968" cy="4800600"/>
          </a:xfrm>
          <a:prstGeom prst="roundRect">
            <a:avLst>
              <a:gd name="adj" fmla="val 1905"/>
            </a:avLst>
          </a:prstGeom>
          <a:solidFill>
            <a:srgbClr val="13363F"/>
          </a:solidFill>
          <a:ln w="12700">
            <a:solidFill>
              <a:srgbClr val="23505B"/>
            </a:solidFill>
            <a:prstDash val="solid"/>
          </a:ln>
        </p:spPr>
      </p:sp>
      <p:sp>
        <p:nvSpPr>
          <p:cNvPr id="19" name="Text 17"/>
          <p:cNvSpPr/>
          <p:nvPr/>
        </p:nvSpPr>
        <p:spPr>
          <a:xfrm>
            <a:off x="6492240" y="1325880"/>
            <a:ext cx="4846320" cy="256032"/>
          </a:xfrm>
          <a:prstGeom prst="rect">
            <a:avLst/>
          </a:prstGeom>
          <a:noFill/>
          <a:ln/>
        </p:spPr>
        <p:txBody>
          <a:bodyPr wrap="square" lIns="0" tIns="0" rIns="0" bIns="0" rtlCol="0" anchor="ctr"/>
          <a:lstStyle/>
          <a:p>
            <a:pPr indent="0" marL="0">
              <a:buNone/>
            </a:pPr>
            <a:r>
              <a:rPr lang="en-US" sz="1100" b="1" spc="150" kern="0" dirty="0">
                <a:solidFill>
                  <a:srgbClr val="02C39A"/>
                </a:solidFill>
                <a:latin typeface="Calibri" pitchFamily="34" charset="0"/>
                <a:ea typeface="Calibri" pitchFamily="34" charset="-122"/>
                <a:cs typeface="Calibri" pitchFamily="34" charset="-120"/>
              </a:rPr>
              <a:t>FUTURE WORK</a:t>
            </a:r>
            <a:endParaRPr lang="en-US" sz="1100" dirty="0"/>
          </a:p>
        </p:txBody>
      </p:sp>
      <p:sp>
        <p:nvSpPr>
          <p:cNvPr id="20" name="Text 18"/>
          <p:cNvSpPr/>
          <p:nvPr/>
        </p:nvSpPr>
        <p:spPr>
          <a:xfrm>
            <a:off x="6492240" y="1691640"/>
            <a:ext cx="457200" cy="256032"/>
          </a:xfrm>
          <a:prstGeom prst="rect">
            <a:avLst/>
          </a:prstGeom>
          <a:noFill/>
          <a:ln/>
        </p:spPr>
        <p:txBody>
          <a:bodyPr wrap="square" lIns="0" tIns="0" rIns="0" bIns="0" rtlCol="0" anchor="ctr"/>
          <a:lstStyle/>
          <a:p>
            <a:pPr indent="0" marL="0">
              <a:buNone/>
            </a:pPr>
            <a:r>
              <a:rPr lang="en-US" sz="1400" b="1" dirty="0">
                <a:solidFill>
                  <a:srgbClr val="028090"/>
                </a:solidFill>
                <a:latin typeface="Cambria" pitchFamily="34" charset="0"/>
                <a:ea typeface="Cambria" pitchFamily="34" charset="-122"/>
                <a:cs typeface="Cambria" pitchFamily="34" charset="-120"/>
              </a:rPr>
              <a:t>01</a:t>
            </a:r>
            <a:endParaRPr lang="en-US" sz="1400" dirty="0"/>
          </a:p>
        </p:txBody>
      </p:sp>
      <p:sp>
        <p:nvSpPr>
          <p:cNvPr id="21" name="Text 19"/>
          <p:cNvSpPr/>
          <p:nvPr/>
        </p:nvSpPr>
        <p:spPr>
          <a:xfrm>
            <a:off x="7022592" y="1691640"/>
            <a:ext cx="4343400" cy="25603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Full pollutant feature set</a:t>
            </a:r>
            <a:endParaRPr lang="en-US" sz="1350" dirty="0"/>
          </a:p>
        </p:txBody>
      </p:sp>
      <p:sp>
        <p:nvSpPr>
          <p:cNvPr id="22" name="Text 20"/>
          <p:cNvSpPr/>
          <p:nvPr/>
        </p:nvSpPr>
        <p:spPr>
          <a:xfrm>
            <a:off x="7022592" y="1956816"/>
            <a:ext cx="4343400" cy="530352"/>
          </a:xfrm>
          <a:prstGeom prst="rect">
            <a:avLst/>
          </a:prstGeom>
          <a:noFill/>
          <a:ln/>
        </p:spPr>
        <p:txBody>
          <a:bodyPr wrap="square" lIns="0" tIns="0" rIns="0" bIns="0" rtlCol="0" anchor="ctr"/>
          <a:lstStyle/>
          <a:p>
            <a:pPr indent="0" marL="0">
              <a:lnSpc>
                <a:spcPts val="1500"/>
              </a:lnSpc>
              <a:buNone/>
            </a:pPr>
            <a:r>
              <a:rPr lang="en-US" sz="1150" dirty="0">
                <a:solidFill>
                  <a:srgbClr val="9CBAC0"/>
                </a:solidFill>
                <a:latin typeface="Calibri" pitchFamily="34" charset="0"/>
                <a:ea typeface="Calibri" pitchFamily="34" charset="-122"/>
                <a:cs typeface="Calibri" pitchFamily="34" charset="-120"/>
              </a:rPr>
              <a:t>PM2.5, PM10, NO2, SO2, CO and O3 as individual inputs so the model separates particulate from gas-driven risk.</a:t>
            </a:r>
            <a:endParaRPr lang="en-US" sz="1150" dirty="0"/>
          </a:p>
        </p:txBody>
      </p:sp>
      <p:sp>
        <p:nvSpPr>
          <p:cNvPr id="23" name="Text 21"/>
          <p:cNvSpPr/>
          <p:nvPr/>
        </p:nvSpPr>
        <p:spPr>
          <a:xfrm>
            <a:off x="6492240" y="2532888"/>
            <a:ext cx="457200" cy="256032"/>
          </a:xfrm>
          <a:prstGeom prst="rect">
            <a:avLst/>
          </a:prstGeom>
          <a:noFill/>
          <a:ln/>
        </p:spPr>
        <p:txBody>
          <a:bodyPr wrap="square" lIns="0" tIns="0" rIns="0" bIns="0" rtlCol="0" anchor="ctr"/>
          <a:lstStyle/>
          <a:p>
            <a:pPr indent="0" marL="0">
              <a:buNone/>
            </a:pPr>
            <a:r>
              <a:rPr lang="en-US" sz="1400" b="1" dirty="0">
                <a:solidFill>
                  <a:srgbClr val="028090"/>
                </a:solidFill>
                <a:latin typeface="Cambria" pitchFamily="34" charset="0"/>
                <a:ea typeface="Cambria" pitchFamily="34" charset="-122"/>
                <a:cs typeface="Cambria" pitchFamily="34" charset="-120"/>
              </a:rPr>
              <a:t>02</a:t>
            </a:r>
            <a:endParaRPr lang="en-US" sz="1400" dirty="0"/>
          </a:p>
        </p:txBody>
      </p:sp>
      <p:sp>
        <p:nvSpPr>
          <p:cNvPr id="24" name="Text 22"/>
          <p:cNvSpPr/>
          <p:nvPr/>
        </p:nvSpPr>
        <p:spPr>
          <a:xfrm>
            <a:off x="7022592" y="2532888"/>
            <a:ext cx="4343400" cy="25603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Disease-specific guidance</a:t>
            </a:r>
            <a:endParaRPr lang="en-US" sz="1350" dirty="0"/>
          </a:p>
        </p:txBody>
      </p:sp>
      <p:sp>
        <p:nvSpPr>
          <p:cNvPr id="25" name="Text 23"/>
          <p:cNvSpPr/>
          <p:nvPr/>
        </p:nvSpPr>
        <p:spPr>
          <a:xfrm>
            <a:off x="7022592" y="2798064"/>
            <a:ext cx="4343400" cy="530352"/>
          </a:xfrm>
          <a:prstGeom prst="rect">
            <a:avLst/>
          </a:prstGeom>
          <a:noFill/>
          <a:ln/>
        </p:spPr>
        <p:txBody>
          <a:bodyPr wrap="square" lIns="0" tIns="0" rIns="0" bIns="0" rtlCol="0" anchor="ctr"/>
          <a:lstStyle/>
          <a:p>
            <a:pPr indent="0" marL="0">
              <a:lnSpc>
                <a:spcPts val="1500"/>
              </a:lnSpc>
              <a:buNone/>
            </a:pPr>
            <a:r>
              <a:rPr lang="en-US" sz="1150" dirty="0">
                <a:solidFill>
                  <a:srgbClr val="9CBAC0"/>
                </a:solidFill>
                <a:latin typeface="Calibri" pitchFamily="34" charset="0"/>
                <a:ea typeface="Calibri" pitchFamily="34" charset="-122"/>
                <a:cs typeface="Calibri" pitchFamily="34" charset="-120"/>
              </a:rPr>
              <a:t>Recommendations conditioned on the predicted risk profile rather than a generic warning.</a:t>
            </a:r>
            <a:endParaRPr lang="en-US" sz="1150" dirty="0"/>
          </a:p>
        </p:txBody>
      </p:sp>
      <p:sp>
        <p:nvSpPr>
          <p:cNvPr id="26" name="Text 24"/>
          <p:cNvSpPr/>
          <p:nvPr/>
        </p:nvSpPr>
        <p:spPr>
          <a:xfrm>
            <a:off x="6492240" y="3374136"/>
            <a:ext cx="457200" cy="256032"/>
          </a:xfrm>
          <a:prstGeom prst="rect">
            <a:avLst/>
          </a:prstGeom>
          <a:noFill/>
          <a:ln/>
        </p:spPr>
        <p:txBody>
          <a:bodyPr wrap="square" lIns="0" tIns="0" rIns="0" bIns="0" rtlCol="0" anchor="ctr"/>
          <a:lstStyle/>
          <a:p>
            <a:pPr indent="0" marL="0">
              <a:buNone/>
            </a:pPr>
            <a:r>
              <a:rPr lang="en-US" sz="1400" b="1" dirty="0">
                <a:solidFill>
                  <a:srgbClr val="028090"/>
                </a:solidFill>
                <a:latin typeface="Cambria" pitchFamily="34" charset="0"/>
                <a:ea typeface="Cambria" pitchFamily="34" charset="-122"/>
                <a:cs typeface="Cambria" pitchFamily="34" charset="-120"/>
              </a:rPr>
              <a:t>03</a:t>
            </a:r>
            <a:endParaRPr lang="en-US" sz="1400" dirty="0"/>
          </a:p>
        </p:txBody>
      </p:sp>
      <p:sp>
        <p:nvSpPr>
          <p:cNvPr id="27" name="Text 25"/>
          <p:cNvSpPr/>
          <p:nvPr/>
        </p:nvSpPr>
        <p:spPr>
          <a:xfrm>
            <a:off x="7022592" y="3374136"/>
            <a:ext cx="4343400" cy="25603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History and notifications</a:t>
            </a:r>
            <a:endParaRPr lang="en-US" sz="1350" dirty="0"/>
          </a:p>
        </p:txBody>
      </p:sp>
      <p:sp>
        <p:nvSpPr>
          <p:cNvPr id="28" name="Text 26"/>
          <p:cNvSpPr/>
          <p:nvPr/>
        </p:nvSpPr>
        <p:spPr>
          <a:xfrm>
            <a:off x="7022592" y="3639312"/>
            <a:ext cx="4343400" cy="530352"/>
          </a:xfrm>
          <a:prstGeom prst="rect">
            <a:avLst/>
          </a:prstGeom>
          <a:noFill/>
          <a:ln/>
        </p:spPr>
        <p:txBody>
          <a:bodyPr wrap="square" lIns="0" tIns="0" rIns="0" bIns="0" rtlCol="0" anchor="ctr"/>
          <a:lstStyle/>
          <a:p>
            <a:pPr indent="0" marL="0">
              <a:lnSpc>
                <a:spcPts val="1500"/>
              </a:lnSpc>
              <a:buNone/>
            </a:pPr>
            <a:r>
              <a:rPr lang="en-US" sz="1150" dirty="0">
                <a:solidFill>
                  <a:srgbClr val="9CBAC0"/>
                </a:solidFill>
                <a:latin typeface="Calibri" pitchFamily="34" charset="0"/>
                <a:ea typeface="Calibri" pitchFamily="34" charset="-122"/>
                <a:cs typeface="Calibri" pitchFamily="34" charset="-120"/>
              </a:rPr>
              <a:t>Persist readings to show exposure trends, and alert the user when thresholds are crossed.</a:t>
            </a:r>
            <a:endParaRPr lang="en-US" sz="1150" dirty="0"/>
          </a:p>
        </p:txBody>
      </p:sp>
      <p:sp>
        <p:nvSpPr>
          <p:cNvPr id="29" name="Text 27"/>
          <p:cNvSpPr/>
          <p:nvPr/>
        </p:nvSpPr>
        <p:spPr>
          <a:xfrm>
            <a:off x="6492240" y="4215384"/>
            <a:ext cx="457200" cy="256032"/>
          </a:xfrm>
          <a:prstGeom prst="rect">
            <a:avLst/>
          </a:prstGeom>
          <a:noFill/>
          <a:ln/>
        </p:spPr>
        <p:txBody>
          <a:bodyPr wrap="square" lIns="0" tIns="0" rIns="0" bIns="0" rtlCol="0" anchor="ctr"/>
          <a:lstStyle/>
          <a:p>
            <a:pPr indent="0" marL="0">
              <a:buNone/>
            </a:pPr>
            <a:r>
              <a:rPr lang="en-US" sz="1400" b="1" dirty="0">
                <a:solidFill>
                  <a:srgbClr val="028090"/>
                </a:solidFill>
                <a:latin typeface="Cambria" pitchFamily="34" charset="0"/>
                <a:ea typeface="Cambria" pitchFamily="34" charset="-122"/>
                <a:cs typeface="Cambria" pitchFamily="34" charset="-120"/>
              </a:rPr>
              <a:t>04</a:t>
            </a:r>
            <a:endParaRPr lang="en-US" sz="1400" dirty="0"/>
          </a:p>
        </p:txBody>
      </p:sp>
      <p:sp>
        <p:nvSpPr>
          <p:cNvPr id="30" name="Text 28"/>
          <p:cNvSpPr/>
          <p:nvPr/>
        </p:nvSpPr>
        <p:spPr>
          <a:xfrm>
            <a:off x="7022592" y="4215384"/>
            <a:ext cx="4343400" cy="25603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Temporal forecasting</a:t>
            </a:r>
            <a:endParaRPr lang="en-US" sz="1350" dirty="0"/>
          </a:p>
        </p:txBody>
      </p:sp>
      <p:sp>
        <p:nvSpPr>
          <p:cNvPr id="31" name="Text 29"/>
          <p:cNvSpPr/>
          <p:nvPr/>
        </p:nvSpPr>
        <p:spPr>
          <a:xfrm>
            <a:off x="7022592" y="4480560"/>
            <a:ext cx="4343400" cy="530352"/>
          </a:xfrm>
          <a:prstGeom prst="rect">
            <a:avLst/>
          </a:prstGeom>
          <a:noFill/>
          <a:ln/>
        </p:spPr>
        <p:txBody>
          <a:bodyPr wrap="square" lIns="0" tIns="0" rIns="0" bIns="0" rtlCol="0" anchor="ctr"/>
          <a:lstStyle/>
          <a:p>
            <a:pPr indent="0" marL="0">
              <a:lnSpc>
                <a:spcPts val="1500"/>
              </a:lnSpc>
              <a:buNone/>
            </a:pPr>
            <a:r>
              <a:rPr lang="en-US" sz="1150" dirty="0">
                <a:solidFill>
                  <a:srgbClr val="9CBAC0"/>
                </a:solidFill>
                <a:latin typeface="Calibri" pitchFamily="34" charset="0"/>
                <a:ea typeface="Calibri" pitchFamily="34" charset="-122"/>
                <a:cs typeface="Calibri" pitchFamily="34" charset="-120"/>
              </a:rPr>
              <a:t>LSTM or Temporal Fusion Transformer over historical sequences to predict risk ahead of time.</a:t>
            </a:r>
            <a:endParaRPr lang="en-US" sz="1150" dirty="0"/>
          </a:p>
        </p:txBody>
      </p:sp>
      <p:sp>
        <p:nvSpPr>
          <p:cNvPr id="32" name="Text 30"/>
          <p:cNvSpPr/>
          <p:nvPr/>
        </p:nvSpPr>
        <p:spPr>
          <a:xfrm>
            <a:off x="6492240" y="5056632"/>
            <a:ext cx="457200" cy="256032"/>
          </a:xfrm>
          <a:prstGeom prst="rect">
            <a:avLst/>
          </a:prstGeom>
          <a:noFill/>
          <a:ln/>
        </p:spPr>
        <p:txBody>
          <a:bodyPr wrap="square" lIns="0" tIns="0" rIns="0" bIns="0" rtlCol="0" anchor="ctr"/>
          <a:lstStyle/>
          <a:p>
            <a:pPr indent="0" marL="0">
              <a:buNone/>
            </a:pPr>
            <a:r>
              <a:rPr lang="en-US" sz="1400" b="1" dirty="0">
                <a:solidFill>
                  <a:srgbClr val="028090"/>
                </a:solidFill>
                <a:latin typeface="Cambria" pitchFamily="34" charset="0"/>
                <a:ea typeface="Cambria" pitchFamily="34" charset="-122"/>
                <a:cs typeface="Cambria" pitchFamily="34" charset="-120"/>
              </a:rPr>
              <a:t>05</a:t>
            </a:r>
            <a:endParaRPr lang="en-US" sz="1400" dirty="0"/>
          </a:p>
        </p:txBody>
      </p:sp>
      <p:sp>
        <p:nvSpPr>
          <p:cNvPr id="33" name="Text 31"/>
          <p:cNvSpPr/>
          <p:nvPr/>
        </p:nvSpPr>
        <p:spPr>
          <a:xfrm>
            <a:off x="7022592" y="5056632"/>
            <a:ext cx="4343400" cy="25603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Cloud deployment</a:t>
            </a:r>
            <a:endParaRPr lang="en-US" sz="1350" dirty="0"/>
          </a:p>
        </p:txBody>
      </p:sp>
      <p:sp>
        <p:nvSpPr>
          <p:cNvPr id="34" name="Text 32"/>
          <p:cNvSpPr/>
          <p:nvPr/>
        </p:nvSpPr>
        <p:spPr>
          <a:xfrm>
            <a:off x="7022592" y="5321808"/>
            <a:ext cx="4343400" cy="530352"/>
          </a:xfrm>
          <a:prstGeom prst="rect">
            <a:avLst/>
          </a:prstGeom>
          <a:noFill/>
          <a:ln/>
        </p:spPr>
        <p:txBody>
          <a:bodyPr wrap="square" lIns="0" tIns="0" rIns="0" bIns="0" rtlCol="0" anchor="ctr"/>
          <a:lstStyle/>
          <a:p>
            <a:pPr indent="0" marL="0">
              <a:lnSpc>
                <a:spcPts val="1500"/>
              </a:lnSpc>
              <a:buNone/>
            </a:pPr>
            <a:r>
              <a:rPr lang="en-US" sz="1150" dirty="0">
                <a:solidFill>
                  <a:srgbClr val="9CBAC0"/>
                </a:solidFill>
                <a:latin typeface="Calibri" pitchFamily="34" charset="0"/>
                <a:ea typeface="Calibri" pitchFamily="34" charset="-122"/>
                <a:cs typeface="Calibri" pitchFamily="34" charset="-120"/>
              </a:rPr>
              <a:t>Host the backend so the app works without a machine on the local network.</a:t>
            </a:r>
            <a:endParaRPr lang="en-US" sz="1150" dirty="0"/>
          </a:p>
        </p:txBody>
      </p:sp>
      <p:sp>
        <p:nvSpPr>
          <p:cNvPr id="35" name="Text 33"/>
          <p:cNvSpPr/>
          <p:nvPr/>
        </p:nvSpPr>
        <p:spPr>
          <a:xfrm>
            <a:off x="566928" y="6144768"/>
            <a:ext cx="7315200" cy="274320"/>
          </a:xfrm>
          <a:prstGeom prst="rect">
            <a:avLst/>
          </a:prstGeom>
          <a:noFill/>
          <a:ln/>
        </p:spPr>
        <p:txBody>
          <a:bodyPr wrap="square" lIns="0" tIns="0" rIns="0" bIns="0" rtlCol="0" anchor="ctr"/>
          <a:lstStyle/>
          <a:p>
            <a:pPr indent="0" marL="0">
              <a:buNone/>
            </a:pPr>
            <a:r>
              <a:rPr lang="en-US" sz="1100" dirty="0">
                <a:solidFill>
                  <a:srgbClr val="6F949B"/>
                </a:solidFill>
                <a:latin typeface="Calibri" pitchFamily="34" charset="0"/>
                <a:ea typeface="Calibri" pitchFamily="34" charset="-122"/>
                <a:cs typeface="Calibri" pitchFamily="34" charset="-120"/>
              </a:rPr>
              <a:t>HealthGuardAI  ·  National Institute of Technology, Tiruchirappalli</a:t>
            </a:r>
            <a:endParaRPr lang="en-US" sz="1100" dirty="0"/>
          </a:p>
        </p:txBody>
      </p:sp>
      <p:sp>
        <p:nvSpPr>
          <p:cNvPr id="36" name="Text 34"/>
          <p:cNvSpPr/>
          <p:nvPr/>
        </p:nvSpPr>
        <p:spPr>
          <a:xfrm>
            <a:off x="11292840" y="6263640"/>
            <a:ext cx="457200" cy="274320"/>
          </a:xfrm>
          <a:prstGeom prst="rect">
            <a:avLst/>
          </a:prstGeom>
          <a:noFill/>
          <a:ln/>
        </p:spPr>
        <p:txBody>
          <a:bodyPr wrap="square" lIns="0" tIns="0" rIns="0" bIns="0" rtlCol="0" anchor="ctr"/>
          <a:lstStyle/>
          <a:p>
            <a:pPr algn="r" indent="0" marL="0">
              <a:buNone/>
            </a:pPr>
            <a:r>
              <a:rPr lang="en-US" sz="1000" dirty="0">
                <a:solidFill>
                  <a:srgbClr val="4A6E77"/>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HealthGuardAI</dc:title>
  <dc:subject>PptxGenJS Presentation</dc:subject>
  <dc:creator>HealthGuardAI Team</dc:creator>
  <cp:lastModifiedBy>HealthGuardAI Team</cp:lastModifiedBy>
  <cp:revision>1</cp:revision>
  <dcterms:created xsi:type="dcterms:W3CDTF">2026-08-01T09:30:30Z</dcterms:created>
  <dcterms:modified xsi:type="dcterms:W3CDTF">2026-08-01T09:30:30Z</dcterms:modified>
</cp:coreProperties>
</file>